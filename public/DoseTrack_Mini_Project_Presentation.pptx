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Respected guide Ms. Ansha MK, coordinator Prof. Kavitha G. Nair, Head of Department Thejas Mon P, and respected evaluators: Good morning. We are presenting our BCA S5 Mini Project titled 'DoseTrack – Medication Reminder &amp; Adherence Monitoring System'. Team: Mefa Rahiman, Shabana, Sreya S Jeevan, Gopika Babu, KMCT IETM, affiliated to APJ KTU.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DoseTrack is a centralized web application designed to help users manage medication details, configure dosage schedules, receive timely automated reminders, record Taken or Missed dose statuses, and review their historical adherence.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forget medication timings, especially when taking multiple medicines or following repeated schedules. Traditional notes and separate alarms leave information scattered with no simple way to see what has been taken and what has been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specifies six specific project objectives: Efficient medication management, automated reminder system, adherence monitoring, user-friendly dashboard, doctor-contact access, and organized MySQL data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Chapter 4, we reviewed related works: Moshnyaga et al. (2016) used Kinect sensors for dementia patients; Rajan et al. (2021) designed an Arduino IoT pill box; Srinivas et al. (2018) added vital sensors; Mason et al. (2022) surveyed adherence technologies. These highlight the need for an accessible software solution without costly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describes the proposed DoseTrack system. It functions as a centralized hub connecting user management, medication cabinet, schedule configuration, reminder engine, adherence tracking, dashboard, and doctor contacts.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6.1 defines our methodology: Requirement Analysis, System Design, Database Design, Frontend Development, Application Logic, Reminder &amp; Adherence Implementation, Testing, and Final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5.1 in Chapter 6 illustrates our 3-Layer Architecture. Presentation Layer handles user interaction, Application Layer checks every request and runs business logic, and Data Layer persists records in 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5.3 shows the complete workflow: Register/Login -&gt; Dashboard -&gt; Add Medication -&gt; Set Schedule -&gt; Reminder Generated -&gt; User responds Taken/Missed -&gt; Status Stored in History -&gt; Dashboard Updated.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DoseTrack uses deterministic rule-based algorithms rather than AI: Authentication verification, Medication CRUD logic, Reminder schedule-matching logic, and Adherence percentage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5.1 in Chapter 6 details the seven core modules: User Management, Medication, Schedule, Reminder, Tracking, Dashboard, and Settings, plus Doctor Contact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DoseTrack uses standard technologies from the report: HTML5, CSS3, JavaScript on frontend; Node.js/PHP on backend; MySQL for database; Git for version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DoseTrack utilizes MySQL to organize data into relational entities: users, medications, schedules, dose_events, and doctors with foreign key cascading.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presents real screenshots from Appendices: Login Page, Daily Overview Dashboard, and Medication Cabinet.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shows Adherence History audit log, Doctor Contacts directory, and My Care Circle from Report Appendices.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confirms all implemented features: user authentication, medication management, scheduling, automated reminders, dose tracking, adherence history, dashboard, doctor contacts, and MySQL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Slide 17, we present results as functional outcomes based on the implemented features and screenshots without inventing fake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7 notes current limitations: user data entry reliance, browser notification dependencies, self-reported adherence, non-diagnostic scope. Future scope: mobile app with push notifications, QR barcode scanning, refill alerts, caregiver access, and exportable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DoseTrack provides a centralized approach to medication management, scheduled reminders, adherence monitoring, and doctor contact access. We thank our guide Ms. Ansha MK and the Department of Computer Application. We now invite your questions and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12188952" cy="365760"/>
          </a:xfrm>
          <a:prstGeom prst="rect">
            <a:avLst/>
          </a:prstGeom>
          <a:solidFill>
            <a:srgbClr val="0D9488"/>
          </a:solidFill>
          <a:ln/>
        </p:spPr>
      </p:sp>
      <p:sp>
        <p:nvSpPr>
          <p:cNvPr id="4" name="Text 1"/>
          <p:cNvSpPr/>
          <p:nvPr/>
        </p:nvSpPr>
        <p:spPr>
          <a:xfrm>
            <a:off x="731520" y="45720"/>
            <a:ext cx="10515600" cy="274320"/>
          </a:xfrm>
          <a:prstGeom prst="rect">
            <a:avLst/>
          </a:prstGeom>
          <a:noFill/>
          <a:ln/>
        </p:spPr>
        <p:txBody>
          <a:bodyPr wrap="square" rtlCol="0" anchor="ctr"/>
          <a:lstStyle/>
          <a:p>
            <a:pPr algn="l" indent="0" marL="0">
              <a:buNone/>
            </a:pPr>
            <a:r>
              <a:rPr lang="en-US" sz="900" b="1" dirty="0">
                <a:solidFill>
                  <a:srgbClr val="FFFFFF"/>
                </a:solidFill>
                <a:latin typeface="Arial" pitchFamily="34" charset="0"/>
                <a:ea typeface="Arial" pitchFamily="34" charset="-122"/>
                <a:cs typeface="Arial" pitchFamily="34" charset="-120"/>
              </a:rPr>
              <a:t>MINI PROJECT FINAL EVALUATION PRESENTATION · OCTOBER 2026</a:t>
            </a:r>
            <a:endParaRPr lang="en-US" sz="900" dirty="0"/>
          </a:p>
        </p:txBody>
      </p:sp>
      <p:pic>
        <p:nvPicPr>
          <p:cNvPr id="5" name="Image 0" descr="C:\Users\DELL\Downloads\DoseTrack\public\images\logo_kmct.png">    </p:cNvPr>
          <p:cNvPicPr>
            <a:picLocks noChangeAspect="1"/>
          </p:cNvPicPr>
          <p:nvPr/>
        </p:nvPicPr>
        <p:blipFill>
          <a:blip r:embed="rId1"/>
          <a:stretch>
            <a:fillRect/>
          </a:stretch>
        </p:blipFill>
        <p:spPr>
          <a:xfrm>
            <a:off x="731520" y="640080"/>
            <a:ext cx="1097280" cy="1097280"/>
          </a:xfrm>
          <a:prstGeom prst="rect">
            <a:avLst/>
          </a:prstGeom>
        </p:spPr>
      </p:pic>
      <p:sp>
        <p:nvSpPr>
          <p:cNvPr id="6" name="Text 2"/>
          <p:cNvSpPr/>
          <p:nvPr/>
        </p:nvSpPr>
        <p:spPr>
          <a:xfrm>
            <a:off x="2011680" y="640080"/>
            <a:ext cx="9144000" cy="1005840"/>
          </a:xfrm>
          <a:prstGeom prst="rect">
            <a:avLst/>
          </a:prstGeom>
          <a:noFill/>
          <a:ln/>
        </p:spPr>
        <p:txBody>
          <a:bodyPr wrap="square" rtlCol="0" anchor="ctr"/>
          <a:lstStyle/>
          <a:p>
            <a:pPr indent="0" marL="0">
              <a:lnSpc>
                <a:spcPct val="120000"/>
              </a:lnSpc>
              <a:buNone/>
            </a:pPr>
            <a:r>
              <a:rPr lang="en-US" sz="1200" b="1" dirty="0">
                <a:solidFill>
                  <a:srgbClr val="475569"/>
                </a:solidFill>
                <a:latin typeface="Arial" pitchFamily="34" charset="0"/>
                <a:ea typeface="Arial" pitchFamily="34" charset="-122"/>
                <a:cs typeface="Arial" pitchFamily="34" charset="-120"/>
              </a:rPr>
              <a:t>DEPARTMENT OF COMPUTER APPLICATION</a:t>
            </a:r>
            <a:endParaRPr lang="en-US" sz="1200" dirty="0"/>
          </a:p>
          <a:p>
            <a:pPr indent="0" marL="0">
              <a:lnSpc>
                <a:spcPct val="120000"/>
              </a:lnSpc>
              <a:buNone/>
            </a:pPr>
            <a:r>
              <a:rPr lang="en-US" sz="1200" b="1" dirty="0">
                <a:solidFill>
                  <a:srgbClr val="475569"/>
                </a:solidFill>
                <a:latin typeface="Arial" pitchFamily="34" charset="0"/>
                <a:ea typeface="Arial" pitchFamily="34" charset="-122"/>
                <a:cs typeface="Arial" pitchFamily="34" charset="-120"/>
              </a:rPr>
              <a:t>KMCT INSTITUTE OF EMERGING TECHNOLOGY AND MANAGEMENT</a:t>
            </a:r>
            <a:endParaRPr lang="en-US" sz="1200" dirty="0"/>
          </a:p>
          <a:p>
            <a:pPr indent="0" marL="0">
              <a:lnSpc>
                <a:spcPct val="120000"/>
              </a:lnSpc>
              <a:buNone/>
            </a:pPr>
            <a:r>
              <a:rPr lang="en-US" sz="1200" b="1" dirty="0">
                <a:solidFill>
                  <a:srgbClr val="475569"/>
                </a:solidFill>
                <a:latin typeface="Arial" pitchFamily="34" charset="0"/>
                <a:ea typeface="Arial" pitchFamily="34" charset="-122"/>
                <a:cs typeface="Arial" pitchFamily="34" charset="-120"/>
              </a:rPr>
              <a:t>Affiliated to APJ Abdul Kalam Technological University, Kerala</a:t>
            </a:r>
            <a:endParaRPr lang="en-US" sz="1200" dirty="0"/>
          </a:p>
        </p:txBody>
      </p:sp>
      <p:sp>
        <p:nvSpPr>
          <p:cNvPr id="7" name="Shape 3"/>
          <p:cNvSpPr/>
          <p:nvPr/>
        </p:nvSpPr>
        <p:spPr>
          <a:xfrm>
            <a:off x="731520" y="1828800"/>
            <a:ext cx="10725912" cy="2011680"/>
          </a:xfrm>
          <a:prstGeom prst="roundRect">
            <a:avLst>
              <a:gd name="adj" fmla="val 3636"/>
            </a:avLst>
          </a:prstGeom>
          <a:solidFill>
            <a:srgbClr val="FFFFFF"/>
          </a:solidFill>
          <a:ln w="12700">
            <a:solidFill>
              <a:srgbClr val="0D9488"/>
            </a:solidFill>
            <a:prstDash val="solid"/>
          </a:ln>
        </p:spPr>
      </p:sp>
      <p:sp>
        <p:nvSpPr>
          <p:cNvPr id="8" name="Shape 4"/>
          <p:cNvSpPr/>
          <p:nvPr/>
        </p:nvSpPr>
        <p:spPr>
          <a:xfrm>
            <a:off x="740664" y="1837944"/>
            <a:ext cx="10707624" cy="54864"/>
          </a:xfrm>
          <a:prstGeom prst="rect">
            <a:avLst/>
          </a:prstGeom>
          <a:solidFill>
            <a:srgbClr val="0D9488"/>
          </a:solidFill>
          <a:ln w="12700">
            <a:solidFill>
              <a:srgbClr val="0D9488"/>
            </a:solidFill>
            <a:prstDash val="solid"/>
          </a:ln>
        </p:spPr>
      </p:sp>
      <p:sp>
        <p:nvSpPr>
          <p:cNvPr id="9" name="Text 5"/>
          <p:cNvSpPr/>
          <p:nvPr/>
        </p:nvSpPr>
        <p:spPr>
          <a:xfrm>
            <a:off x="1005840" y="2011680"/>
            <a:ext cx="10058400" cy="640080"/>
          </a:xfrm>
          <a:prstGeom prst="rect">
            <a:avLst/>
          </a:prstGeom>
          <a:noFill/>
          <a:ln/>
        </p:spPr>
        <p:txBody>
          <a:bodyPr wrap="square" rtlCol="0" anchor="ctr"/>
          <a:lstStyle/>
          <a:p>
            <a:pPr indent="0" marL="0">
              <a:buNone/>
            </a:pPr>
            <a:r>
              <a:rPr lang="en-US" sz="3400" b="1" dirty="0">
                <a:solidFill>
                  <a:srgbClr val="0F172A"/>
                </a:solidFill>
                <a:latin typeface="Arial" pitchFamily="34" charset="0"/>
                <a:ea typeface="Arial" pitchFamily="34" charset="-122"/>
                <a:cs typeface="Arial" pitchFamily="34" charset="-120"/>
              </a:rPr>
              <a:t>DoseTrack</a:t>
            </a:r>
            <a:endParaRPr lang="en-US" sz="3400" dirty="0"/>
          </a:p>
        </p:txBody>
      </p:sp>
      <p:sp>
        <p:nvSpPr>
          <p:cNvPr id="10" name="Text 6"/>
          <p:cNvSpPr/>
          <p:nvPr/>
        </p:nvSpPr>
        <p:spPr>
          <a:xfrm>
            <a:off x="1005840" y="2651760"/>
            <a:ext cx="10058400" cy="411480"/>
          </a:xfrm>
          <a:prstGeom prst="rect">
            <a:avLst/>
          </a:prstGeom>
          <a:noFill/>
          <a:ln/>
        </p:spPr>
        <p:txBody>
          <a:bodyPr wrap="square" rtlCol="0" anchor="ctr"/>
          <a:lstStyle/>
          <a:p>
            <a:pPr indent="0" marL="0">
              <a:buNone/>
            </a:pPr>
            <a:r>
              <a:rPr lang="en-US" sz="1600" b="1" dirty="0">
                <a:solidFill>
                  <a:srgbClr val="0D9488"/>
                </a:solidFill>
                <a:latin typeface="Arial" pitchFamily="34" charset="0"/>
                <a:ea typeface="Arial" pitchFamily="34" charset="-122"/>
                <a:cs typeface="Arial" pitchFamily="34" charset="-120"/>
              </a:rPr>
              <a:t>Medication Reminder &amp; Adherence Monitoring System</a:t>
            </a:r>
            <a:endParaRPr lang="en-US" sz="1600" dirty="0"/>
          </a:p>
        </p:txBody>
      </p:sp>
      <p:sp>
        <p:nvSpPr>
          <p:cNvPr id="11" name="Text 7"/>
          <p:cNvSpPr/>
          <p:nvPr/>
        </p:nvSpPr>
        <p:spPr>
          <a:xfrm>
            <a:off x="1005840" y="3108960"/>
            <a:ext cx="10058400" cy="594360"/>
          </a:xfrm>
          <a:prstGeom prst="rect">
            <a:avLst/>
          </a:prstGeom>
          <a:noFill/>
          <a:ln/>
        </p:spPr>
        <p:txBody>
          <a:bodyPr wrap="square" rtlCol="0" anchor="ctr"/>
          <a:lstStyle/>
          <a:p>
            <a:pPr indent="0" marL="0">
              <a:lnSpc>
                <a:spcPct val="120000"/>
              </a:lnSpc>
              <a:buNone/>
            </a:pPr>
            <a:r>
              <a:rPr lang="en-US" sz="1100" dirty="0">
                <a:solidFill>
                  <a:srgbClr val="475569"/>
                </a:solidFill>
                <a:latin typeface="Arial" pitchFamily="34" charset="0"/>
                <a:ea typeface="Arial" pitchFamily="34" charset="-122"/>
                <a:cs typeface="Arial" pitchFamily="34" charset="-120"/>
              </a:rPr>
              <a:t>A centralized digital platform designed to help users organize medication regimens, configure dosage schedules, receive timely automated reminders, track dose adherence, and access doctor contact information.</a:t>
            </a:r>
            <a:endParaRPr lang="en-US" sz="1100" dirty="0"/>
          </a:p>
        </p:txBody>
      </p:sp>
      <p:sp>
        <p:nvSpPr>
          <p:cNvPr id="12" name="Shape 8"/>
          <p:cNvSpPr/>
          <p:nvPr/>
        </p:nvSpPr>
        <p:spPr>
          <a:xfrm>
            <a:off x="731520" y="4023360"/>
            <a:ext cx="5212080" cy="2194560"/>
          </a:xfrm>
          <a:prstGeom prst="roundRect">
            <a:avLst>
              <a:gd name="adj" fmla="val 3333"/>
            </a:avLst>
          </a:prstGeom>
          <a:solidFill>
            <a:srgbClr val="FFFFFF"/>
          </a:solidFill>
          <a:ln w="12700">
            <a:solidFill>
              <a:srgbClr val="E2E8F0"/>
            </a:solidFill>
            <a:prstDash val="solid"/>
          </a:ln>
        </p:spPr>
      </p:sp>
      <p:sp>
        <p:nvSpPr>
          <p:cNvPr id="13" name="Shape 9"/>
          <p:cNvSpPr/>
          <p:nvPr/>
        </p:nvSpPr>
        <p:spPr>
          <a:xfrm>
            <a:off x="740664" y="4032504"/>
            <a:ext cx="5193792" cy="54864"/>
          </a:xfrm>
          <a:prstGeom prst="rect">
            <a:avLst/>
          </a:prstGeom>
          <a:solidFill>
            <a:srgbClr val="0D9488"/>
          </a:solidFill>
          <a:ln w="12700">
            <a:solidFill>
              <a:srgbClr val="0D9488"/>
            </a:solidFill>
            <a:prstDash val="solid"/>
          </a:ln>
        </p:spPr>
      </p:sp>
      <p:sp>
        <p:nvSpPr>
          <p:cNvPr id="14" name="Text 10"/>
          <p:cNvSpPr/>
          <p:nvPr/>
        </p:nvSpPr>
        <p:spPr>
          <a:xfrm>
            <a:off x="914400" y="4160520"/>
            <a:ext cx="4846320" cy="274320"/>
          </a:xfrm>
          <a:prstGeom prst="rect">
            <a:avLst/>
          </a:prstGeom>
          <a:noFill/>
          <a:ln/>
        </p:spPr>
        <p:txBody>
          <a:bodyPr wrap="square" rtlCol="0" anchor="ctr"/>
          <a:lstStyle/>
          <a:p>
            <a:pPr indent="0" marL="0">
              <a:buNone/>
            </a:pPr>
            <a:r>
              <a:rPr lang="en-US" sz="1000" b="1" dirty="0">
                <a:solidFill>
                  <a:srgbClr val="0D9488"/>
                </a:solidFill>
                <a:latin typeface="Arial" pitchFamily="34" charset="0"/>
                <a:ea typeface="Arial" pitchFamily="34" charset="-122"/>
                <a:cs typeface="Arial" pitchFamily="34" charset="-120"/>
              </a:rPr>
              <a:t>PROJECT TEAM MEMBERS (BCA S5)</a:t>
            </a:r>
            <a:endParaRPr lang="en-US" sz="1000" dirty="0"/>
          </a:p>
        </p:txBody>
      </p:sp>
      <p:sp>
        <p:nvSpPr>
          <p:cNvPr id="15" name="Text 11"/>
          <p:cNvSpPr/>
          <p:nvPr/>
        </p:nvSpPr>
        <p:spPr>
          <a:xfrm>
            <a:off x="914400" y="4480560"/>
            <a:ext cx="4846320" cy="1554480"/>
          </a:xfrm>
          <a:prstGeom prst="rect">
            <a:avLst/>
          </a:prstGeom>
          <a:noFill/>
          <a:ln/>
        </p:spPr>
        <p:txBody>
          <a:bodyPr wrap="square" rtlCol="0" anchor="ctr"/>
          <a:lstStyle/>
          <a:p>
            <a:pPr indent="0" marL="0">
              <a:lnSpc>
                <a:spcPct val="130000"/>
              </a:lnSpc>
              <a:buNone/>
            </a:pPr>
            <a:r>
              <a:rPr lang="en-US" sz="1200" b="1" dirty="0">
                <a:solidFill>
                  <a:srgbClr val="0F172A"/>
                </a:solidFill>
                <a:latin typeface="Arial" pitchFamily="34" charset="0"/>
                <a:ea typeface="Arial" pitchFamily="34" charset="-122"/>
                <a:cs typeface="Arial" pitchFamily="34" charset="-120"/>
              </a:rPr>
              <a:t>•  Mefa Rahiman
</a:t>
            </a:r>
            <a:pPr indent="0" marL="0">
              <a:lnSpc>
                <a:spcPct val="130000"/>
              </a:lnSpc>
              <a:buNone/>
            </a:pPr>
            <a:r>
              <a:rPr lang="en-US" sz="1200" b="1" dirty="0">
                <a:solidFill>
                  <a:srgbClr val="0F172A"/>
                </a:solidFill>
                <a:latin typeface="Arial" pitchFamily="34" charset="0"/>
                <a:ea typeface="Arial" pitchFamily="34" charset="-122"/>
                <a:cs typeface="Arial" pitchFamily="34" charset="-120"/>
              </a:rPr>
              <a:t>•  Shabana
</a:t>
            </a:r>
            <a:pPr indent="0" marL="0">
              <a:lnSpc>
                <a:spcPct val="130000"/>
              </a:lnSpc>
              <a:buNone/>
            </a:pPr>
            <a:r>
              <a:rPr lang="en-US" sz="1200" b="1" dirty="0">
                <a:solidFill>
                  <a:srgbClr val="0F172A"/>
                </a:solidFill>
                <a:latin typeface="Arial" pitchFamily="34" charset="0"/>
                <a:ea typeface="Arial" pitchFamily="34" charset="-122"/>
                <a:cs typeface="Arial" pitchFamily="34" charset="-120"/>
              </a:rPr>
              <a:t>•  Sreya S Jeevan
</a:t>
            </a:r>
            <a:pPr indent="0" marL="0">
              <a:lnSpc>
                <a:spcPct val="130000"/>
              </a:lnSpc>
              <a:buNone/>
            </a:pPr>
            <a:r>
              <a:rPr lang="en-US" sz="1200" b="1" dirty="0">
                <a:solidFill>
                  <a:srgbClr val="0F172A"/>
                </a:solidFill>
                <a:latin typeface="Arial" pitchFamily="34" charset="0"/>
                <a:ea typeface="Arial" pitchFamily="34" charset="-122"/>
                <a:cs typeface="Arial" pitchFamily="34" charset="-120"/>
              </a:rPr>
              <a:t>•  Gopika Babu</a:t>
            </a:r>
            <a:endParaRPr lang="en-US" sz="1200" dirty="0"/>
          </a:p>
        </p:txBody>
      </p:sp>
      <p:sp>
        <p:nvSpPr>
          <p:cNvPr id="16" name="Shape 12"/>
          <p:cNvSpPr/>
          <p:nvPr/>
        </p:nvSpPr>
        <p:spPr>
          <a:xfrm>
            <a:off x="6245352" y="4023360"/>
            <a:ext cx="5212080" cy="2194560"/>
          </a:xfrm>
          <a:prstGeom prst="roundRect">
            <a:avLst>
              <a:gd name="adj" fmla="val 3333"/>
            </a:avLst>
          </a:prstGeom>
          <a:solidFill>
            <a:srgbClr val="FFFFFF"/>
          </a:solidFill>
          <a:ln w="12700">
            <a:solidFill>
              <a:srgbClr val="E2E8F0"/>
            </a:solidFill>
            <a:prstDash val="solid"/>
          </a:ln>
        </p:spPr>
      </p:sp>
      <p:sp>
        <p:nvSpPr>
          <p:cNvPr id="17" name="Shape 13"/>
          <p:cNvSpPr/>
          <p:nvPr/>
        </p:nvSpPr>
        <p:spPr>
          <a:xfrm>
            <a:off x="6254496" y="4032504"/>
            <a:ext cx="5193792" cy="54864"/>
          </a:xfrm>
          <a:prstGeom prst="rect">
            <a:avLst/>
          </a:prstGeom>
          <a:solidFill>
            <a:srgbClr val="0284C7"/>
          </a:solidFill>
          <a:ln w="12700">
            <a:solidFill>
              <a:srgbClr val="0284C7"/>
            </a:solidFill>
            <a:prstDash val="solid"/>
          </a:ln>
        </p:spPr>
      </p:sp>
      <p:sp>
        <p:nvSpPr>
          <p:cNvPr id="18" name="Text 14"/>
          <p:cNvSpPr/>
          <p:nvPr/>
        </p:nvSpPr>
        <p:spPr>
          <a:xfrm>
            <a:off x="6428232" y="4160520"/>
            <a:ext cx="4846320" cy="274320"/>
          </a:xfrm>
          <a:prstGeom prst="rect">
            <a:avLst/>
          </a:prstGeom>
          <a:noFill/>
          <a:ln/>
        </p:spPr>
        <p:txBody>
          <a:bodyPr wrap="square" rtlCol="0" anchor="ctr"/>
          <a:lstStyle/>
          <a:p>
            <a:pPr indent="0" marL="0">
              <a:buNone/>
            </a:pPr>
            <a:r>
              <a:rPr lang="en-US" sz="1000" b="1" dirty="0">
                <a:solidFill>
                  <a:srgbClr val="0284C7"/>
                </a:solidFill>
                <a:latin typeface="Arial" pitchFamily="34" charset="0"/>
                <a:ea typeface="Arial" pitchFamily="34" charset="-122"/>
                <a:cs typeface="Arial" pitchFamily="34" charset="-120"/>
              </a:rPr>
              <a:t>FACULTY SUPERVISION &amp; COORDINATION</a:t>
            </a:r>
            <a:endParaRPr lang="en-US" sz="1000" dirty="0"/>
          </a:p>
        </p:txBody>
      </p:sp>
      <p:sp>
        <p:nvSpPr>
          <p:cNvPr id="19" name="Text 15"/>
          <p:cNvSpPr/>
          <p:nvPr/>
        </p:nvSpPr>
        <p:spPr>
          <a:xfrm>
            <a:off x="6428232" y="4480560"/>
            <a:ext cx="4846320" cy="1554480"/>
          </a:xfrm>
          <a:prstGeom prst="rect">
            <a:avLst/>
          </a:prstGeom>
          <a:noFill/>
          <a:ln/>
        </p:spPr>
        <p:txBody>
          <a:bodyPr wrap="square" rtlCol="0" anchor="ctr"/>
          <a:lstStyle/>
          <a:p>
            <a:pPr indent="0" marL="0">
              <a:lnSpc>
                <a:spcPct val="120000"/>
              </a:lnSpc>
              <a:buNone/>
            </a:pPr>
            <a:r>
              <a:rPr lang="en-US" sz="1000" dirty="0">
                <a:solidFill>
                  <a:srgbClr val="475569"/>
                </a:solidFill>
                <a:latin typeface="Arial" pitchFamily="34" charset="0"/>
                <a:ea typeface="Arial" pitchFamily="34" charset="-122"/>
                <a:cs typeface="Arial" pitchFamily="34" charset="-120"/>
              </a:rPr>
              <a:t>Project Guide:
</a:t>
            </a:r>
            <a:pPr indent="0" marL="0">
              <a:lnSpc>
                <a:spcPct val="120000"/>
              </a:lnSpc>
              <a:buNone/>
            </a:pPr>
            <a:r>
              <a:rPr lang="en-US" sz="1200" b="1" dirty="0">
                <a:solidFill>
                  <a:srgbClr val="0F172A"/>
                </a:solidFill>
                <a:latin typeface="Arial" pitchFamily="34" charset="0"/>
                <a:ea typeface="Arial" pitchFamily="34" charset="-122"/>
                <a:cs typeface="Arial" pitchFamily="34" charset="-120"/>
              </a:rPr>
              <a:t>Ms. ANSHA MK  (Assistant Professor)
</a:t>
            </a:r>
            <a:pPr indent="0" marL="0">
              <a:lnSpc>
                <a:spcPct val="120000"/>
              </a:lnSpc>
              <a:buNone/>
            </a:pPr>
            <a:r>
              <a:rPr lang="en-US" sz="1000" dirty="0">
                <a:solidFill>
                  <a:srgbClr val="475569"/>
                </a:solidFill>
                <a:latin typeface="Arial" pitchFamily="34" charset="0"/>
                <a:ea typeface="Arial" pitchFamily="34" charset="-122"/>
                <a:cs typeface="Arial" pitchFamily="34" charset="-120"/>
              </a:rPr>
              <a:t>Project Coordinator:  </a:t>
            </a:r>
            <a:pPr indent="0" marL="0">
              <a:lnSpc>
                <a:spcPct val="120000"/>
              </a:lnSpc>
              <a:buNone/>
            </a:pPr>
            <a:r>
              <a:rPr lang="en-US" sz="1100" b="1" dirty="0">
                <a:solidFill>
                  <a:srgbClr val="0F172A"/>
                </a:solidFill>
                <a:latin typeface="Arial" pitchFamily="34" charset="0"/>
                <a:ea typeface="Arial" pitchFamily="34" charset="-122"/>
                <a:cs typeface="Arial" pitchFamily="34" charset="-120"/>
              </a:rPr>
              <a:t>Prof. Kavitha G. Nair
</a:t>
            </a:r>
            <a:pPr indent="0" marL="0">
              <a:lnSpc>
                <a:spcPct val="120000"/>
              </a:lnSpc>
              <a:buNone/>
            </a:pPr>
            <a:r>
              <a:rPr lang="en-US" sz="1000" dirty="0">
                <a:solidFill>
                  <a:srgbClr val="475569"/>
                </a:solidFill>
                <a:latin typeface="Arial" pitchFamily="34" charset="0"/>
                <a:ea typeface="Arial" pitchFamily="34" charset="-122"/>
                <a:cs typeface="Arial" pitchFamily="34" charset="-120"/>
              </a:rPr>
              <a:t>Head of Department:  </a:t>
            </a:r>
            <a:pPr indent="0" marL="0">
              <a:lnSpc>
                <a:spcPct val="120000"/>
              </a:lnSpc>
              <a:buNone/>
            </a:pPr>
            <a:r>
              <a:rPr lang="en-US" sz="1100" b="1" dirty="0">
                <a:solidFill>
                  <a:srgbClr val="0F172A"/>
                </a:solidFill>
                <a:latin typeface="Arial" pitchFamily="34" charset="0"/>
                <a:ea typeface="Arial" pitchFamily="34" charset="-122"/>
                <a:cs typeface="Arial" pitchFamily="34" charset="-120"/>
              </a:rPr>
              <a:t>Thejas Mon 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731520" y="365760"/>
            <a:ext cx="2286000" cy="274320"/>
          </a:xfrm>
          <a:prstGeom prst="roundRect">
            <a:avLst>
              <a:gd name="adj" fmla="val 50000"/>
            </a:avLst>
          </a:prstGeom>
          <a:solidFill>
            <a:srgbClr val="F0FDFA"/>
          </a:solidFill>
          <a:ln w="12700">
            <a:solidFill>
              <a:srgbClr val="0D9488"/>
            </a:solidFill>
            <a:prstDash val="solid"/>
          </a:ln>
        </p:spPr>
      </p:sp>
      <p:sp>
        <p:nvSpPr>
          <p:cNvPr id="4" name="Text 1"/>
          <p:cNvSpPr/>
          <p:nvPr/>
        </p:nvSpPr>
        <p:spPr>
          <a:xfrm>
            <a:off x="731520" y="365760"/>
            <a:ext cx="2286000" cy="274320"/>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PROJECT OVERVIEW</a:t>
            </a:r>
            <a:endParaRPr lang="en-US" sz="900" dirty="0"/>
          </a:p>
        </p:txBody>
      </p:sp>
      <p:sp>
        <p:nvSpPr>
          <p:cNvPr id="5" name="Text 2"/>
          <p:cNvSpPr/>
          <p:nvPr/>
        </p:nvSpPr>
        <p:spPr>
          <a:xfrm>
            <a:off x="7772400" y="365760"/>
            <a:ext cx="36576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DoseTrack · BCA S5 · KMCT IETM (KTU)</a:t>
            </a:r>
            <a:endParaRPr lang="en-US" sz="900" dirty="0"/>
          </a:p>
        </p:txBody>
      </p:sp>
      <p:sp>
        <p:nvSpPr>
          <p:cNvPr id="6" name="Text 3"/>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Project Abstract</a:t>
            </a:r>
            <a:endParaRPr lang="en-US" sz="2200" dirty="0"/>
          </a:p>
        </p:txBody>
      </p:sp>
      <p:sp>
        <p:nvSpPr>
          <p:cNvPr id="7" name="Text 4"/>
          <p:cNvSpPr/>
          <p:nvPr/>
        </p:nvSpPr>
        <p:spPr>
          <a:xfrm>
            <a:off x="731520" y="1188720"/>
            <a:ext cx="10515600" cy="32004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Digital medication management, automated reminder engine, and adherence audit history.</a:t>
            </a:r>
            <a:endParaRPr lang="en-US" sz="1100" dirty="0"/>
          </a:p>
        </p:txBody>
      </p:sp>
      <p:sp>
        <p:nvSpPr>
          <p:cNvPr id="8" name="Shape 5"/>
          <p:cNvSpPr/>
          <p:nvPr/>
        </p:nvSpPr>
        <p:spPr>
          <a:xfrm>
            <a:off x="731520" y="1645920"/>
            <a:ext cx="5212080" cy="3657600"/>
          </a:xfrm>
          <a:prstGeom prst="roundRect">
            <a:avLst>
              <a:gd name="adj" fmla="val 2000"/>
            </a:avLst>
          </a:prstGeom>
          <a:solidFill>
            <a:srgbClr val="FFFFFF"/>
          </a:solidFill>
          <a:ln w="12700">
            <a:solidFill>
              <a:srgbClr val="E2E8F0"/>
            </a:solidFill>
            <a:prstDash val="solid"/>
          </a:ln>
        </p:spPr>
      </p:sp>
      <p:sp>
        <p:nvSpPr>
          <p:cNvPr id="9" name="Shape 6"/>
          <p:cNvSpPr/>
          <p:nvPr/>
        </p:nvSpPr>
        <p:spPr>
          <a:xfrm>
            <a:off x="740664" y="1655064"/>
            <a:ext cx="5193792" cy="54864"/>
          </a:xfrm>
          <a:prstGeom prst="rect">
            <a:avLst/>
          </a:prstGeom>
          <a:solidFill>
            <a:srgbClr val="0D9488"/>
          </a:solidFill>
          <a:ln w="12700">
            <a:solidFill>
              <a:srgbClr val="0D9488"/>
            </a:solidFill>
            <a:prstDash val="solid"/>
          </a:ln>
        </p:spPr>
      </p:sp>
      <p:sp>
        <p:nvSpPr>
          <p:cNvPr id="10" name="Text 7"/>
          <p:cNvSpPr/>
          <p:nvPr/>
        </p:nvSpPr>
        <p:spPr>
          <a:xfrm>
            <a:off x="914400" y="1783080"/>
            <a:ext cx="4846320" cy="320040"/>
          </a:xfrm>
          <a:prstGeom prst="rect">
            <a:avLst/>
          </a:prstGeom>
          <a:noFill/>
          <a:ln/>
        </p:spPr>
        <p:txBody>
          <a:bodyPr wrap="square" rtlCol="0" anchor="ctr"/>
          <a:lstStyle/>
          <a:p>
            <a:pPr indent="0" marL="0">
              <a:buNone/>
            </a:pPr>
            <a:r>
              <a:rPr lang="en-US" sz="1300" b="1" dirty="0">
                <a:solidFill>
                  <a:srgbClr val="0F172A"/>
                </a:solidFill>
              </a:rPr>
              <a:t>Core Capabilities of DoseTrack</a:t>
            </a:r>
            <a:endParaRPr lang="en-US" sz="1300" dirty="0"/>
          </a:p>
        </p:txBody>
      </p:sp>
      <p:sp>
        <p:nvSpPr>
          <p:cNvPr id="11" name="Text 8"/>
          <p:cNvSpPr/>
          <p:nvPr/>
        </p:nvSpPr>
        <p:spPr>
          <a:xfrm>
            <a:off x="914400" y="2148840"/>
            <a:ext cx="4846320" cy="3017520"/>
          </a:xfrm>
          <a:prstGeom prst="rect">
            <a:avLst/>
          </a:prstGeom>
          <a:noFill/>
          <a:ln/>
        </p:spPr>
        <p:txBody>
          <a:bodyPr wrap="square" rtlCol="0" anchor="ctr"/>
          <a:lstStyle/>
          <a:p>
            <a:pPr indent="0" marL="0">
              <a:lnSpc>
                <a:spcPct val="115000"/>
              </a:lnSpc>
              <a:buNone/>
            </a:pPr>
            <a:r>
              <a:rPr lang="en-US" sz="1000" b="1" dirty="0">
                <a:solidFill>
                  <a:srgbClr val="0F172A"/>
                </a:solidFill>
              </a:rPr>
              <a:t>•  Medication Information Management: </a:t>
            </a:r>
            <a:pPr indent="0" marL="0">
              <a:lnSpc>
                <a:spcPct val="115000"/>
              </a:lnSpc>
              <a:buNone/>
            </a:pPr>
            <a:r>
              <a:rPr lang="en-US" sz="1000" dirty="0">
                <a:solidFill>
                  <a:srgbClr val="475569"/>
                </a:solidFill>
              </a:rPr>
              <a:t>Store drug names, dosages, frequencies, treatment durations, and special intake instructions.
</a:t>
            </a:r>
            <a:pPr indent="0" marL="0">
              <a:lnSpc>
                <a:spcPct val="115000"/>
              </a:lnSpc>
              <a:buNone/>
            </a:pPr>
            <a:r>
              <a:rPr lang="en-US" sz="1000" b="1" dirty="0">
                <a:solidFill>
                  <a:srgbClr val="0F172A"/>
                </a:solidFill>
              </a:rPr>
              <a:t>•  Dosage Scheduling: </a:t>
            </a:r>
            <a:pPr indent="0" marL="0">
              <a:lnSpc>
                <a:spcPct val="115000"/>
              </a:lnSpc>
              <a:buNone/>
            </a:pPr>
            <a:r>
              <a:rPr lang="en-US" sz="1000" dirty="0">
                <a:solidFill>
                  <a:srgbClr val="475569"/>
                </a:solidFill>
              </a:rPr>
              <a:t>Configure exact intake timings (e.g. 08:00 AM, 08:30 PM) and daily administration frequencies.
</a:t>
            </a:r>
            <a:pPr indent="0" marL="0">
              <a:lnSpc>
                <a:spcPct val="115000"/>
              </a:lnSpc>
              <a:buNone/>
            </a:pPr>
            <a:r>
              <a:rPr lang="en-US" sz="1000" b="1" dirty="0">
                <a:solidFill>
                  <a:srgbClr val="0F172A"/>
                </a:solidFill>
              </a:rPr>
              <a:t>•  Automated Reminders: </a:t>
            </a:r>
            <a:pPr indent="0" marL="0">
              <a:lnSpc>
                <a:spcPct val="115000"/>
              </a:lnSpc>
              <a:buNone/>
            </a:pPr>
            <a:r>
              <a:rPr lang="en-US" sz="1000" dirty="0">
                <a:solidFill>
                  <a:srgbClr val="475569"/>
                </a:solidFill>
              </a:rPr>
              <a:t>Notifications generated at specified times to prevent forgotten or delayed doses.
</a:t>
            </a:r>
            <a:pPr indent="0" marL="0">
              <a:lnSpc>
                <a:spcPct val="115000"/>
              </a:lnSpc>
              <a:buNone/>
            </a:pPr>
            <a:r>
              <a:rPr lang="en-US" sz="1000" b="1" dirty="0">
                <a:solidFill>
                  <a:srgbClr val="0F172A"/>
                </a:solidFill>
              </a:rPr>
              <a:t>•  Adherence Tracking &amp; History: </a:t>
            </a:r>
            <a:pPr indent="0" marL="0">
              <a:lnSpc>
                <a:spcPct val="115000"/>
              </a:lnSpc>
              <a:buNone/>
            </a:pPr>
            <a:r>
              <a:rPr lang="en-US" sz="1000" dirty="0">
                <a:solidFill>
                  <a:srgbClr val="475569"/>
                </a:solidFill>
              </a:rPr>
              <a:t>Mark doses as Taken or Missed, updating an organized audit history in MySQL.
</a:t>
            </a:r>
            <a:pPr indent="0" marL="0">
              <a:lnSpc>
                <a:spcPct val="115000"/>
              </a:lnSpc>
              <a:buNone/>
            </a:pPr>
            <a:r>
              <a:rPr lang="en-US" sz="1000" b="1" dirty="0">
                <a:solidFill>
                  <a:srgbClr val="0F172A"/>
                </a:solidFill>
              </a:rPr>
              <a:t>•  Doctor Contact Directory: </a:t>
            </a:r>
            <a:pPr indent="0" marL="0">
              <a:lnSpc>
                <a:spcPct val="115000"/>
              </a:lnSpc>
              <a:buNone/>
            </a:pPr>
            <a:r>
              <a:rPr lang="en-US" sz="1000" dirty="0">
                <a:solidFill>
                  <a:srgbClr val="475569"/>
                </a:solidFill>
              </a:rPr>
              <a:t>Quick access to physician profiles, specialties, clinic hours, and contact options.</a:t>
            </a:r>
            <a:endParaRPr lang="en-US" sz="1000" dirty="0"/>
          </a:p>
        </p:txBody>
      </p:sp>
      <p:sp>
        <p:nvSpPr>
          <p:cNvPr id="12" name="Shape 9"/>
          <p:cNvSpPr/>
          <p:nvPr/>
        </p:nvSpPr>
        <p:spPr>
          <a:xfrm>
            <a:off x="6245352" y="1645920"/>
            <a:ext cx="5212080" cy="3657600"/>
          </a:xfrm>
          <a:prstGeom prst="roundRect">
            <a:avLst>
              <a:gd name="adj" fmla="val 2000"/>
            </a:avLst>
          </a:prstGeom>
          <a:solidFill>
            <a:srgbClr val="FFFFFF"/>
          </a:solidFill>
          <a:ln w="12700">
            <a:solidFill>
              <a:srgbClr val="E2E8F0"/>
            </a:solidFill>
            <a:prstDash val="solid"/>
          </a:ln>
        </p:spPr>
      </p:sp>
      <p:sp>
        <p:nvSpPr>
          <p:cNvPr id="13" name="Shape 10"/>
          <p:cNvSpPr/>
          <p:nvPr/>
        </p:nvSpPr>
        <p:spPr>
          <a:xfrm>
            <a:off x="6254496" y="1655064"/>
            <a:ext cx="5193792" cy="54864"/>
          </a:xfrm>
          <a:prstGeom prst="rect">
            <a:avLst/>
          </a:prstGeom>
          <a:solidFill>
            <a:srgbClr val="E11D48"/>
          </a:solidFill>
          <a:ln w="12700">
            <a:solidFill>
              <a:srgbClr val="E11D48"/>
            </a:solidFill>
            <a:prstDash val="solid"/>
          </a:ln>
        </p:spPr>
      </p:sp>
      <p:sp>
        <p:nvSpPr>
          <p:cNvPr id="14" name="Text 11"/>
          <p:cNvSpPr/>
          <p:nvPr/>
        </p:nvSpPr>
        <p:spPr>
          <a:xfrm>
            <a:off x="6428232" y="1783080"/>
            <a:ext cx="4846320" cy="320040"/>
          </a:xfrm>
          <a:prstGeom prst="rect">
            <a:avLst/>
          </a:prstGeom>
          <a:noFill/>
          <a:ln/>
        </p:spPr>
        <p:txBody>
          <a:bodyPr wrap="square" rtlCol="0" anchor="ctr"/>
          <a:lstStyle/>
          <a:p>
            <a:pPr indent="0" marL="0">
              <a:buNone/>
            </a:pPr>
            <a:r>
              <a:rPr lang="en-US" sz="1300" b="1" dirty="0">
                <a:solidFill>
                  <a:srgbClr val="0F172A"/>
                </a:solidFill>
              </a:rPr>
              <a:t>The Problem with Traditional Approaches</a:t>
            </a:r>
            <a:endParaRPr lang="en-US" sz="1300" dirty="0"/>
          </a:p>
        </p:txBody>
      </p:sp>
      <p:sp>
        <p:nvSpPr>
          <p:cNvPr id="15" name="Text 12"/>
          <p:cNvSpPr/>
          <p:nvPr/>
        </p:nvSpPr>
        <p:spPr>
          <a:xfrm>
            <a:off x="6428232" y="2148840"/>
            <a:ext cx="4846320" cy="3017520"/>
          </a:xfrm>
          <a:prstGeom prst="rect">
            <a:avLst/>
          </a:prstGeom>
          <a:noFill/>
          <a:ln/>
        </p:spPr>
        <p:txBody>
          <a:bodyPr wrap="square" rtlCol="0" anchor="ctr"/>
          <a:lstStyle/>
          <a:p>
            <a:pPr indent="0" marL="0">
              <a:lnSpc>
                <a:spcPct val="115000"/>
              </a:lnSpc>
              <a:buNone/>
            </a:pPr>
            <a:r>
              <a:rPr lang="en-US" sz="1000" b="1" dirty="0">
                <a:solidFill>
                  <a:srgbClr val="E11D48"/>
                </a:solidFill>
              </a:rPr>
              <a:t>✗  Memory-Based Tracking: </a:t>
            </a:r>
            <a:pPr indent="0" marL="0">
              <a:lnSpc>
                <a:spcPct val="115000"/>
              </a:lnSpc>
              <a:buNone/>
            </a:pPr>
            <a:r>
              <a:rPr lang="en-US" sz="1000" dirty="0">
                <a:solidFill>
                  <a:srgbClr val="475569"/>
                </a:solidFill>
              </a:rPr>
              <a:t>High risk of forgotten doses, delayed intakes, or accidental double-dosing.
</a:t>
            </a:r>
            <a:pPr indent="0" marL="0">
              <a:lnSpc>
                <a:spcPct val="115000"/>
              </a:lnSpc>
              <a:buNone/>
            </a:pPr>
            <a:r>
              <a:rPr lang="en-US" sz="1000" b="1" dirty="0">
                <a:solidFill>
                  <a:srgbClr val="E11D48"/>
                </a:solidFill>
              </a:rPr>
              <a:t>✗  Disconnected Notes &amp; Alarms: </a:t>
            </a:r>
            <a:pPr indent="0" marL="0">
              <a:lnSpc>
                <a:spcPct val="115000"/>
              </a:lnSpc>
              <a:buNone/>
            </a:pPr>
            <a:r>
              <a:rPr lang="en-US" sz="1000" dirty="0">
                <a:solidFill>
                  <a:srgbClr val="475569"/>
                </a:solidFill>
              </a:rPr>
              <a:t>Mobile alarms lack medicine names, dosage strengths, and meal instructions.
</a:t>
            </a:r>
            <a:pPr indent="0" marL="0">
              <a:lnSpc>
                <a:spcPct val="115000"/>
              </a:lnSpc>
              <a:buNone/>
            </a:pPr>
            <a:r>
              <a:rPr lang="en-US" sz="1000" b="1" dirty="0">
                <a:solidFill>
                  <a:srgbClr val="E11D48"/>
                </a:solidFill>
              </a:rPr>
              <a:t>✗  Multi-Medicine Confusion: </a:t>
            </a:r>
            <a:pPr indent="0" marL="0">
              <a:lnSpc>
                <a:spcPct val="115000"/>
              </a:lnSpc>
              <a:buNone/>
            </a:pPr>
            <a:r>
              <a:rPr lang="en-US" sz="1000" dirty="0">
                <a:solidFill>
                  <a:srgbClr val="475569"/>
                </a:solidFill>
              </a:rPr>
              <a:t>Managing multiple prescriptions with differing timings creates significant cognitive burden.
</a:t>
            </a:r>
            <a:pPr indent="0" marL="0">
              <a:lnSpc>
                <a:spcPct val="115000"/>
              </a:lnSpc>
              <a:buNone/>
            </a:pPr>
            <a:r>
              <a:rPr lang="en-US" sz="1000" b="1" dirty="0">
                <a:solidFill>
                  <a:srgbClr val="E11D48"/>
                </a:solidFill>
              </a:rPr>
              <a:t>✗  No Centralized History: </a:t>
            </a:r>
            <a:pPr indent="0" marL="0">
              <a:lnSpc>
                <a:spcPct val="115000"/>
              </a:lnSpc>
              <a:buNone/>
            </a:pPr>
            <a:r>
              <a:rPr lang="en-US" sz="1000" dirty="0">
                <a:solidFill>
                  <a:srgbClr val="475569"/>
                </a:solidFill>
              </a:rPr>
              <a:t>Neither patients nor healthcare providers have a structured record of past compliance.
</a:t>
            </a:r>
            <a:pPr indent="0" marL="0">
              <a:lnSpc>
                <a:spcPct val="115000"/>
              </a:lnSpc>
              <a:buNone/>
            </a:pPr>
            <a:r>
              <a:rPr lang="en-US" sz="1000" b="1" dirty="0">
                <a:solidFill>
                  <a:srgbClr val="E11D48"/>
                </a:solidFill>
              </a:rPr>
              <a:t>✗  Scattered Medical Contacts: </a:t>
            </a:r>
            <a:pPr indent="0" marL="0">
              <a:lnSpc>
                <a:spcPct val="115000"/>
              </a:lnSpc>
              <a:buNone/>
            </a:pPr>
            <a:r>
              <a:rPr lang="en-US" sz="1000" dirty="0">
                <a:solidFill>
                  <a:srgbClr val="475569"/>
                </a:solidFill>
              </a:rPr>
              <a:t>Emergency clinic contact details are stored in separate paper files or phonebooks.</a:t>
            </a:r>
            <a:endParaRPr lang="en-US" sz="1000" dirty="0"/>
          </a:p>
        </p:txBody>
      </p:sp>
      <p:sp>
        <p:nvSpPr>
          <p:cNvPr id="16" name="Shape 13"/>
          <p:cNvSpPr/>
          <p:nvPr/>
        </p:nvSpPr>
        <p:spPr>
          <a:xfrm>
            <a:off x="731520" y="5486400"/>
            <a:ext cx="10725912" cy="914400"/>
          </a:xfrm>
          <a:prstGeom prst="roundRect">
            <a:avLst>
              <a:gd name="adj" fmla="val 8000"/>
            </a:avLst>
          </a:prstGeom>
          <a:solidFill>
            <a:srgbClr val="FFFFFF"/>
          </a:solidFill>
          <a:ln w="12700">
            <a:solidFill>
              <a:srgbClr val="0D9488"/>
            </a:solidFill>
            <a:prstDash val="solid"/>
          </a:ln>
        </p:spPr>
      </p:sp>
      <p:sp>
        <p:nvSpPr>
          <p:cNvPr id="17" name="Text 14"/>
          <p:cNvSpPr/>
          <p:nvPr/>
        </p:nvSpPr>
        <p:spPr>
          <a:xfrm>
            <a:off x="914400" y="5715000"/>
            <a:ext cx="10360152" cy="457200"/>
          </a:xfrm>
          <a:prstGeom prst="rect">
            <a:avLst/>
          </a:prstGeom>
          <a:noFill/>
          <a:ln/>
        </p:spPr>
        <p:txBody>
          <a:bodyPr wrap="square" rtlCol="0" anchor="ctr"/>
          <a:lstStyle/>
          <a:p>
            <a:pPr algn="ctr" indent="0" marL="0">
              <a:buNone/>
            </a:pPr>
            <a:r>
              <a:rPr lang="en-US" sz="1100" b="1" dirty="0">
                <a:solidFill>
                  <a:srgbClr val="0D9488"/>
                </a:solidFill>
                <a:latin typeface="Arial" pitchFamily="34" charset="0"/>
                <a:ea typeface="Arial" pitchFamily="34" charset="-122"/>
                <a:cs typeface="Arial" pitchFamily="34" charset="-120"/>
              </a:rPr>
              <a:t>CORE SYSTEM INFORMATION FLOW:  Medication Entry  →  Schedule Config  →  Automated Reminder  →  Dose Status (Taken/Missed)  →  Adherence History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731520" y="365760"/>
            <a:ext cx="2286000" cy="274320"/>
          </a:xfrm>
          <a:prstGeom prst="roundRect">
            <a:avLst>
              <a:gd name="adj" fmla="val 50000"/>
            </a:avLst>
          </a:prstGeom>
          <a:solidFill>
            <a:srgbClr val="F0FDFA"/>
          </a:solidFill>
          <a:ln w="12700">
            <a:solidFill>
              <a:srgbClr val="0D9488"/>
            </a:solidFill>
            <a:prstDash val="solid"/>
          </a:ln>
        </p:spPr>
      </p:sp>
      <p:sp>
        <p:nvSpPr>
          <p:cNvPr id="4" name="Text 1"/>
          <p:cNvSpPr/>
          <p:nvPr/>
        </p:nvSpPr>
        <p:spPr>
          <a:xfrm>
            <a:off x="731520" y="365760"/>
            <a:ext cx="2286000" cy="274320"/>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PROBLEM FORMULATION</a:t>
            </a:r>
            <a:endParaRPr lang="en-US" sz="900" dirty="0"/>
          </a:p>
        </p:txBody>
      </p:sp>
      <p:sp>
        <p:nvSpPr>
          <p:cNvPr id="5" name="Text 2"/>
          <p:cNvSpPr/>
          <p:nvPr/>
        </p:nvSpPr>
        <p:spPr>
          <a:xfrm>
            <a:off x="7772400" y="365760"/>
            <a:ext cx="36576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DoseTrack · BCA S5 · KMCT IETM (KTU)</a:t>
            </a:r>
            <a:endParaRPr lang="en-US" sz="900" dirty="0"/>
          </a:p>
        </p:txBody>
      </p:sp>
      <p:sp>
        <p:nvSpPr>
          <p:cNvPr id="6" name="Text 3"/>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Problem Statement</a:t>
            </a:r>
            <a:endParaRPr lang="en-US" sz="2200" dirty="0"/>
          </a:p>
        </p:txBody>
      </p:sp>
      <p:sp>
        <p:nvSpPr>
          <p:cNvPr id="7" name="Text 4"/>
          <p:cNvSpPr/>
          <p:nvPr/>
        </p:nvSpPr>
        <p:spPr>
          <a:xfrm>
            <a:off x="731520" y="1188720"/>
            <a:ext cx="10515600" cy="32004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Clinical and daily challenges associated with manual medication management.</a:t>
            </a:r>
            <a:endParaRPr lang="en-US" sz="1100" dirty="0"/>
          </a:p>
        </p:txBody>
      </p:sp>
      <p:sp>
        <p:nvSpPr>
          <p:cNvPr id="8" name="Shape 5"/>
          <p:cNvSpPr/>
          <p:nvPr/>
        </p:nvSpPr>
        <p:spPr>
          <a:xfrm>
            <a:off x="731520" y="1645920"/>
            <a:ext cx="3410712" cy="1828800"/>
          </a:xfrm>
          <a:prstGeom prst="roundRect">
            <a:avLst>
              <a:gd name="adj" fmla="val 4000"/>
            </a:avLst>
          </a:prstGeom>
          <a:solidFill>
            <a:srgbClr val="FFFFFF"/>
          </a:solidFill>
          <a:ln w="12700">
            <a:solidFill>
              <a:srgbClr val="E2E8F0"/>
            </a:solidFill>
            <a:prstDash val="solid"/>
          </a:ln>
        </p:spPr>
      </p:sp>
      <p:sp>
        <p:nvSpPr>
          <p:cNvPr id="9" name="Shape 6"/>
          <p:cNvSpPr/>
          <p:nvPr/>
        </p:nvSpPr>
        <p:spPr>
          <a:xfrm>
            <a:off x="740664" y="1655064"/>
            <a:ext cx="3392424" cy="54864"/>
          </a:xfrm>
          <a:prstGeom prst="rect">
            <a:avLst/>
          </a:prstGeom>
          <a:solidFill>
            <a:srgbClr val="E11D48"/>
          </a:solidFill>
          <a:ln w="12700">
            <a:solidFill>
              <a:srgbClr val="E11D48"/>
            </a:solidFill>
            <a:prstDash val="solid"/>
          </a:ln>
        </p:spPr>
      </p:sp>
      <p:sp>
        <p:nvSpPr>
          <p:cNvPr id="10" name="Text 7"/>
          <p:cNvSpPr/>
          <p:nvPr/>
        </p:nvSpPr>
        <p:spPr>
          <a:xfrm>
            <a:off x="914400" y="1828800"/>
            <a:ext cx="3044952" cy="320040"/>
          </a:xfrm>
          <a:prstGeom prst="rect">
            <a:avLst/>
          </a:prstGeom>
          <a:noFill/>
          <a:ln/>
        </p:spPr>
        <p:txBody>
          <a:bodyPr wrap="square" rtlCol="0" anchor="ctr"/>
          <a:lstStyle/>
          <a:p>
            <a:pPr indent="0" marL="0">
              <a:buNone/>
            </a:pPr>
            <a:r>
              <a:rPr lang="en-US" sz="1200" b="1" dirty="0">
                <a:solidFill>
                  <a:srgbClr val="0F172A"/>
                </a:solidFill>
              </a:rPr>
              <a:t>Forgetfulness &amp; Skipped Doses</a:t>
            </a:r>
            <a:endParaRPr lang="en-US" sz="1200" dirty="0"/>
          </a:p>
        </p:txBody>
      </p:sp>
      <p:sp>
        <p:nvSpPr>
          <p:cNvPr id="11" name="Text 8"/>
          <p:cNvSpPr/>
          <p:nvPr/>
        </p:nvSpPr>
        <p:spPr>
          <a:xfrm>
            <a:off x="914400" y="2240280"/>
            <a:ext cx="3044952" cy="1005840"/>
          </a:xfrm>
          <a:prstGeom prst="rect">
            <a:avLst/>
          </a:prstGeom>
          <a:noFill/>
          <a:ln/>
        </p:spPr>
        <p:txBody>
          <a:bodyPr wrap="square" rtlCol="0" anchor="ctr"/>
          <a:lstStyle/>
          <a:p>
            <a:pPr indent="0" marL="0">
              <a:lnSpc>
                <a:spcPct val="120000"/>
              </a:lnSpc>
              <a:buNone/>
            </a:pPr>
            <a:r>
              <a:rPr lang="en-US" sz="1000" dirty="0">
                <a:solidFill>
                  <a:srgbClr val="475569"/>
                </a:solidFill>
              </a:rPr>
              <a:t>Patients frequently forget scheduled medication timings, leading to interrupted therapeutic cycles.</a:t>
            </a:r>
            <a:endParaRPr lang="en-US" sz="1000" dirty="0"/>
          </a:p>
        </p:txBody>
      </p:sp>
      <p:sp>
        <p:nvSpPr>
          <p:cNvPr id="12" name="Shape 9"/>
          <p:cNvSpPr/>
          <p:nvPr/>
        </p:nvSpPr>
        <p:spPr>
          <a:xfrm>
            <a:off x="4389120" y="1645920"/>
            <a:ext cx="3410712" cy="1828800"/>
          </a:xfrm>
          <a:prstGeom prst="roundRect">
            <a:avLst>
              <a:gd name="adj" fmla="val 4000"/>
            </a:avLst>
          </a:prstGeom>
          <a:solidFill>
            <a:srgbClr val="FFFFFF"/>
          </a:solidFill>
          <a:ln w="12700">
            <a:solidFill>
              <a:srgbClr val="E2E8F0"/>
            </a:solidFill>
            <a:prstDash val="solid"/>
          </a:ln>
        </p:spPr>
      </p:sp>
      <p:sp>
        <p:nvSpPr>
          <p:cNvPr id="13" name="Shape 10"/>
          <p:cNvSpPr/>
          <p:nvPr/>
        </p:nvSpPr>
        <p:spPr>
          <a:xfrm>
            <a:off x="4398264" y="1655064"/>
            <a:ext cx="3392424" cy="54864"/>
          </a:xfrm>
          <a:prstGeom prst="rect">
            <a:avLst/>
          </a:prstGeom>
          <a:solidFill>
            <a:srgbClr val="D97706"/>
          </a:solidFill>
          <a:ln w="12700">
            <a:solidFill>
              <a:srgbClr val="D97706"/>
            </a:solidFill>
            <a:prstDash val="solid"/>
          </a:ln>
        </p:spPr>
      </p:sp>
      <p:sp>
        <p:nvSpPr>
          <p:cNvPr id="14" name="Text 11"/>
          <p:cNvSpPr/>
          <p:nvPr/>
        </p:nvSpPr>
        <p:spPr>
          <a:xfrm>
            <a:off x="4572000" y="1828800"/>
            <a:ext cx="3044952" cy="320040"/>
          </a:xfrm>
          <a:prstGeom prst="rect">
            <a:avLst/>
          </a:prstGeom>
          <a:noFill/>
          <a:ln/>
        </p:spPr>
        <p:txBody>
          <a:bodyPr wrap="square" rtlCol="0" anchor="ctr"/>
          <a:lstStyle/>
          <a:p>
            <a:pPr indent="0" marL="0">
              <a:buNone/>
            </a:pPr>
            <a:r>
              <a:rPr lang="en-US" sz="1200" b="1" dirty="0">
                <a:solidFill>
                  <a:srgbClr val="0F172A"/>
                </a:solidFill>
              </a:rPr>
              <a:t>Multiple Medicines Complexity</a:t>
            </a:r>
            <a:endParaRPr lang="en-US" sz="1200" dirty="0"/>
          </a:p>
        </p:txBody>
      </p:sp>
      <p:sp>
        <p:nvSpPr>
          <p:cNvPr id="15" name="Text 12"/>
          <p:cNvSpPr/>
          <p:nvPr/>
        </p:nvSpPr>
        <p:spPr>
          <a:xfrm>
            <a:off x="4572000" y="2240280"/>
            <a:ext cx="3044952" cy="1005840"/>
          </a:xfrm>
          <a:prstGeom prst="rect">
            <a:avLst/>
          </a:prstGeom>
          <a:noFill/>
          <a:ln/>
        </p:spPr>
        <p:txBody>
          <a:bodyPr wrap="square" rtlCol="0" anchor="ctr"/>
          <a:lstStyle/>
          <a:p>
            <a:pPr indent="0" marL="0">
              <a:lnSpc>
                <a:spcPct val="120000"/>
              </a:lnSpc>
              <a:buNone/>
            </a:pPr>
            <a:r>
              <a:rPr lang="en-US" sz="1000" dirty="0">
                <a:solidFill>
                  <a:srgbClr val="475569"/>
                </a:solidFill>
              </a:rPr>
              <a:t>Prescriptions with differing timings, frequencies, and meal instructions cause frequent confusion.</a:t>
            </a:r>
            <a:endParaRPr lang="en-US" sz="1000" dirty="0"/>
          </a:p>
        </p:txBody>
      </p:sp>
      <p:sp>
        <p:nvSpPr>
          <p:cNvPr id="16" name="Shape 13"/>
          <p:cNvSpPr/>
          <p:nvPr/>
        </p:nvSpPr>
        <p:spPr>
          <a:xfrm>
            <a:off x="8046720" y="1645920"/>
            <a:ext cx="3410712" cy="1828800"/>
          </a:xfrm>
          <a:prstGeom prst="roundRect">
            <a:avLst>
              <a:gd name="adj" fmla="val 4000"/>
            </a:avLst>
          </a:prstGeom>
          <a:solidFill>
            <a:srgbClr val="FFFFFF"/>
          </a:solidFill>
          <a:ln w="12700">
            <a:solidFill>
              <a:srgbClr val="E2E8F0"/>
            </a:solidFill>
            <a:prstDash val="solid"/>
          </a:ln>
        </p:spPr>
      </p:sp>
      <p:sp>
        <p:nvSpPr>
          <p:cNvPr id="17" name="Shape 14"/>
          <p:cNvSpPr/>
          <p:nvPr/>
        </p:nvSpPr>
        <p:spPr>
          <a:xfrm>
            <a:off x="8055864" y="1655064"/>
            <a:ext cx="3392424" cy="54864"/>
          </a:xfrm>
          <a:prstGeom prst="rect">
            <a:avLst/>
          </a:prstGeom>
          <a:solidFill>
            <a:srgbClr val="0284C7"/>
          </a:solidFill>
          <a:ln w="12700">
            <a:solidFill>
              <a:srgbClr val="0284C7"/>
            </a:solidFill>
            <a:prstDash val="solid"/>
          </a:ln>
        </p:spPr>
      </p:sp>
      <p:sp>
        <p:nvSpPr>
          <p:cNvPr id="18" name="Text 15"/>
          <p:cNvSpPr/>
          <p:nvPr/>
        </p:nvSpPr>
        <p:spPr>
          <a:xfrm>
            <a:off x="8229600" y="1828800"/>
            <a:ext cx="3044952" cy="320040"/>
          </a:xfrm>
          <a:prstGeom prst="rect">
            <a:avLst/>
          </a:prstGeom>
          <a:noFill/>
          <a:ln/>
        </p:spPr>
        <p:txBody>
          <a:bodyPr wrap="square" rtlCol="0" anchor="ctr"/>
          <a:lstStyle/>
          <a:p>
            <a:pPr indent="0" marL="0">
              <a:buNone/>
            </a:pPr>
            <a:r>
              <a:rPr lang="en-US" sz="1200" b="1" dirty="0">
                <a:solidFill>
                  <a:srgbClr val="0F172A"/>
                </a:solidFill>
              </a:rPr>
              <a:t>Scattered Reminders &amp; Notes</a:t>
            </a:r>
            <a:endParaRPr lang="en-US" sz="1200" dirty="0"/>
          </a:p>
        </p:txBody>
      </p:sp>
      <p:sp>
        <p:nvSpPr>
          <p:cNvPr id="19" name="Text 16"/>
          <p:cNvSpPr/>
          <p:nvPr/>
        </p:nvSpPr>
        <p:spPr>
          <a:xfrm>
            <a:off x="8229600" y="2240280"/>
            <a:ext cx="3044952" cy="1005840"/>
          </a:xfrm>
          <a:prstGeom prst="rect">
            <a:avLst/>
          </a:prstGeom>
          <a:noFill/>
          <a:ln/>
        </p:spPr>
        <p:txBody>
          <a:bodyPr wrap="square" rtlCol="0" anchor="ctr"/>
          <a:lstStyle/>
          <a:p>
            <a:pPr indent="0" marL="0">
              <a:lnSpc>
                <a:spcPct val="120000"/>
              </a:lnSpc>
              <a:buNone/>
            </a:pPr>
            <a:r>
              <a:rPr lang="en-US" sz="1000" dirty="0">
                <a:solidFill>
                  <a:srgbClr val="475569"/>
                </a:solidFill>
              </a:rPr>
              <a:t>Relying on memory or basic clock alarms leaves data uncoordinated with no contextual instructions.</a:t>
            </a:r>
            <a:endParaRPr lang="en-US" sz="1000" dirty="0"/>
          </a:p>
        </p:txBody>
      </p:sp>
      <p:sp>
        <p:nvSpPr>
          <p:cNvPr id="20" name="Shape 17"/>
          <p:cNvSpPr/>
          <p:nvPr/>
        </p:nvSpPr>
        <p:spPr>
          <a:xfrm>
            <a:off x="731520" y="3657600"/>
            <a:ext cx="3410712" cy="1828800"/>
          </a:xfrm>
          <a:prstGeom prst="roundRect">
            <a:avLst>
              <a:gd name="adj" fmla="val 4000"/>
            </a:avLst>
          </a:prstGeom>
          <a:solidFill>
            <a:srgbClr val="FFFFFF"/>
          </a:solidFill>
          <a:ln w="12700">
            <a:solidFill>
              <a:srgbClr val="E2E8F0"/>
            </a:solidFill>
            <a:prstDash val="solid"/>
          </a:ln>
        </p:spPr>
      </p:sp>
      <p:sp>
        <p:nvSpPr>
          <p:cNvPr id="21" name="Shape 18"/>
          <p:cNvSpPr/>
          <p:nvPr/>
        </p:nvSpPr>
        <p:spPr>
          <a:xfrm>
            <a:off x="740664" y="3666744"/>
            <a:ext cx="3392424" cy="54864"/>
          </a:xfrm>
          <a:prstGeom prst="rect">
            <a:avLst/>
          </a:prstGeom>
          <a:solidFill>
            <a:srgbClr val="0D9488"/>
          </a:solidFill>
          <a:ln w="12700">
            <a:solidFill>
              <a:srgbClr val="0D9488"/>
            </a:solidFill>
            <a:prstDash val="solid"/>
          </a:ln>
        </p:spPr>
      </p:sp>
      <p:sp>
        <p:nvSpPr>
          <p:cNvPr id="22" name="Text 19"/>
          <p:cNvSpPr/>
          <p:nvPr/>
        </p:nvSpPr>
        <p:spPr>
          <a:xfrm>
            <a:off x="914400" y="3840480"/>
            <a:ext cx="3044952" cy="320040"/>
          </a:xfrm>
          <a:prstGeom prst="rect">
            <a:avLst/>
          </a:prstGeom>
          <a:noFill/>
          <a:ln/>
        </p:spPr>
        <p:txBody>
          <a:bodyPr wrap="square" rtlCol="0" anchor="ctr"/>
          <a:lstStyle/>
          <a:p>
            <a:pPr indent="0" marL="0">
              <a:buNone/>
            </a:pPr>
            <a:r>
              <a:rPr lang="en-US" sz="1200" b="1" dirty="0">
                <a:solidFill>
                  <a:srgbClr val="0F172A"/>
                </a:solidFill>
              </a:rPr>
              <a:t>Absence of Adherence History</a:t>
            </a:r>
            <a:endParaRPr lang="en-US" sz="1200" dirty="0"/>
          </a:p>
        </p:txBody>
      </p:sp>
      <p:sp>
        <p:nvSpPr>
          <p:cNvPr id="23" name="Text 20"/>
          <p:cNvSpPr/>
          <p:nvPr/>
        </p:nvSpPr>
        <p:spPr>
          <a:xfrm>
            <a:off x="914400" y="4251960"/>
            <a:ext cx="3044952" cy="1005840"/>
          </a:xfrm>
          <a:prstGeom prst="rect">
            <a:avLst/>
          </a:prstGeom>
          <a:noFill/>
          <a:ln/>
        </p:spPr>
        <p:txBody>
          <a:bodyPr wrap="square" rtlCol="0" anchor="ctr"/>
          <a:lstStyle/>
          <a:p>
            <a:pPr indent="0" marL="0">
              <a:lnSpc>
                <a:spcPct val="120000"/>
              </a:lnSpc>
              <a:buNone/>
            </a:pPr>
            <a:r>
              <a:rPr lang="en-US" sz="1000" dirty="0">
                <a:solidFill>
                  <a:srgbClr val="475569"/>
                </a:solidFill>
              </a:rPr>
              <a:t>No reliable chronological log to verify taken or missed doses, hindering clinical reviews.</a:t>
            </a:r>
            <a:endParaRPr lang="en-US" sz="1000" dirty="0"/>
          </a:p>
        </p:txBody>
      </p:sp>
      <p:sp>
        <p:nvSpPr>
          <p:cNvPr id="24" name="Shape 21"/>
          <p:cNvSpPr/>
          <p:nvPr/>
        </p:nvSpPr>
        <p:spPr>
          <a:xfrm>
            <a:off x="4389120" y="3657600"/>
            <a:ext cx="3410712" cy="1828800"/>
          </a:xfrm>
          <a:prstGeom prst="roundRect">
            <a:avLst>
              <a:gd name="adj" fmla="val 4000"/>
            </a:avLst>
          </a:prstGeom>
          <a:solidFill>
            <a:srgbClr val="FFFFFF"/>
          </a:solidFill>
          <a:ln w="12700">
            <a:solidFill>
              <a:srgbClr val="E2E8F0"/>
            </a:solidFill>
            <a:prstDash val="solid"/>
          </a:ln>
        </p:spPr>
      </p:sp>
      <p:sp>
        <p:nvSpPr>
          <p:cNvPr id="25" name="Shape 22"/>
          <p:cNvSpPr/>
          <p:nvPr/>
        </p:nvSpPr>
        <p:spPr>
          <a:xfrm>
            <a:off x="4398264" y="3666744"/>
            <a:ext cx="3392424" cy="54864"/>
          </a:xfrm>
          <a:prstGeom prst="rect">
            <a:avLst/>
          </a:prstGeom>
          <a:solidFill>
            <a:srgbClr val="6366F1"/>
          </a:solidFill>
          <a:ln w="12700">
            <a:solidFill>
              <a:srgbClr val="6366F1"/>
            </a:solidFill>
            <a:prstDash val="solid"/>
          </a:ln>
        </p:spPr>
      </p:sp>
      <p:sp>
        <p:nvSpPr>
          <p:cNvPr id="26" name="Text 23"/>
          <p:cNvSpPr/>
          <p:nvPr/>
        </p:nvSpPr>
        <p:spPr>
          <a:xfrm>
            <a:off x="4572000" y="3840480"/>
            <a:ext cx="3044952" cy="320040"/>
          </a:xfrm>
          <a:prstGeom prst="rect">
            <a:avLst/>
          </a:prstGeom>
          <a:noFill/>
          <a:ln/>
        </p:spPr>
        <p:txBody>
          <a:bodyPr wrap="square" rtlCol="0" anchor="ctr"/>
          <a:lstStyle/>
          <a:p>
            <a:pPr indent="0" marL="0">
              <a:buNone/>
            </a:pPr>
            <a:r>
              <a:rPr lang="en-US" sz="1200" b="1" dirty="0">
                <a:solidFill>
                  <a:srgbClr val="0F172A"/>
                </a:solidFill>
              </a:rPr>
              <a:t>Isolated Healthcare Contacts</a:t>
            </a:r>
            <a:endParaRPr lang="en-US" sz="1200" dirty="0"/>
          </a:p>
        </p:txBody>
      </p:sp>
      <p:sp>
        <p:nvSpPr>
          <p:cNvPr id="27" name="Text 24"/>
          <p:cNvSpPr/>
          <p:nvPr/>
        </p:nvSpPr>
        <p:spPr>
          <a:xfrm>
            <a:off x="4572000" y="4251960"/>
            <a:ext cx="3044952" cy="1005840"/>
          </a:xfrm>
          <a:prstGeom prst="rect">
            <a:avLst/>
          </a:prstGeom>
          <a:noFill/>
          <a:ln/>
        </p:spPr>
        <p:txBody>
          <a:bodyPr wrap="square" rtlCol="0" anchor="ctr"/>
          <a:lstStyle/>
          <a:p>
            <a:pPr indent="0" marL="0">
              <a:lnSpc>
                <a:spcPct val="120000"/>
              </a:lnSpc>
              <a:buNone/>
            </a:pPr>
            <a:r>
              <a:rPr lang="en-US" sz="1000" dirty="0">
                <a:solidFill>
                  <a:srgbClr val="475569"/>
                </a:solidFill>
              </a:rPr>
              <a:t>Doctor contact info and clinic consultation hours are stored separately from daily medication schedules.</a:t>
            </a:r>
            <a:endParaRPr lang="en-US" sz="1000" dirty="0"/>
          </a:p>
        </p:txBody>
      </p:sp>
      <p:sp>
        <p:nvSpPr>
          <p:cNvPr id="28" name="Shape 25"/>
          <p:cNvSpPr/>
          <p:nvPr/>
        </p:nvSpPr>
        <p:spPr>
          <a:xfrm>
            <a:off x="8046720" y="3657600"/>
            <a:ext cx="3410712" cy="1828800"/>
          </a:xfrm>
          <a:prstGeom prst="roundRect">
            <a:avLst>
              <a:gd name="adj" fmla="val 4000"/>
            </a:avLst>
          </a:prstGeom>
          <a:solidFill>
            <a:srgbClr val="FFFFFF"/>
          </a:solidFill>
          <a:ln w="12700">
            <a:solidFill>
              <a:srgbClr val="E2E8F0"/>
            </a:solidFill>
            <a:prstDash val="solid"/>
          </a:ln>
        </p:spPr>
      </p:sp>
      <p:sp>
        <p:nvSpPr>
          <p:cNvPr id="29" name="Shape 26"/>
          <p:cNvSpPr/>
          <p:nvPr/>
        </p:nvSpPr>
        <p:spPr>
          <a:xfrm>
            <a:off x="8055864" y="3666744"/>
            <a:ext cx="3392424" cy="54864"/>
          </a:xfrm>
          <a:prstGeom prst="rect">
            <a:avLst/>
          </a:prstGeom>
          <a:solidFill>
            <a:srgbClr val="E11D48"/>
          </a:solidFill>
          <a:ln w="12700">
            <a:solidFill>
              <a:srgbClr val="E11D48"/>
            </a:solidFill>
            <a:prstDash val="solid"/>
          </a:ln>
        </p:spPr>
      </p:sp>
      <p:sp>
        <p:nvSpPr>
          <p:cNvPr id="30" name="Text 27"/>
          <p:cNvSpPr/>
          <p:nvPr/>
        </p:nvSpPr>
        <p:spPr>
          <a:xfrm>
            <a:off x="8229600" y="3840480"/>
            <a:ext cx="3044952" cy="320040"/>
          </a:xfrm>
          <a:prstGeom prst="rect">
            <a:avLst/>
          </a:prstGeom>
          <a:noFill/>
          <a:ln/>
        </p:spPr>
        <p:txBody>
          <a:bodyPr wrap="square" rtlCol="0" anchor="ctr"/>
          <a:lstStyle/>
          <a:p>
            <a:pPr indent="0" marL="0">
              <a:buNone/>
            </a:pPr>
            <a:r>
              <a:rPr lang="en-US" sz="1200" b="1" dirty="0">
                <a:solidFill>
                  <a:srgbClr val="0F172A"/>
                </a:solidFill>
              </a:rPr>
              <a:t>Risk of Health Complications</a:t>
            </a:r>
            <a:endParaRPr lang="en-US" sz="1200" dirty="0"/>
          </a:p>
        </p:txBody>
      </p:sp>
      <p:sp>
        <p:nvSpPr>
          <p:cNvPr id="31" name="Text 28"/>
          <p:cNvSpPr/>
          <p:nvPr/>
        </p:nvSpPr>
        <p:spPr>
          <a:xfrm>
            <a:off x="8229600" y="4251960"/>
            <a:ext cx="3044952" cy="1005840"/>
          </a:xfrm>
          <a:prstGeom prst="rect">
            <a:avLst/>
          </a:prstGeom>
          <a:noFill/>
          <a:ln/>
        </p:spPr>
        <p:txBody>
          <a:bodyPr wrap="square" rtlCol="0" anchor="ctr"/>
          <a:lstStyle/>
          <a:p>
            <a:pPr indent="0" marL="0">
              <a:lnSpc>
                <a:spcPct val="120000"/>
              </a:lnSpc>
              <a:buNone/>
            </a:pPr>
            <a:r>
              <a:rPr lang="en-US" sz="1000" dirty="0">
                <a:solidFill>
                  <a:srgbClr val="475569"/>
                </a:solidFill>
              </a:rPr>
              <a:t>Irregular medication intake diminishes treatment effectiveness and can cause preventable health issues.</a:t>
            </a:r>
            <a:endParaRPr lang="en-US" sz="1000" dirty="0"/>
          </a:p>
        </p:txBody>
      </p:sp>
      <p:sp>
        <p:nvSpPr>
          <p:cNvPr id="32" name="Shape 29"/>
          <p:cNvSpPr/>
          <p:nvPr/>
        </p:nvSpPr>
        <p:spPr>
          <a:xfrm>
            <a:off x="731520" y="5669280"/>
            <a:ext cx="10725912" cy="731520"/>
          </a:xfrm>
          <a:prstGeom prst="roundRect">
            <a:avLst>
              <a:gd name="adj" fmla="val 10000"/>
            </a:avLst>
          </a:prstGeom>
          <a:solidFill>
            <a:srgbClr val="FFFFFF"/>
          </a:solidFill>
          <a:ln w="12700">
            <a:solidFill>
              <a:srgbClr val="0D9488"/>
            </a:solidFill>
            <a:prstDash val="solid"/>
          </a:ln>
        </p:spPr>
      </p:sp>
      <p:sp>
        <p:nvSpPr>
          <p:cNvPr id="33" name="Shape 30"/>
          <p:cNvSpPr/>
          <p:nvPr/>
        </p:nvSpPr>
        <p:spPr>
          <a:xfrm>
            <a:off x="740664" y="5678424"/>
            <a:ext cx="10707624" cy="54864"/>
          </a:xfrm>
          <a:prstGeom prst="rect">
            <a:avLst/>
          </a:prstGeom>
          <a:solidFill>
            <a:srgbClr val="0D9488"/>
          </a:solidFill>
          <a:ln w="12700">
            <a:solidFill>
              <a:srgbClr val="0D9488"/>
            </a:solidFill>
            <a:prstDash val="solid"/>
          </a:ln>
        </p:spPr>
      </p:sp>
      <p:sp>
        <p:nvSpPr>
          <p:cNvPr id="34" name="Text 31"/>
          <p:cNvSpPr/>
          <p:nvPr/>
        </p:nvSpPr>
        <p:spPr>
          <a:xfrm>
            <a:off x="914400" y="5806440"/>
            <a:ext cx="10360152" cy="457200"/>
          </a:xfrm>
          <a:prstGeom prst="rect">
            <a:avLst/>
          </a:prstGeom>
          <a:noFill/>
          <a:ln/>
        </p:spPr>
        <p:txBody>
          <a:bodyPr wrap="square" rtlCol="0" anchor="ctr"/>
          <a:lstStyle/>
          <a:p>
            <a:pPr algn="ctr" indent="0" marL="0">
              <a:buNone/>
            </a:pPr>
            <a:r>
              <a:rPr lang="en-US" sz="1100" b="1" dirty="0">
                <a:solidFill>
                  <a:srgbClr val="0D9488"/>
                </a:solidFill>
              </a:rPr>
              <a:t>CORE NEED: A centralized, accessible system that unifies medication details, schedules, reminders, basic tracking, and doctor contacts in one platform.</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731520" y="365760"/>
            <a:ext cx="2286000" cy="274320"/>
          </a:xfrm>
          <a:prstGeom prst="roundRect">
            <a:avLst>
              <a:gd name="adj" fmla="val 50000"/>
            </a:avLst>
          </a:prstGeom>
          <a:solidFill>
            <a:srgbClr val="F0FDFA"/>
          </a:solidFill>
          <a:ln w="12700">
            <a:solidFill>
              <a:srgbClr val="0D9488"/>
            </a:solidFill>
            <a:prstDash val="solid"/>
          </a:ln>
        </p:spPr>
      </p:sp>
      <p:sp>
        <p:nvSpPr>
          <p:cNvPr id="4" name="Text 1"/>
          <p:cNvSpPr/>
          <p:nvPr/>
        </p:nvSpPr>
        <p:spPr>
          <a:xfrm>
            <a:off x="731520" y="365760"/>
            <a:ext cx="2286000" cy="274320"/>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PROJECT SCOPE</a:t>
            </a:r>
            <a:endParaRPr lang="en-US" sz="900" dirty="0"/>
          </a:p>
        </p:txBody>
      </p:sp>
      <p:sp>
        <p:nvSpPr>
          <p:cNvPr id="5" name="Text 2"/>
          <p:cNvSpPr/>
          <p:nvPr/>
        </p:nvSpPr>
        <p:spPr>
          <a:xfrm>
            <a:off x="7772400" y="365760"/>
            <a:ext cx="36576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DoseTrack · BCA S5 · KMCT IETM (KTU)</a:t>
            </a:r>
            <a:endParaRPr lang="en-US" sz="900" dirty="0"/>
          </a:p>
        </p:txBody>
      </p:sp>
      <p:sp>
        <p:nvSpPr>
          <p:cNvPr id="6" name="Text 3"/>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Project Objectives</a:t>
            </a:r>
            <a:endParaRPr lang="en-US" sz="2200" dirty="0"/>
          </a:p>
        </p:txBody>
      </p:sp>
      <p:sp>
        <p:nvSpPr>
          <p:cNvPr id="7" name="Text 4"/>
          <p:cNvSpPr/>
          <p:nvPr/>
        </p:nvSpPr>
        <p:spPr>
          <a:xfrm>
            <a:off x="731520" y="1188720"/>
            <a:ext cx="10515600" cy="32004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Six key functional objectives formulated for DoseTrack.</a:t>
            </a:r>
            <a:endParaRPr lang="en-US" sz="1100" dirty="0"/>
          </a:p>
        </p:txBody>
      </p:sp>
      <p:sp>
        <p:nvSpPr>
          <p:cNvPr id="8" name="Shape 5"/>
          <p:cNvSpPr/>
          <p:nvPr/>
        </p:nvSpPr>
        <p:spPr>
          <a:xfrm>
            <a:off x="731520" y="1645920"/>
            <a:ext cx="3410712" cy="2103120"/>
          </a:xfrm>
          <a:prstGeom prst="roundRect">
            <a:avLst>
              <a:gd name="adj" fmla="val 3478"/>
            </a:avLst>
          </a:prstGeom>
          <a:solidFill>
            <a:srgbClr val="FFFFFF"/>
          </a:solidFill>
          <a:ln w="12700">
            <a:solidFill>
              <a:srgbClr val="E2E8F0"/>
            </a:solidFill>
            <a:prstDash val="solid"/>
          </a:ln>
        </p:spPr>
      </p:sp>
      <p:sp>
        <p:nvSpPr>
          <p:cNvPr id="9" name="Shape 6"/>
          <p:cNvSpPr/>
          <p:nvPr/>
        </p:nvSpPr>
        <p:spPr>
          <a:xfrm>
            <a:off x="740664" y="1655064"/>
            <a:ext cx="3392424" cy="54864"/>
          </a:xfrm>
          <a:prstGeom prst="rect">
            <a:avLst/>
          </a:prstGeom>
          <a:solidFill>
            <a:srgbClr val="0D9488"/>
          </a:solidFill>
          <a:ln w="12700">
            <a:solidFill>
              <a:srgbClr val="0D9488"/>
            </a:solidFill>
            <a:prstDash val="solid"/>
          </a:ln>
        </p:spPr>
      </p:sp>
      <p:sp>
        <p:nvSpPr>
          <p:cNvPr id="10" name="Text 7"/>
          <p:cNvSpPr/>
          <p:nvPr/>
        </p:nvSpPr>
        <p:spPr>
          <a:xfrm>
            <a:off x="914400" y="1783080"/>
            <a:ext cx="914400" cy="228600"/>
          </a:xfrm>
          <a:prstGeom prst="rect">
            <a:avLst/>
          </a:prstGeom>
          <a:noFill/>
          <a:ln/>
        </p:spPr>
        <p:txBody>
          <a:bodyPr wrap="square" rtlCol="0" anchor="ctr"/>
          <a:lstStyle/>
          <a:p>
            <a:pPr indent="0" marL="0">
              <a:buNone/>
            </a:pPr>
            <a:r>
              <a:rPr lang="en-US" sz="900" b="1" dirty="0">
                <a:solidFill>
                  <a:srgbClr val="0D9488"/>
                </a:solidFill>
              </a:rPr>
              <a:t>OBJ 1</a:t>
            </a:r>
            <a:endParaRPr lang="en-US" sz="900" dirty="0"/>
          </a:p>
        </p:txBody>
      </p:sp>
      <p:sp>
        <p:nvSpPr>
          <p:cNvPr id="11" name="Text 8"/>
          <p:cNvSpPr/>
          <p:nvPr/>
        </p:nvSpPr>
        <p:spPr>
          <a:xfrm>
            <a:off x="914400" y="2057400"/>
            <a:ext cx="3044952" cy="365760"/>
          </a:xfrm>
          <a:prstGeom prst="rect">
            <a:avLst/>
          </a:prstGeom>
          <a:noFill/>
          <a:ln/>
        </p:spPr>
        <p:txBody>
          <a:bodyPr wrap="square" rtlCol="0" anchor="ctr"/>
          <a:lstStyle/>
          <a:p>
            <a:pPr indent="0" marL="0">
              <a:buNone/>
            </a:pPr>
            <a:r>
              <a:rPr lang="en-US" sz="1200" b="1" dirty="0">
                <a:solidFill>
                  <a:srgbClr val="0F172A"/>
                </a:solidFill>
              </a:rPr>
              <a:t>Efficient Medication Management</a:t>
            </a:r>
            <a:endParaRPr lang="en-US" sz="1200" dirty="0"/>
          </a:p>
        </p:txBody>
      </p:sp>
      <p:sp>
        <p:nvSpPr>
          <p:cNvPr id="12" name="Text 9"/>
          <p:cNvSpPr/>
          <p:nvPr/>
        </p:nvSpPr>
        <p:spPr>
          <a:xfrm>
            <a:off x="914400" y="2514600"/>
            <a:ext cx="3044952" cy="1051560"/>
          </a:xfrm>
          <a:prstGeom prst="rect">
            <a:avLst/>
          </a:prstGeom>
          <a:noFill/>
          <a:ln/>
        </p:spPr>
        <p:txBody>
          <a:bodyPr wrap="square" rtlCol="0" anchor="ctr"/>
          <a:lstStyle/>
          <a:p>
            <a:pPr indent="0" marL="0">
              <a:lnSpc>
                <a:spcPct val="120000"/>
              </a:lnSpc>
              <a:buNone/>
            </a:pPr>
            <a:r>
              <a:rPr lang="en-US" sz="1000" dirty="0">
                <a:solidFill>
                  <a:srgbClr val="475569"/>
                </a:solidFill>
              </a:rPr>
              <a:t>Create a centralized platform to store, add, update, delete, and view medication details (names, dosages, frequency, duration, and instructions).</a:t>
            </a:r>
            <a:endParaRPr lang="en-US" sz="1000" dirty="0"/>
          </a:p>
        </p:txBody>
      </p:sp>
      <p:sp>
        <p:nvSpPr>
          <p:cNvPr id="13" name="Shape 10"/>
          <p:cNvSpPr/>
          <p:nvPr/>
        </p:nvSpPr>
        <p:spPr>
          <a:xfrm>
            <a:off x="4389120" y="1645920"/>
            <a:ext cx="3410712" cy="2103120"/>
          </a:xfrm>
          <a:prstGeom prst="roundRect">
            <a:avLst>
              <a:gd name="adj" fmla="val 3478"/>
            </a:avLst>
          </a:prstGeom>
          <a:solidFill>
            <a:srgbClr val="FFFFFF"/>
          </a:solidFill>
          <a:ln w="12700">
            <a:solidFill>
              <a:srgbClr val="E2E8F0"/>
            </a:solidFill>
            <a:prstDash val="solid"/>
          </a:ln>
        </p:spPr>
      </p:sp>
      <p:sp>
        <p:nvSpPr>
          <p:cNvPr id="14" name="Shape 11"/>
          <p:cNvSpPr/>
          <p:nvPr/>
        </p:nvSpPr>
        <p:spPr>
          <a:xfrm>
            <a:off x="4398264" y="1655064"/>
            <a:ext cx="3392424" cy="54864"/>
          </a:xfrm>
          <a:prstGeom prst="rect">
            <a:avLst/>
          </a:prstGeom>
          <a:solidFill>
            <a:srgbClr val="0284C7"/>
          </a:solidFill>
          <a:ln w="12700">
            <a:solidFill>
              <a:srgbClr val="0284C7"/>
            </a:solidFill>
            <a:prstDash val="solid"/>
          </a:ln>
        </p:spPr>
      </p:sp>
      <p:sp>
        <p:nvSpPr>
          <p:cNvPr id="15" name="Text 12"/>
          <p:cNvSpPr/>
          <p:nvPr/>
        </p:nvSpPr>
        <p:spPr>
          <a:xfrm>
            <a:off x="4572000" y="1783080"/>
            <a:ext cx="914400" cy="228600"/>
          </a:xfrm>
          <a:prstGeom prst="rect">
            <a:avLst/>
          </a:prstGeom>
          <a:noFill/>
          <a:ln/>
        </p:spPr>
        <p:txBody>
          <a:bodyPr wrap="square" rtlCol="0" anchor="ctr"/>
          <a:lstStyle/>
          <a:p>
            <a:pPr indent="0" marL="0">
              <a:buNone/>
            </a:pPr>
            <a:r>
              <a:rPr lang="en-US" sz="900" b="1" dirty="0">
                <a:solidFill>
                  <a:srgbClr val="0284C7"/>
                </a:solidFill>
              </a:rPr>
              <a:t>OBJ 2</a:t>
            </a:r>
            <a:endParaRPr lang="en-US" sz="900" dirty="0"/>
          </a:p>
        </p:txBody>
      </p:sp>
      <p:sp>
        <p:nvSpPr>
          <p:cNvPr id="16" name="Text 13"/>
          <p:cNvSpPr/>
          <p:nvPr/>
        </p:nvSpPr>
        <p:spPr>
          <a:xfrm>
            <a:off x="4572000" y="2057400"/>
            <a:ext cx="3044952" cy="365760"/>
          </a:xfrm>
          <a:prstGeom prst="rect">
            <a:avLst/>
          </a:prstGeom>
          <a:noFill/>
          <a:ln/>
        </p:spPr>
        <p:txBody>
          <a:bodyPr wrap="square" rtlCol="0" anchor="ctr"/>
          <a:lstStyle/>
          <a:p>
            <a:pPr indent="0" marL="0">
              <a:buNone/>
            </a:pPr>
            <a:r>
              <a:rPr lang="en-US" sz="1200" b="1" dirty="0">
                <a:solidFill>
                  <a:srgbClr val="0F172A"/>
                </a:solidFill>
              </a:rPr>
              <a:t>Automated Medication Reminders</a:t>
            </a:r>
            <a:endParaRPr lang="en-US" sz="1200" dirty="0"/>
          </a:p>
        </p:txBody>
      </p:sp>
      <p:sp>
        <p:nvSpPr>
          <p:cNvPr id="17" name="Text 14"/>
          <p:cNvSpPr/>
          <p:nvPr/>
        </p:nvSpPr>
        <p:spPr>
          <a:xfrm>
            <a:off x="4572000" y="2514600"/>
            <a:ext cx="3044952" cy="1051560"/>
          </a:xfrm>
          <a:prstGeom prst="rect">
            <a:avLst/>
          </a:prstGeom>
          <a:noFill/>
          <a:ln/>
        </p:spPr>
        <p:txBody>
          <a:bodyPr wrap="square" rtlCol="0" anchor="ctr"/>
          <a:lstStyle/>
          <a:p>
            <a:pPr indent="0" marL="0">
              <a:lnSpc>
                <a:spcPct val="120000"/>
              </a:lnSpc>
              <a:buNone/>
            </a:pPr>
            <a:r>
              <a:rPr lang="en-US" sz="1000" dirty="0">
                <a:solidFill>
                  <a:srgbClr val="475569"/>
                </a:solidFill>
              </a:rPr>
              <a:t>Implement a reliable reminder engine that notifies patients precisely when scheduled medication doses become due.</a:t>
            </a:r>
            <a:endParaRPr lang="en-US" sz="1000" dirty="0"/>
          </a:p>
        </p:txBody>
      </p:sp>
      <p:sp>
        <p:nvSpPr>
          <p:cNvPr id="18" name="Shape 15"/>
          <p:cNvSpPr/>
          <p:nvPr/>
        </p:nvSpPr>
        <p:spPr>
          <a:xfrm>
            <a:off x="8046720" y="1645920"/>
            <a:ext cx="3410712" cy="2103120"/>
          </a:xfrm>
          <a:prstGeom prst="roundRect">
            <a:avLst>
              <a:gd name="adj" fmla="val 3478"/>
            </a:avLst>
          </a:prstGeom>
          <a:solidFill>
            <a:srgbClr val="FFFFFF"/>
          </a:solidFill>
          <a:ln w="12700">
            <a:solidFill>
              <a:srgbClr val="E2E8F0"/>
            </a:solidFill>
            <a:prstDash val="solid"/>
          </a:ln>
        </p:spPr>
      </p:sp>
      <p:sp>
        <p:nvSpPr>
          <p:cNvPr id="19" name="Shape 16"/>
          <p:cNvSpPr/>
          <p:nvPr/>
        </p:nvSpPr>
        <p:spPr>
          <a:xfrm>
            <a:off x="8055864" y="1655064"/>
            <a:ext cx="3392424" cy="54864"/>
          </a:xfrm>
          <a:prstGeom prst="rect">
            <a:avLst/>
          </a:prstGeom>
          <a:solidFill>
            <a:srgbClr val="16A34A"/>
          </a:solidFill>
          <a:ln w="12700">
            <a:solidFill>
              <a:srgbClr val="16A34A"/>
            </a:solidFill>
            <a:prstDash val="solid"/>
          </a:ln>
        </p:spPr>
      </p:sp>
      <p:sp>
        <p:nvSpPr>
          <p:cNvPr id="20" name="Text 17"/>
          <p:cNvSpPr/>
          <p:nvPr/>
        </p:nvSpPr>
        <p:spPr>
          <a:xfrm>
            <a:off x="8229600" y="1783080"/>
            <a:ext cx="914400" cy="228600"/>
          </a:xfrm>
          <a:prstGeom prst="rect">
            <a:avLst/>
          </a:prstGeom>
          <a:noFill/>
          <a:ln/>
        </p:spPr>
        <p:txBody>
          <a:bodyPr wrap="square" rtlCol="0" anchor="ctr"/>
          <a:lstStyle/>
          <a:p>
            <a:pPr indent="0" marL="0">
              <a:buNone/>
            </a:pPr>
            <a:r>
              <a:rPr lang="en-US" sz="900" b="1" dirty="0">
                <a:solidFill>
                  <a:srgbClr val="16A34A"/>
                </a:solidFill>
              </a:rPr>
              <a:t>OBJ 3</a:t>
            </a:r>
            <a:endParaRPr lang="en-US" sz="900" dirty="0"/>
          </a:p>
        </p:txBody>
      </p:sp>
      <p:sp>
        <p:nvSpPr>
          <p:cNvPr id="21" name="Text 18"/>
          <p:cNvSpPr/>
          <p:nvPr/>
        </p:nvSpPr>
        <p:spPr>
          <a:xfrm>
            <a:off x="8229600" y="2057400"/>
            <a:ext cx="3044952" cy="365760"/>
          </a:xfrm>
          <a:prstGeom prst="rect">
            <a:avLst/>
          </a:prstGeom>
          <a:noFill/>
          <a:ln/>
        </p:spPr>
        <p:txBody>
          <a:bodyPr wrap="square" rtlCol="0" anchor="ctr"/>
          <a:lstStyle/>
          <a:p>
            <a:pPr indent="0" marL="0">
              <a:buNone/>
            </a:pPr>
            <a:r>
              <a:rPr lang="en-US" sz="1200" b="1" dirty="0">
                <a:solidFill>
                  <a:srgbClr val="0F172A"/>
                </a:solidFill>
              </a:rPr>
              <a:t>Monitor &amp; Track Adherence</a:t>
            </a:r>
            <a:endParaRPr lang="en-US" sz="1200" dirty="0"/>
          </a:p>
        </p:txBody>
      </p:sp>
      <p:sp>
        <p:nvSpPr>
          <p:cNvPr id="22" name="Text 19"/>
          <p:cNvSpPr/>
          <p:nvPr/>
        </p:nvSpPr>
        <p:spPr>
          <a:xfrm>
            <a:off x="8229600" y="2514600"/>
            <a:ext cx="3044952" cy="1051560"/>
          </a:xfrm>
          <a:prstGeom prst="rect">
            <a:avLst/>
          </a:prstGeom>
          <a:noFill/>
          <a:ln/>
        </p:spPr>
        <p:txBody>
          <a:bodyPr wrap="square" rtlCol="0" anchor="ctr"/>
          <a:lstStyle/>
          <a:p>
            <a:pPr indent="0" marL="0">
              <a:lnSpc>
                <a:spcPct val="120000"/>
              </a:lnSpc>
              <a:buNone/>
            </a:pPr>
            <a:r>
              <a:rPr lang="en-US" sz="1000" dirty="0">
                <a:solidFill>
                  <a:srgbClr val="475569"/>
                </a:solidFill>
              </a:rPr>
              <a:t>Record scheduled doses as Taken or Missed, storing events in MySQL and displaying historical adherence patterns.</a:t>
            </a:r>
            <a:endParaRPr lang="en-US" sz="1000" dirty="0"/>
          </a:p>
        </p:txBody>
      </p:sp>
      <p:sp>
        <p:nvSpPr>
          <p:cNvPr id="23" name="Shape 20"/>
          <p:cNvSpPr/>
          <p:nvPr/>
        </p:nvSpPr>
        <p:spPr>
          <a:xfrm>
            <a:off x="731520" y="3931920"/>
            <a:ext cx="3410712" cy="2103120"/>
          </a:xfrm>
          <a:prstGeom prst="roundRect">
            <a:avLst>
              <a:gd name="adj" fmla="val 3478"/>
            </a:avLst>
          </a:prstGeom>
          <a:solidFill>
            <a:srgbClr val="FFFFFF"/>
          </a:solidFill>
          <a:ln w="12700">
            <a:solidFill>
              <a:srgbClr val="E2E8F0"/>
            </a:solidFill>
            <a:prstDash val="solid"/>
          </a:ln>
        </p:spPr>
      </p:sp>
      <p:sp>
        <p:nvSpPr>
          <p:cNvPr id="24" name="Shape 21"/>
          <p:cNvSpPr/>
          <p:nvPr/>
        </p:nvSpPr>
        <p:spPr>
          <a:xfrm>
            <a:off x="740664" y="3941064"/>
            <a:ext cx="3392424" cy="54864"/>
          </a:xfrm>
          <a:prstGeom prst="rect">
            <a:avLst/>
          </a:prstGeom>
          <a:solidFill>
            <a:srgbClr val="6366F1"/>
          </a:solidFill>
          <a:ln w="12700">
            <a:solidFill>
              <a:srgbClr val="6366F1"/>
            </a:solidFill>
            <a:prstDash val="solid"/>
          </a:ln>
        </p:spPr>
      </p:sp>
      <p:sp>
        <p:nvSpPr>
          <p:cNvPr id="25" name="Text 22"/>
          <p:cNvSpPr/>
          <p:nvPr/>
        </p:nvSpPr>
        <p:spPr>
          <a:xfrm>
            <a:off x="914400" y="4069080"/>
            <a:ext cx="914400" cy="228600"/>
          </a:xfrm>
          <a:prstGeom prst="rect">
            <a:avLst/>
          </a:prstGeom>
          <a:noFill/>
          <a:ln/>
        </p:spPr>
        <p:txBody>
          <a:bodyPr wrap="square" rtlCol="0" anchor="ctr"/>
          <a:lstStyle/>
          <a:p>
            <a:pPr indent="0" marL="0">
              <a:buNone/>
            </a:pPr>
            <a:r>
              <a:rPr lang="en-US" sz="900" b="1" dirty="0">
                <a:solidFill>
                  <a:srgbClr val="6366F1"/>
                </a:solidFill>
              </a:rPr>
              <a:t>OBJ 4</a:t>
            </a:r>
            <a:endParaRPr lang="en-US" sz="900" dirty="0"/>
          </a:p>
        </p:txBody>
      </p:sp>
      <p:sp>
        <p:nvSpPr>
          <p:cNvPr id="26" name="Text 23"/>
          <p:cNvSpPr/>
          <p:nvPr/>
        </p:nvSpPr>
        <p:spPr>
          <a:xfrm>
            <a:off x="914400" y="4343400"/>
            <a:ext cx="3044952" cy="365760"/>
          </a:xfrm>
          <a:prstGeom prst="rect">
            <a:avLst/>
          </a:prstGeom>
          <a:noFill/>
          <a:ln/>
        </p:spPr>
        <p:txBody>
          <a:bodyPr wrap="square" rtlCol="0" anchor="ctr"/>
          <a:lstStyle/>
          <a:p>
            <a:pPr indent="0" marL="0">
              <a:buNone/>
            </a:pPr>
            <a:r>
              <a:rPr lang="en-US" sz="1200" b="1" dirty="0">
                <a:solidFill>
                  <a:srgbClr val="0F172A"/>
                </a:solidFill>
              </a:rPr>
              <a:t>User-Friendly Dashboard</a:t>
            </a:r>
            <a:endParaRPr lang="en-US" sz="1200" dirty="0"/>
          </a:p>
        </p:txBody>
      </p:sp>
      <p:sp>
        <p:nvSpPr>
          <p:cNvPr id="27" name="Text 24"/>
          <p:cNvSpPr/>
          <p:nvPr/>
        </p:nvSpPr>
        <p:spPr>
          <a:xfrm>
            <a:off x="914400" y="4800600"/>
            <a:ext cx="3044952" cy="1051560"/>
          </a:xfrm>
          <a:prstGeom prst="rect">
            <a:avLst/>
          </a:prstGeom>
          <a:noFill/>
          <a:ln/>
        </p:spPr>
        <p:txBody>
          <a:bodyPr wrap="square" rtlCol="0" anchor="ctr"/>
          <a:lstStyle/>
          <a:p>
            <a:pPr indent="0" marL="0">
              <a:lnSpc>
                <a:spcPct val="120000"/>
              </a:lnSpc>
              <a:buNone/>
            </a:pPr>
            <a:r>
              <a:rPr lang="en-US" sz="1000" dirty="0">
                <a:solidFill>
                  <a:srgbClr val="475569"/>
                </a:solidFill>
              </a:rPr>
              <a:t>Provide a centralized graphical dashboard displaying upcoming doses, completed doses, missed doses, and recent adherence activities.</a:t>
            </a:r>
            <a:endParaRPr lang="en-US" sz="1000" dirty="0"/>
          </a:p>
        </p:txBody>
      </p:sp>
      <p:sp>
        <p:nvSpPr>
          <p:cNvPr id="28" name="Shape 25"/>
          <p:cNvSpPr/>
          <p:nvPr/>
        </p:nvSpPr>
        <p:spPr>
          <a:xfrm>
            <a:off x="4389120" y="3931920"/>
            <a:ext cx="3410712" cy="2103120"/>
          </a:xfrm>
          <a:prstGeom prst="roundRect">
            <a:avLst>
              <a:gd name="adj" fmla="val 3478"/>
            </a:avLst>
          </a:prstGeom>
          <a:solidFill>
            <a:srgbClr val="FFFFFF"/>
          </a:solidFill>
          <a:ln w="12700">
            <a:solidFill>
              <a:srgbClr val="E2E8F0"/>
            </a:solidFill>
            <a:prstDash val="solid"/>
          </a:ln>
        </p:spPr>
      </p:sp>
      <p:sp>
        <p:nvSpPr>
          <p:cNvPr id="29" name="Shape 26"/>
          <p:cNvSpPr/>
          <p:nvPr/>
        </p:nvSpPr>
        <p:spPr>
          <a:xfrm>
            <a:off x="4398264" y="3941064"/>
            <a:ext cx="3392424" cy="54864"/>
          </a:xfrm>
          <a:prstGeom prst="rect">
            <a:avLst/>
          </a:prstGeom>
          <a:solidFill>
            <a:srgbClr val="D97706"/>
          </a:solidFill>
          <a:ln w="12700">
            <a:solidFill>
              <a:srgbClr val="D97706"/>
            </a:solidFill>
            <a:prstDash val="solid"/>
          </a:ln>
        </p:spPr>
      </p:sp>
      <p:sp>
        <p:nvSpPr>
          <p:cNvPr id="30" name="Text 27"/>
          <p:cNvSpPr/>
          <p:nvPr/>
        </p:nvSpPr>
        <p:spPr>
          <a:xfrm>
            <a:off x="4572000" y="4069080"/>
            <a:ext cx="914400" cy="228600"/>
          </a:xfrm>
          <a:prstGeom prst="rect">
            <a:avLst/>
          </a:prstGeom>
          <a:noFill/>
          <a:ln/>
        </p:spPr>
        <p:txBody>
          <a:bodyPr wrap="square" rtlCol="0" anchor="ctr"/>
          <a:lstStyle/>
          <a:p>
            <a:pPr indent="0" marL="0">
              <a:buNone/>
            </a:pPr>
            <a:r>
              <a:rPr lang="en-US" sz="900" b="1" dirty="0">
                <a:solidFill>
                  <a:srgbClr val="D97706"/>
                </a:solidFill>
              </a:rPr>
              <a:t>OBJ 5</a:t>
            </a:r>
            <a:endParaRPr lang="en-US" sz="900" dirty="0"/>
          </a:p>
        </p:txBody>
      </p:sp>
      <p:sp>
        <p:nvSpPr>
          <p:cNvPr id="31" name="Text 28"/>
          <p:cNvSpPr/>
          <p:nvPr/>
        </p:nvSpPr>
        <p:spPr>
          <a:xfrm>
            <a:off x="4572000" y="4343400"/>
            <a:ext cx="3044952" cy="365760"/>
          </a:xfrm>
          <a:prstGeom prst="rect">
            <a:avLst/>
          </a:prstGeom>
          <a:noFill/>
          <a:ln/>
        </p:spPr>
        <p:txBody>
          <a:bodyPr wrap="square" rtlCol="0" anchor="ctr"/>
          <a:lstStyle/>
          <a:p>
            <a:pPr indent="0" marL="0">
              <a:buNone/>
            </a:pPr>
            <a:r>
              <a:rPr lang="en-US" sz="1200" b="1" dirty="0">
                <a:solidFill>
                  <a:srgbClr val="0F172A"/>
                </a:solidFill>
              </a:rPr>
              <a:t>Easy Doctor-Contact Access</a:t>
            </a:r>
            <a:endParaRPr lang="en-US" sz="1200" dirty="0"/>
          </a:p>
        </p:txBody>
      </p:sp>
      <p:sp>
        <p:nvSpPr>
          <p:cNvPr id="32" name="Text 29"/>
          <p:cNvSpPr/>
          <p:nvPr/>
        </p:nvSpPr>
        <p:spPr>
          <a:xfrm>
            <a:off x="4572000" y="4800600"/>
            <a:ext cx="3044952" cy="1051560"/>
          </a:xfrm>
          <a:prstGeom prst="rect">
            <a:avLst/>
          </a:prstGeom>
          <a:noFill/>
          <a:ln/>
        </p:spPr>
        <p:txBody>
          <a:bodyPr wrap="square" rtlCol="0" anchor="ctr"/>
          <a:lstStyle/>
          <a:p>
            <a:pPr indent="0" marL="0">
              <a:lnSpc>
                <a:spcPct val="120000"/>
              </a:lnSpc>
              <a:buNone/>
            </a:pPr>
            <a:r>
              <a:rPr lang="en-US" sz="1000" dirty="0">
                <a:solidFill>
                  <a:srgbClr val="475569"/>
                </a:solidFill>
              </a:rPr>
              <a:t>Develop a dedicated module allowing patients to access doctor profiles, specializations, clinic details, availability, and contact options.</a:t>
            </a:r>
            <a:endParaRPr lang="en-US" sz="1000" dirty="0"/>
          </a:p>
        </p:txBody>
      </p:sp>
      <p:sp>
        <p:nvSpPr>
          <p:cNvPr id="33" name="Shape 30"/>
          <p:cNvSpPr/>
          <p:nvPr/>
        </p:nvSpPr>
        <p:spPr>
          <a:xfrm>
            <a:off x="8046720" y="3931920"/>
            <a:ext cx="3410712" cy="2103120"/>
          </a:xfrm>
          <a:prstGeom prst="roundRect">
            <a:avLst>
              <a:gd name="adj" fmla="val 3478"/>
            </a:avLst>
          </a:prstGeom>
          <a:solidFill>
            <a:srgbClr val="FFFFFF"/>
          </a:solidFill>
          <a:ln w="12700">
            <a:solidFill>
              <a:srgbClr val="E2E8F0"/>
            </a:solidFill>
            <a:prstDash val="solid"/>
          </a:ln>
        </p:spPr>
      </p:sp>
      <p:sp>
        <p:nvSpPr>
          <p:cNvPr id="34" name="Shape 31"/>
          <p:cNvSpPr/>
          <p:nvPr/>
        </p:nvSpPr>
        <p:spPr>
          <a:xfrm>
            <a:off x="8055864" y="3941064"/>
            <a:ext cx="3392424" cy="54864"/>
          </a:xfrm>
          <a:prstGeom prst="rect">
            <a:avLst/>
          </a:prstGeom>
          <a:solidFill>
            <a:srgbClr val="E11D48"/>
          </a:solidFill>
          <a:ln w="12700">
            <a:solidFill>
              <a:srgbClr val="E11D48"/>
            </a:solidFill>
            <a:prstDash val="solid"/>
          </a:ln>
        </p:spPr>
      </p:sp>
      <p:sp>
        <p:nvSpPr>
          <p:cNvPr id="35" name="Text 32"/>
          <p:cNvSpPr/>
          <p:nvPr/>
        </p:nvSpPr>
        <p:spPr>
          <a:xfrm>
            <a:off x="8229600" y="4069080"/>
            <a:ext cx="914400" cy="228600"/>
          </a:xfrm>
          <a:prstGeom prst="rect">
            <a:avLst/>
          </a:prstGeom>
          <a:noFill/>
          <a:ln/>
        </p:spPr>
        <p:txBody>
          <a:bodyPr wrap="square" rtlCol="0" anchor="ctr"/>
          <a:lstStyle/>
          <a:p>
            <a:pPr indent="0" marL="0">
              <a:buNone/>
            </a:pPr>
            <a:r>
              <a:rPr lang="en-US" sz="900" b="1" dirty="0">
                <a:solidFill>
                  <a:srgbClr val="E11D48"/>
                </a:solidFill>
              </a:rPr>
              <a:t>OBJ 6</a:t>
            </a:r>
            <a:endParaRPr lang="en-US" sz="900" dirty="0"/>
          </a:p>
        </p:txBody>
      </p:sp>
      <p:sp>
        <p:nvSpPr>
          <p:cNvPr id="36" name="Text 33"/>
          <p:cNvSpPr/>
          <p:nvPr/>
        </p:nvSpPr>
        <p:spPr>
          <a:xfrm>
            <a:off x="8229600" y="4343400"/>
            <a:ext cx="3044952" cy="365760"/>
          </a:xfrm>
          <a:prstGeom prst="rect">
            <a:avLst/>
          </a:prstGeom>
          <a:noFill/>
          <a:ln/>
        </p:spPr>
        <p:txBody>
          <a:bodyPr wrap="square" rtlCol="0" anchor="ctr"/>
          <a:lstStyle/>
          <a:p>
            <a:pPr indent="0" marL="0">
              <a:buNone/>
            </a:pPr>
            <a:r>
              <a:rPr lang="en-US" sz="1200" b="1" dirty="0">
                <a:solidFill>
                  <a:srgbClr val="0F172A"/>
                </a:solidFill>
              </a:rPr>
              <a:t>Organized Data Management</a:t>
            </a:r>
            <a:endParaRPr lang="en-US" sz="1200" dirty="0"/>
          </a:p>
        </p:txBody>
      </p:sp>
      <p:sp>
        <p:nvSpPr>
          <p:cNvPr id="37" name="Text 34"/>
          <p:cNvSpPr/>
          <p:nvPr/>
        </p:nvSpPr>
        <p:spPr>
          <a:xfrm>
            <a:off x="8229600" y="4800600"/>
            <a:ext cx="3044952" cy="1051560"/>
          </a:xfrm>
          <a:prstGeom prst="rect">
            <a:avLst/>
          </a:prstGeom>
          <a:noFill/>
          <a:ln/>
        </p:spPr>
        <p:txBody>
          <a:bodyPr wrap="square" rtlCol="0" anchor="ctr"/>
          <a:lstStyle/>
          <a:p>
            <a:pPr indent="0" marL="0">
              <a:lnSpc>
                <a:spcPct val="120000"/>
              </a:lnSpc>
              <a:buNone/>
            </a:pPr>
            <a:r>
              <a:rPr lang="en-US" sz="1000" dirty="0">
                <a:solidFill>
                  <a:srgbClr val="475569"/>
                </a:solidFill>
              </a:rPr>
              <a:t>Develop a structured relational MySQL database to securely store user credentials, medication details, schedules, and adherence logs.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731520" y="365760"/>
            <a:ext cx="2286000" cy="274320"/>
          </a:xfrm>
          <a:prstGeom prst="roundRect">
            <a:avLst>
              <a:gd name="adj" fmla="val 50000"/>
            </a:avLst>
          </a:prstGeom>
          <a:solidFill>
            <a:srgbClr val="F0FDFA"/>
          </a:solidFill>
          <a:ln w="12700">
            <a:solidFill>
              <a:srgbClr val="0D9488"/>
            </a:solidFill>
            <a:prstDash val="solid"/>
          </a:ln>
        </p:spPr>
      </p:sp>
      <p:sp>
        <p:nvSpPr>
          <p:cNvPr id="4" name="Text 1"/>
          <p:cNvSpPr/>
          <p:nvPr/>
        </p:nvSpPr>
        <p:spPr>
          <a:xfrm>
            <a:off x="731520" y="365760"/>
            <a:ext cx="2286000" cy="274320"/>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LITERATURE REVIEW</a:t>
            </a:r>
            <a:endParaRPr lang="en-US" sz="900" dirty="0"/>
          </a:p>
        </p:txBody>
      </p:sp>
      <p:sp>
        <p:nvSpPr>
          <p:cNvPr id="5" name="Text 2"/>
          <p:cNvSpPr/>
          <p:nvPr/>
        </p:nvSpPr>
        <p:spPr>
          <a:xfrm>
            <a:off x="7772400" y="365760"/>
            <a:ext cx="36576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DoseTrack · BCA S5 · KMCT IETM (KTU)</a:t>
            </a:r>
            <a:endParaRPr lang="en-US" sz="900" dirty="0"/>
          </a:p>
        </p:txBody>
      </p:sp>
      <p:sp>
        <p:nvSpPr>
          <p:cNvPr id="6" name="Text 3"/>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Literature Survey &amp; Existing Approaches</a:t>
            </a:r>
            <a:endParaRPr lang="en-US" sz="2200" dirty="0"/>
          </a:p>
        </p:txBody>
      </p:sp>
      <p:sp>
        <p:nvSpPr>
          <p:cNvPr id="7" name="Text 4"/>
          <p:cNvSpPr/>
          <p:nvPr/>
        </p:nvSpPr>
        <p:spPr>
          <a:xfrm>
            <a:off x="731520" y="1188720"/>
            <a:ext cx="10515600" cy="32004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Comparative analysis of existing adherence technologies from Chapter 4 of the report.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725912" cy="3474720"/>
        </p:xfrm>
        <a:graphic>
          <a:graphicData uri="http://schemas.openxmlformats.org/drawingml/2006/table">
            <a:tbl>
              <a:tblPr/>
              <a:tblGrid>
                <a:gridCol w="2286000"/>
                <a:gridCol w="2286000"/>
                <a:gridCol w="3072384"/>
                <a:gridCol w="3081528"/>
              </a:tblGrid>
              <a:tr h="694944">
                <a:tc>
                  <a:txBody>
                    <a:bodyPr/>
                    <a:lstStyle/>
                    <a:p>
                      <a:pPr indent="0" marL="0">
                        <a:buNone/>
                      </a:pPr>
                      <a:r>
                        <a:rPr lang="en-US" sz="900" b="1" dirty="0">
                          <a:solidFill>
                            <a:srgbClr val="0F172A"/>
                          </a:solidFill>
                        </a:rPr>
                        <a:t>Study / Approach</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00" b="1" dirty="0">
                          <a:solidFill>
                            <a:srgbClr val="0F172A"/>
                          </a:solidFill>
                        </a:rPr>
                        <a:t>Technology Used</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00" b="1" dirty="0">
                          <a:solidFill>
                            <a:srgbClr val="0F172A"/>
                          </a:solidFill>
                        </a:rPr>
                        <a:t>Key Strengths</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00" b="1" dirty="0">
                          <a:solidFill>
                            <a:srgbClr val="0F172A"/>
                          </a:solidFill>
                        </a:rPr>
                        <a:t>Limitations Identified</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694944">
                <a:tc>
                  <a:txBody>
                    <a:bodyPr/>
                    <a:lstStyle/>
                    <a:p>
                      <a:pPr indent="0" marL="0">
                        <a:buNone/>
                      </a:pPr>
                      <a:r>
                        <a:rPr lang="en-US" sz="900" dirty="0">
                          <a:solidFill>
                            <a:srgbClr val="0F172A"/>
                          </a:solidFill>
                        </a:rPr>
                        <a:t>Moshnyaga et al. (2016)</a:t>
                      </a:r>
                      <a:endParaRPr lang="en-US" sz="900" dirty="0"/>
                    </a:p>
                    <a:p>
                      <a:pPr indent="0" marL="0">
                        <a:buNone/>
                      </a:pPr>
                      <a:r>
                        <a:rPr lang="en-US" sz="900" dirty="0">
                          <a:solidFill>
                            <a:srgbClr val="0F172A"/>
                          </a:solidFill>
                        </a:rPr>
                        <a:t>Dementia Adherence Monitoring</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F172A"/>
                          </a:solidFill>
                        </a:rPr>
                        <a:t>Kinect sensor, vocal guidance &amp; caregiver alerts</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F172A"/>
                          </a:solidFill>
                        </a:rPr>
                        <a:t>Actively monitors medication-taking activities rather than relying only on alarms.</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F172A"/>
                          </a:solidFill>
                        </a:rPr>
                        <a:t>Specialized sensing equipment increases cost and implementation complexity.</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694944">
                <a:tc>
                  <a:txBody>
                    <a:bodyPr/>
                    <a:lstStyle/>
                    <a:p>
                      <a:pPr indent="0" marL="0">
                        <a:buNone/>
                      </a:pPr>
                      <a:r>
                        <a:rPr lang="en-US" sz="900" dirty="0">
                          <a:solidFill>
                            <a:srgbClr val="0F172A"/>
                          </a:solidFill>
                        </a:rPr>
                        <a:t>Rajan et al. (2021)</a:t>
                      </a:r>
                      <a:endParaRPr lang="en-US" sz="900" dirty="0"/>
                    </a:p>
                    <a:p>
                      <a:pPr indent="0" marL="0">
                        <a:buNone/>
                      </a:pPr>
                      <a:r>
                        <a:rPr lang="en-US" sz="900" dirty="0">
                          <a:solidFill>
                            <a:srgbClr val="0F172A"/>
                          </a:solidFill>
                        </a:rPr>
                        <a:t>Smart Pill Box with Auto-Fill</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F172A"/>
                          </a:solidFill>
                        </a:rPr>
                        <a:t>Arduino, GSM communication, IoT &amp; Blynk App</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F172A"/>
                          </a:solidFill>
                        </a:rPr>
                        <a:t>Automated physical notifications and medicine supply monitoring.</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F172A"/>
                          </a:solidFill>
                        </a:rPr>
                        <a:t>Hardware equipment, ongoing maintenance, and continuous connectivity dependencies.</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694944">
                <a:tc>
                  <a:txBody>
                    <a:bodyPr/>
                    <a:lstStyle/>
                    <a:p>
                      <a:pPr indent="0" marL="0">
                        <a:buNone/>
                      </a:pPr>
                      <a:r>
                        <a:rPr lang="en-US" sz="900" dirty="0">
                          <a:solidFill>
                            <a:srgbClr val="0F172A"/>
                          </a:solidFill>
                        </a:rPr>
                        <a:t>Srinivas et al. (2018)</a:t>
                      </a:r>
                      <a:endParaRPr lang="en-US" sz="900" dirty="0"/>
                    </a:p>
                    <a:p>
                      <a:pPr indent="0" marL="0">
                        <a:buNone/>
                      </a:pPr>
                      <a:r>
                        <a:rPr lang="en-US" sz="900" dirty="0">
                          <a:solidFill>
                            <a:srgbClr val="0F172A"/>
                          </a:solidFill>
                        </a:rPr>
                        <a:t>Intelligent Medicine Box</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F172A"/>
                          </a:solidFill>
                        </a:rPr>
                        <a:t>IoT hardware, vital sign sensors &amp; Android App</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F172A"/>
                          </a:solidFill>
                        </a:rPr>
                        <a:t>Integrates reminders with abnormal vital sign alerts to guardian.</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F172A"/>
                          </a:solidFill>
                        </a:rPr>
                        <a:t>Sensor-based systems increase hardware dependencies and maintenance points.</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694944">
                <a:tc>
                  <a:txBody>
                    <a:bodyPr/>
                    <a:lstStyle/>
                    <a:p>
                      <a:pPr indent="0" marL="0">
                        <a:buNone/>
                      </a:pPr>
                      <a:r>
                        <a:rPr lang="en-US" sz="900" dirty="0">
                          <a:solidFill>
                            <a:srgbClr val="0F172A"/>
                          </a:solidFill>
                        </a:rPr>
                        <a:t>Mason et al. (2022)</a:t>
                      </a:r>
                      <a:endParaRPr lang="en-US" sz="900" dirty="0"/>
                    </a:p>
                    <a:p>
                      <a:pPr indent="0" marL="0">
                        <a:buNone/>
                      </a:pPr>
                      <a:r>
                        <a:rPr lang="en-US" sz="900" dirty="0">
                          <a:solidFill>
                            <a:srgbClr val="0F172A"/>
                          </a:solidFill>
                        </a:rPr>
                        <a:t>Adherence Technology Review</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F172A"/>
                          </a:solidFill>
                        </a:rPr>
                        <a:t>Electronic pill boxes, bottles, sensors &amp; self-reporting</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F172A"/>
                          </a:solidFill>
                        </a:rPr>
                        <a:t>Comprehensive review of usability, cost, and implementation factors.</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F172A"/>
                          </a:solidFill>
                        </a:rPr>
                        <a:t>Recording hardware activity does not always confirm actual medicine consumption.</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9" name="Shape 5"/>
          <p:cNvSpPr/>
          <p:nvPr/>
        </p:nvSpPr>
        <p:spPr>
          <a:xfrm>
            <a:off x="731520" y="5394960"/>
            <a:ext cx="10725912" cy="1005840"/>
          </a:xfrm>
          <a:prstGeom prst="roundRect">
            <a:avLst>
              <a:gd name="adj" fmla="val 7273"/>
            </a:avLst>
          </a:prstGeom>
          <a:solidFill>
            <a:srgbClr val="FFFFFF"/>
          </a:solidFill>
          <a:ln w="12700">
            <a:solidFill>
              <a:srgbClr val="0D9488"/>
            </a:solidFill>
            <a:prstDash val="solid"/>
          </a:ln>
        </p:spPr>
      </p:sp>
      <p:sp>
        <p:nvSpPr>
          <p:cNvPr id="10" name="Shape 6"/>
          <p:cNvSpPr/>
          <p:nvPr/>
        </p:nvSpPr>
        <p:spPr>
          <a:xfrm>
            <a:off x="740664" y="5404104"/>
            <a:ext cx="10707624" cy="54864"/>
          </a:xfrm>
          <a:prstGeom prst="rect">
            <a:avLst/>
          </a:prstGeom>
          <a:solidFill>
            <a:srgbClr val="0D9488"/>
          </a:solidFill>
          <a:ln w="12700">
            <a:solidFill>
              <a:srgbClr val="0D9488"/>
            </a:solidFill>
            <a:prstDash val="solid"/>
          </a:ln>
        </p:spPr>
      </p:sp>
      <p:sp>
        <p:nvSpPr>
          <p:cNvPr id="11" name="Text 7"/>
          <p:cNvSpPr/>
          <p:nvPr/>
        </p:nvSpPr>
        <p:spPr>
          <a:xfrm>
            <a:off x="914400" y="5532120"/>
            <a:ext cx="10360152" cy="731520"/>
          </a:xfrm>
          <a:prstGeom prst="rect">
            <a:avLst/>
          </a:prstGeom>
          <a:noFill/>
          <a:ln/>
        </p:spPr>
        <p:txBody>
          <a:bodyPr wrap="square" rtlCol="0" anchor="ctr"/>
          <a:lstStyle/>
          <a:p>
            <a:pPr indent="0" marL="0">
              <a:lnSpc>
                <a:spcPct val="120000"/>
              </a:lnSpc>
              <a:buNone/>
            </a:pPr>
            <a:r>
              <a:rPr lang="en-US" sz="1000" b="1" dirty="0">
                <a:solidFill>
                  <a:srgbClr val="0D9488"/>
                </a:solidFill>
              </a:rPr>
              <a:t>MOTIVATION FOR DOSETRACK:</a:t>
            </a:r>
            <a:endParaRPr lang="en-US" sz="1000" dirty="0"/>
          </a:p>
          <a:p>
            <a:pPr indent="0" marL="0">
              <a:lnSpc>
                <a:spcPct val="120000"/>
              </a:lnSpc>
              <a:buNone/>
            </a:pPr>
            <a:r>
              <a:rPr lang="en-US" sz="1000" b="1" dirty="0">
                <a:solidFill>
                  <a:srgbClr val="0D9488"/>
                </a:solidFill>
              </a:rPr>
              <a:t>“Need for an accessible, practical software-based solution that combines medication management, reminders, adherence tracking, and doctor-contact information in one system without requiring specialized monitoring hardware.”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731520" y="365760"/>
            <a:ext cx="2286000" cy="274320"/>
          </a:xfrm>
          <a:prstGeom prst="roundRect">
            <a:avLst>
              <a:gd name="adj" fmla="val 50000"/>
            </a:avLst>
          </a:prstGeom>
          <a:solidFill>
            <a:srgbClr val="F0FDFA"/>
          </a:solidFill>
          <a:ln w="12700">
            <a:solidFill>
              <a:srgbClr val="0D9488"/>
            </a:solidFill>
            <a:prstDash val="solid"/>
          </a:ln>
        </p:spPr>
      </p:sp>
      <p:sp>
        <p:nvSpPr>
          <p:cNvPr id="4" name="Text 1"/>
          <p:cNvSpPr/>
          <p:nvPr/>
        </p:nvSpPr>
        <p:spPr>
          <a:xfrm>
            <a:off x="731520" y="365760"/>
            <a:ext cx="2286000" cy="274320"/>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PROPOSED ARCHITECTURE</a:t>
            </a:r>
            <a:endParaRPr lang="en-US" sz="900" dirty="0"/>
          </a:p>
        </p:txBody>
      </p:sp>
      <p:sp>
        <p:nvSpPr>
          <p:cNvPr id="5" name="Text 2"/>
          <p:cNvSpPr/>
          <p:nvPr/>
        </p:nvSpPr>
        <p:spPr>
          <a:xfrm>
            <a:off x="7772400" y="365760"/>
            <a:ext cx="36576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DoseTrack · BCA S5 · KMCT IETM (KTU)</a:t>
            </a:r>
            <a:endParaRPr lang="en-US" sz="900" dirty="0"/>
          </a:p>
        </p:txBody>
      </p:sp>
      <p:sp>
        <p:nvSpPr>
          <p:cNvPr id="6" name="Text 3"/>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Proposed System – DoseTrack</a:t>
            </a:r>
            <a:endParaRPr lang="en-US" sz="2200" dirty="0"/>
          </a:p>
        </p:txBody>
      </p:sp>
      <p:sp>
        <p:nvSpPr>
          <p:cNvPr id="7" name="Text 4"/>
          <p:cNvSpPr/>
          <p:nvPr/>
        </p:nvSpPr>
        <p:spPr>
          <a:xfrm>
            <a:off x="731520" y="1188720"/>
            <a:ext cx="10515600" cy="32004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Centralized platform integrating medication management, reminders, and adherence monitoring.</a:t>
            </a:r>
            <a:endParaRPr lang="en-US" sz="1100" dirty="0"/>
          </a:p>
        </p:txBody>
      </p:sp>
      <p:sp>
        <p:nvSpPr>
          <p:cNvPr id="8" name="Shape 5"/>
          <p:cNvSpPr/>
          <p:nvPr/>
        </p:nvSpPr>
        <p:spPr>
          <a:xfrm>
            <a:off x="4261104" y="2011680"/>
            <a:ext cx="3657600" cy="3108960"/>
          </a:xfrm>
          <a:prstGeom prst="roundRect">
            <a:avLst>
              <a:gd name="adj" fmla="val 2353"/>
            </a:avLst>
          </a:prstGeom>
          <a:solidFill>
            <a:srgbClr val="FFFFFF"/>
          </a:solidFill>
          <a:ln w="12700">
            <a:solidFill>
              <a:srgbClr val="0D9488"/>
            </a:solidFill>
            <a:prstDash val="solid"/>
          </a:ln>
        </p:spPr>
      </p:sp>
      <p:sp>
        <p:nvSpPr>
          <p:cNvPr id="9" name="Shape 6"/>
          <p:cNvSpPr/>
          <p:nvPr/>
        </p:nvSpPr>
        <p:spPr>
          <a:xfrm>
            <a:off x="4270248" y="2020824"/>
            <a:ext cx="3639312" cy="54864"/>
          </a:xfrm>
          <a:prstGeom prst="rect">
            <a:avLst/>
          </a:prstGeom>
          <a:solidFill>
            <a:srgbClr val="0D9488"/>
          </a:solidFill>
          <a:ln w="12700">
            <a:solidFill>
              <a:srgbClr val="0D9488"/>
            </a:solidFill>
            <a:prstDash val="solid"/>
          </a:ln>
        </p:spPr>
      </p:sp>
      <p:sp>
        <p:nvSpPr>
          <p:cNvPr id="10" name="Text 7"/>
          <p:cNvSpPr/>
          <p:nvPr/>
        </p:nvSpPr>
        <p:spPr>
          <a:xfrm>
            <a:off x="4443984" y="2286000"/>
            <a:ext cx="3291840" cy="365760"/>
          </a:xfrm>
          <a:prstGeom prst="rect">
            <a:avLst/>
          </a:prstGeom>
          <a:noFill/>
          <a:ln/>
        </p:spPr>
        <p:txBody>
          <a:bodyPr wrap="square" rtlCol="0" anchor="ctr"/>
          <a:lstStyle/>
          <a:p>
            <a:pPr algn="ctr" indent="0" marL="0">
              <a:buNone/>
            </a:pPr>
            <a:r>
              <a:rPr lang="en-US" sz="1600" b="1" dirty="0">
                <a:solidFill>
                  <a:srgbClr val="0F172A"/>
                </a:solidFill>
              </a:rPr>
              <a:t>DoseTrack Core System</a:t>
            </a:r>
            <a:endParaRPr lang="en-US" sz="1600" dirty="0"/>
          </a:p>
        </p:txBody>
      </p:sp>
      <p:sp>
        <p:nvSpPr>
          <p:cNvPr id="11" name="Text 8"/>
          <p:cNvSpPr/>
          <p:nvPr/>
        </p:nvSpPr>
        <p:spPr>
          <a:xfrm>
            <a:off x="4443984" y="2834640"/>
            <a:ext cx="3291840" cy="2011680"/>
          </a:xfrm>
          <a:prstGeom prst="rect">
            <a:avLst/>
          </a:prstGeom>
          <a:noFill/>
          <a:ln/>
        </p:spPr>
        <p:txBody>
          <a:bodyPr wrap="square" rtlCol="0" anchor="ctr"/>
          <a:lstStyle/>
          <a:p>
            <a:pPr algn="ctr" indent="0" marL="0">
              <a:lnSpc>
                <a:spcPct val="130000"/>
              </a:lnSpc>
              <a:buNone/>
            </a:pPr>
            <a:r>
              <a:rPr lang="en-US" sz="1100" dirty="0">
                <a:solidFill>
                  <a:srgbClr val="475569"/>
                </a:solidFill>
              </a:rPr>
              <a:t>Centralized Web Application</a:t>
            </a:r>
            <a:endParaRPr lang="en-US" sz="1100" dirty="0"/>
          </a:p>
          <a:p>
            <a:pPr algn="ctr" indent="0" marL="0">
              <a:lnSpc>
                <a:spcPct val="130000"/>
              </a:lnSpc>
              <a:buNone/>
            </a:pPr>
            <a:r>
              <a:rPr lang="en-US" sz="1100" dirty="0">
                <a:solidFill>
                  <a:srgbClr val="475569"/>
                </a:solidFill>
              </a:rPr>
              <a:t>&amp; Relational MySQL Database</a:t>
            </a:r>
            <a:endParaRPr lang="en-US" sz="1100" dirty="0"/>
          </a:p>
          <a:p>
            <a:pPr algn="ctr" indent="0" marL="0">
              <a:lnSpc>
                <a:spcPct val="130000"/>
              </a:lnSpc>
              <a:buNone/>
            </a:pPr>
            <a:endParaRPr lang="en-US" sz="1100" dirty="0"/>
          </a:p>
          <a:p>
            <a:pPr algn="ctr" indent="0" marL="0">
              <a:lnSpc>
                <a:spcPct val="130000"/>
              </a:lnSpc>
              <a:buNone/>
            </a:pPr>
            <a:r>
              <a:rPr lang="en-US" sz="1100" dirty="0">
                <a:solidFill>
                  <a:srgbClr val="475569"/>
                </a:solidFill>
              </a:rPr>
              <a:t>• Automated Schedule Engine</a:t>
            </a:r>
            <a:endParaRPr lang="en-US" sz="1100" dirty="0"/>
          </a:p>
          <a:p>
            <a:pPr algn="ctr" indent="0" marL="0">
              <a:lnSpc>
                <a:spcPct val="130000"/>
              </a:lnSpc>
              <a:buNone/>
            </a:pPr>
            <a:r>
              <a:rPr lang="en-US" sz="1100" dirty="0">
                <a:solidFill>
                  <a:srgbClr val="475569"/>
                </a:solidFill>
              </a:rPr>
              <a:t>• Immutable Adherence Log</a:t>
            </a:r>
            <a:endParaRPr lang="en-US" sz="1100" dirty="0"/>
          </a:p>
          <a:p>
            <a:pPr algn="ctr" indent="0" marL="0">
              <a:lnSpc>
                <a:spcPct val="130000"/>
              </a:lnSpc>
              <a:buNone/>
            </a:pPr>
            <a:r>
              <a:rPr lang="en-US" sz="1100" dirty="0">
                <a:solidFill>
                  <a:srgbClr val="475569"/>
                </a:solidFill>
              </a:rPr>
              <a:t>• Doctor Contact Directory</a:t>
            </a:r>
            <a:endParaRPr lang="en-US" sz="1100" dirty="0"/>
          </a:p>
        </p:txBody>
      </p:sp>
      <p:sp>
        <p:nvSpPr>
          <p:cNvPr id="12" name="Shape 9"/>
          <p:cNvSpPr/>
          <p:nvPr/>
        </p:nvSpPr>
        <p:spPr>
          <a:xfrm>
            <a:off x="731520" y="1737360"/>
            <a:ext cx="3200400" cy="1143000"/>
          </a:xfrm>
          <a:prstGeom prst="roundRect">
            <a:avLst>
              <a:gd name="adj" fmla="val 6400"/>
            </a:avLst>
          </a:prstGeom>
          <a:solidFill>
            <a:srgbClr val="FFFFFF"/>
          </a:solidFill>
          <a:ln w="12700">
            <a:solidFill>
              <a:srgbClr val="E2E8F0"/>
            </a:solidFill>
            <a:prstDash val="solid"/>
          </a:ln>
        </p:spPr>
      </p:sp>
      <p:sp>
        <p:nvSpPr>
          <p:cNvPr id="13" name="Shape 10"/>
          <p:cNvSpPr/>
          <p:nvPr/>
        </p:nvSpPr>
        <p:spPr>
          <a:xfrm>
            <a:off x="740664" y="1746504"/>
            <a:ext cx="3182112" cy="54864"/>
          </a:xfrm>
          <a:prstGeom prst="rect">
            <a:avLst/>
          </a:prstGeom>
          <a:solidFill>
            <a:srgbClr val="0D9488"/>
          </a:solidFill>
          <a:ln w="12700">
            <a:solidFill>
              <a:srgbClr val="0D9488"/>
            </a:solidFill>
            <a:prstDash val="solid"/>
          </a:ln>
        </p:spPr>
      </p:sp>
      <p:sp>
        <p:nvSpPr>
          <p:cNvPr id="14" name="Text 11"/>
          <p:cNvSpPr/>
          <p:nvPr/>
        </p:nvSpPr>
        <p:spPr>
          <a:xfrm>
            <a:off x="868680" y="1874520"/>
            <a:ext cx="2926080" cy="274320"/>
          </a:xfrm>
          <a:prstGeom prst="rect">
            <a:avLst/>
          </a:prstGeom>
          <a:noFill/>
          <a:ln/>
        </p:spPr>
        <p:txBody>
          <a:bodyPr wrap="square" rtlCol="0" anchor="ctr"/>
          <a:lstStyle/>
          <a:p>
            <a:pPr indent="0" marL="0">
              <a:buNone/>
            </a:pPr>
            <a:r>
              <a:rPr lang="en-US" sz="1100" b="1" dirty="0">
                <a:solidFill>
                  <a:srgbClr val="0F172A"/>
                </a:solidFill>
              </a:rPr>
              <a:t>User Management</a:t>
            </a:r>
            <a:endParaRPr lang="en-US" sz="1100" dirty="0"/>
          </a:p>
        </p:txBody>
      </p:sp>
      <p:sp>
        <p:nvSpPr>
          <p:cNvPr id="15" name="Text 12"/>
          <p:cNvSpPr/>
          <p:nvPr/>
        </p:nvSpPr>
        <p:spPr>
          <a:xfrm>
            <a:off x="868680" y="2148840"/>
            <a:ext cx="2926080" cy="548640"/>
          </a:xfrm>
          <a:prstGeom prst="rect">
            <a:avLst/>
          </a:prstGeom>
          <a:noFill/>
          <a:ln/>
        </p:spPr>
        <p:txBody>
          <a:bodyPr wrap="square" rtlCol="0" anchor="ctr"/>
          <a:lstStyle/>
          <a:p>
            <a:pPr indent="0" marL="0">
              <a:buNone/>
            </a:pPr>
            <a:r>
              <a:rPr lang="en-US" sz="900" dirty="0">
                <a:solidFill>
                  <a:srgbClr val="475569"/>
                </a:solidFill>
              </a:rPr>
              <a:t>Secure registration, login &amp; profile context</a:t>
            </a:r>
            <a:endParaRPr lang="en-US" sz="900" dirty="0"/>
          </a:p>
        </p:txBody>
      </p:sp>
      <p:sp>
        <p:nvSpPr>
          <p:cNvPr id="16" name="Shape 13"/>
          <p:cNvSpPr/>
          <p:nvPr/>
        </p:nvSpPr>
        <p:spPr>
          <a:xfrm>
            <a:off x="731520" y="3108960"/>
            <a:ext cx="3200400" cy="1143000"/>
          </a:xfrm>
          <a:prstGeom prst="roundRect">
            <a:avLst>
              <a:gd name="adj" fmla="val 6400"/>
            </a:avLst>
          </a:prstGeom>
          <a:solidFill>
            <a:srgbClr val="FFFFFF"/>
          </a:solidFill>
          <a:ln w="12700">
            <a:solidFill>
              <a:srgbClr val="E2E8F0"/>
            </a:solidFill>
            <a:prstDash val="solid"/>
          </a:ln>
        </p:spPr>
      </p:sp>
      <p:sp>
        <p:nvSpPr>
          <p:cNvPr id="17" name="Shape 14"/>
          <p:cNvSpPr/>
          <p:nvPr/>
        </p:nvSpPr>
        <p:spPr>
          <a:xfrm>
            <a:off x="740664" y="3118104"/>
            <a:ext cx="3182112" cy="54864"/>
          </a:xfrm>
          <a:prstGeom prst="rect">
            <a:avLst/>
          </a:prstGeom>
          <a:solidFill>
            <a:srgbClr val="0D9488"/>
          </a:solidFill>
          <a:ln w="12700">
            <a:solidFill>
              <a:srgbClr val="0D9488"/>
            </a:solidFill>
            <a:prstDash val="solid"/>
          </a:ln>
        </p:spPr>
      </p:sp>
      <p:sp>
        <p:nvSpPr>
          <p:cNvPr id="18" name="Text 15"/>
          <p:cNvSpPr/>
          <p:nvPr/>
        </p:nvSpPr>
        <p:spPr>
          <a:xfrm>
            <a:off x="868680" y="3246120"/>
            <a:ext cx="2926080" cy="274320"/>
          </a:xfrm>
          <a:prstGeom prst="rect">
            <a:avLst/>
          </a:prstGeom>
          <a:noFill/>
          <a:ln/>
        </p:spPr>
        <p:txBody>
          <a:bodyPr wrap="square" rtlCol="0" anchor="ctr"/>
          <a:lstStyle/>
          <a:p>
            <a:pPr indent="0" marL="0">
              <a:buNone/>
            </a:pPr>
            <a:r>
              <a:rPr lang="en-US" sz="1100" b="1" dirty="0">
                <a:solidFill>
                  <a:srgbClr val="0F172A"/>
                </a:solidFill>
              </a:rPr>
              <a:t>Medication Management</a:t>
            </a:r>
            <a:endParaRPr lang="en-US" sz="1100" dirty="0"/>
          </a:p>
        </p:txBody>
      </p:sp>
      <p:sp>
        <p:nvSpPr>
          <p:cNvPr id="19" name="Text 16"/>
          <p:cNvSpPr/>
          <p:nvPr/>
        </p:nvSpPr>
        <p:spPr>
          <a:xfrm>
            <a:off x="868680" y="3520440"/>
            <a:ext cx="2926080" cy="548640"/>
          </a:xfrm>
          <a:prstGeom prst="rect">
            <a:avLst/>
          </a:prstGeom>
          <a:noFill/>
          <a:ln/>
        </p:spPr>
        <p:txBody>
          <a:bodyPr wrap="square" rtlCol="0" anchor="ctr"/>
          <a:lstStyle/>
          <a:p>
            <a:pPr indent="0" marL="0">
              <a:buNone/>
            </a:pPr>
            <a:r>
              <a:rPr lang="en-US" sz="900" dirty="0">
                <a:solidFill>
                  <a:srgbClr val="475569"/>
                </a:solidFill>
              </a:rPr>
              <a:t>CRUD operations for drugs, dosages &amp; units</a:t>
            </a:r>
            <a:endParaRPr lang="en-US" sz="900" dirty="0"/>
          </a:p>
        </p:txBody>
      </p:sp>
      <p:sp>
        <p:nvSpPr>
          <p:cNvPr id="20" name="Shape 17"/>
          <p:cNvSpPr/>
          <p:nvPr/>
        </p:nvSpPr>
        <p:spPr>
          <a:xfrm>
            <a:off x="731520" y="4480560"/>
            <a:ext cx="3200400" cy="1143000"/>
          </a:xfrm>
          <a:prstGeom prst="roundRect">
            <a:avLst>
              <a:gd name="adj" fmla="val 6400"/>
            </a:avLst>
          </a:prstGeom>
          <a:solidFill>
            <a:srgbClr val="FFFFFF"/>
          </a:solidFill>
          <a:ln w="12700">
            <a:solidFill>
              <a:srgbClr val="E2E8F0"/>
            </a:solidFill>
            <a:prstDash val="solid"/>
          </a:ln>
        </p:spPr>
      </p:sp>
      <p:sp>
        <p:nvSpPr>
          <p:cNvPr id="21" name="Shape 18"/>
          <p:cNvSpPr/>
          <p:nvPr/>
        </p:nvSpPr>
        <p:spPr>
          <a:xfrm>
            <a:off x="740664" y="4489704"/>
            <a:ext cx="3182112" cy="54864"/>
          </a:xfrm>
          <a:prstGeom prst="rect">
            <a:avLst/>
          </a:prstGeom>
          <a:solidFill>
            <a:srgbClr val="0D9488"/>
          </a:solidFill>
          <a:ln w="12700">
            <a:solidFill>
              <a:srgbClr val="0D9488"/>
            </a:solidFill>
            <a:prstDash val="solid"/>
          </a:ln>
        </p:spPr>
      </p:sp>
      <p:sp>
        <p:nvSpPr>
          <p:cNvPr id="22" name="Text 19"/>
          <p:cNvSpPr/>
          <p:nvPr/>
        </p:nvSpPr>
        <p:spPr>
          <a:xfrm>
            <a:off x="868680" y="4617720"/>
            <a:ext cx="2926080" cy="274320"/>
          </a:xfrm>
          <a:prstGeom prst="rect">
            <a:avLst/>
          </a:prstGeom>
          <a:noFill/>
          <a:ln/>
        </p:spPr>
        <p:txBody>
          <a:bodyPr wrap="square" rtlCol="0" anchor="ctr"/>
          <a:lstStyle/>
          <a:p>
            <a:pPr indent="0" marL="0">
              <a:buNone/>
            </a:pPr>
            <a:r>
              <a:rPr lang="en-US" sz="1100" b="1" dirty="0">
                <a:solidFill>
                  <a:srgbClr val="0F172A"/>
                </a:solidFill>
              </a:rPr>
              <a:t>Schedule Management</a:t>
            </a:r>
            <a:endParaRPr lang="en-US" sz="1100" dirty="0"/>
          </a:p>
        </p:txBody>
      </p:sp>
      <p:sp>
        <p:nvSpPr>
          <p:cNvPr id="23" name="Text 20"/>
          <p:cNvSpPr/>
          <p:nvPr/>
        </p:nvSpPr>
        <p:spPr>
          <a:xfrm>
            <a:off x="868680" y="4892040"/>
            <a:ext cx="2926080" cy="548640"/>
          </a:xfrm>
          <a:prstGeom prst="rect">
            <a:avLst/>
          </a:prstGeom>
          <a:noFill/>
          <a:ln/>
        </p:spPr>
        <p:txBody>
          <a:bodyPr wrap="square" rtlCol="0" anchor="ctr"/>
          <a:lstStyle/>
          <a:p>
            <a:pPr indent="0" marL="0">
              <a:buNone/>
            </a:pPr>
            <a:r>
              <a:rPr lang="en-US" sz="900" dirty="0">
                <a:solidFill>
                  <a:srgbClr val="475569"/>
                </a:solidFill>
              </a:rPr>
              <a:t>Exact dose times, frequency &amp; duration</a:t>
            </a:r>
            <a:endParaRPr lang="en-US" sz="900" dirty="0"/>
          </a:p>
        </p:txBody>
      </p:sp>
      <p:sp>
        <p:nvSpPr>
          <p:cNvPr id="24" name="Shape 21"/>
          <p:cNvSpPr/>
          <p:nvPr/>
        </p:nvSpPr>
        <p:spPr>
          <a:xfrm>
            <a:off x="8257032" y="1737360"/>
            <a:ext cx="3200400" cy="1143000"/>
          </a:xfrm>
          <a:prstGeom prst="roundRect">
            <a:avLst>
              <a:gd name="adj" fmla="val 6400"/>
            </a:avLst>
          </a:prstGeom>
          <a:solidFill>
            <a:srgbClr val="FFFFFF"/>
          </a:solidFill>
          <a:ln w="12700">
            <a:solidFill>
              <a:srgbClr val="E2E8F0"/>
            </a:solidFill>
            <a:prstDash val="solid"/>
          </a:ln>
        </p:spPr>
      </p:sp>
      <p:sp>
        <p:nvSpPr>
          <p:cNvPr id="25" name="Shape 22"/>
          <p:cNvSpPr/>
          <p:nvPr/>
        </p:nvSpPr>
        <p:spPr>
          <a:xfrm>
            <a:off x="8266176" y="1746504"/>
            <a:ext cx="3182112" cy="54864"/>
          </a:xfrm>
          <a:prstGeom prst="rect">
            <a:avLst/>
          </a:prstGeom>
          <a:solidFill>
            <a:srgbClr val="0284C7"/>
          </a:solidFill>
          <a:ln w="12700">
            <a:solidFill>
              <a:srgbClr val="0284C7"/>
            </a:solidFill>
            <a:prstDash val="solid"/>
          </a:ln>
        </p:spPr>
      </p:sp>
      <p:sp>
        <p:nvSpPr>
          <p:cNvPr id="26" name="Text 23"/>
          <p:cNvSpPr/>
          <p:nvPr/>
        </p:nvSpPr>
        <p:spPr>
          <a:xfrm>
            <a:off x="8394192" y="1874520"/>
            <a:ext cx="2926080" cy="274320"/>
          </a:xfrm>
          <a:prstGeom prst="rect">
            <a:avLst/>
          </a:prstGeom>
          <a:noFill/>
          <a:ln/>
        </p:spPr>
        <p:txBody>
          <a:bodyPr wrap="square" rtlCol="0" anchor="ctr"/>
          <a:lstStyle/>
          <a:p>
            <a:pPr indent="0" marL="0">
              <a:buNone/>
            </a:pPr>
            <a:r>
              <a:rPr lang="en-US" sz="1100" b="1" dirty="0">
                <a:solidFill>
                  <a:srgbClr val="0F172A"/>
                </a:solidFill>
              </a:rPr>
              <a:t>Reminder Engine</a:t>
            </a:r>
            <a:endParaRPr lang="en-US" sz="1100" dirty="0"/>
          </a:p>
        </p:txBody>
      </p:sp>
      <p:sp>
        <p:nvSpPr>
          <p:cNvPr id="27" name="Text 24"/>
          <p:cNvSpPr/>
          <p:nvPr/>
        </p:nvSpPr>
        <p:spPr>
          <a:xfrm>
            <a:off x="8394192" y="2148840"/>
            <a:ext cx="2926080" cy="548640"/>
          </a:xfrm>
          <a:prstGeom prst="rect">
            <a:avLst/>
          </a:prstGeom>
          <a:noFill/>
          <a:ln/>
        </p:spPr>
        <p:txBody>
          <a:bodyPr wrap="square" rtlCol="0" anchor="ctr"/>
          <a:lstStyle/>
          <a:p>
            <a:pPr indent="0" marL="0">
              <a:buNone/>
            </a:pPr>
            <a:r>
              <a:rPr lang="en-US" sz="900" dirty="0">
                <a:solidFill>
                  <a:srgbClr val="475569"/>
                </a:solidFill>
              </a:rPr>
              <a:t>Automated alerts triggered at scheduled times</a:t>
            </a:r>
            <a:endParaRPr lang="en-US" sz="900" dirty="0"/>
          </a:p>
        </p:txBody>
      </p:sp>
      <p:sp>
        <p:nvSpPr>
          <p:cNvPr id="28" name="Shape 25"/>
          <p:cNvSpPr/>
          <p:nvPr/>
        </p:nvSpPr>
        <p:spPr>
          <a:xfrm>
            <a:off x="8257032" y="3108960"/>
            <a:ext cx="3200400" cy="1143000"/>
          </a:xfrm>
          <a:prstGeom prst="roundRect">
            <a:avLst>
              <a:gd name="adj" fmla="val 6400"/>
            </a:avLst>
          </a:prstGeom>
          <a:solidFill>
            <a:srgbClr val="FFFFFF"/>
          </a:solidFill>
          <a:ln w="12700">
            <a:solidFill>
              <a:srgbClr val="E2E8F0"/>
            </a:solidFill>
            <a:prstDash val="solid"/>
          </a:ln>
        </p:spPr>
      </p:sp>
      <p:sp>
        <p:nvSpPr>
          <p:cNvPr id="29" name="Shape 26"/>
          <p:cNvSpPr/>
          <p:nvPr/>
        </p:nvSpPr>
        <p:spPr>
          <a:xfrm>
            <a:off x="8266176" y="3118104"/>
            <a:ext cx="3182112" cy="54864"/>
          </a:xfrm>
          <a:prstGeom prst="rect">
            <a:avLst/>
          </a:prstGeom>
          <a:solidFill>
            <a:srgbClr val="0284C7"/>
          </a:solidFill>
          <a:ln w="12700">
            <a:solidFill>
              <a:srgbClr val="0284C7"/>
            </a:solidFill>
            <a:prstDash val="solid"/>
          </a:ln>
        </p:spPr>
      </p:sp>
      <p:sp>
        <p:nvSpPr>
          <p:cNvPr id="30" name="Text 27"/>
          <p:cNvSpPr/>
          <p:nvPr/>
        </p:nvSpPr>
        <p:spPr>
          <a:xfrm>
            <a:off x="8394192" y="3246120"/>
            <a:ext cx="2926080" cy="274320"/>
          </a:xfrm>
          <a:prstGeom prst="rect">
            <a:avLst/>
          </a:prstGeom>
          <a:noFill/>
          <a:ln/>
        </p:spPr>
        <p:txBody>
          <a:bodyPr wrap="square" rtlCol="0" anchor="ctr"/>
          <a:lstStyle/>
          <a:p>
            <a:pPr indent="0" marL="0">
              <a:buNone/>
            </a:pPr>
            <a:r>
              <a:rPr lang="en-US" sz="1100" b="1" dirty="0">
                <a:solidFill>
                  <a:srgbClr val="0F172A"/>
                </a:solidFill>
              </a:rPr>
              <a:t>Adherence Tracking</a:t>
            </a:r>
            <a:endParaRPr lang="en-US" sz="1100" dirty="0"/>
          </a:p>
        </p:txBody>
      </p:sp>
      <p:sp>
        <p:nvSpPr>
          <p:cNvPr id="31" name="Text 28"/>
          <p:cNvSpPr/>
          <p:nvPr/>
        </p:nvSpPr>
        <p:spPr>
          <a:xfrm>
            <a:off x="8394192" y="3520440"/>
            <a:ext cx="2926080" cy="548640"/>
          </a:xfrm>
          <a:prstGeom prst="rect">
            <a:avLst/>
          </a:prstGeom>
          <a:noFill/>
          <a:ln/>
        </p:spPr>
        <p:txBody>
          <a:bodyPr wrap="square" rtlCol="0" anchor="ctr"/>
          <a:lstStyle/>
          <a:p>
            <a:pPr indent="0" marL="0">
              <a:buNone/>
            </a:pPr>
            <a:r>
              <a:rPr lang="en-US" sz="900" dirty="0">
                <a:solidFill>
                  <a:srgbClr val="475569"/>
                </a:solidFill>
              </a:rPr>
              <a:t>Taken/Missed recording &amp; 30-day history log</a:t>
            </a:r>
            <a:endParaRPr lang="en-US" sz="900" dirty="0"/>
          </a:p>
        </p:txBody>
      </p:sp>
      <p:sp>
        <p:nvSpPr>
          <p:cNvPr id="32" name="Shape 29"/>
          <p:cNvSpPr/>
          <p:nvPr/>
        </p:nvSpPr>
        <p:spPr>
          <a:xfrm>
            <a:off x="8257032" y="4480560"/>
            <a:ext cx="3200400" cy="1143000"/>
          </a:xfrm>
          <a:prstGeom prst="roundRect">
            <a:avLst>
              <a:gd name="adj" fmla="val 6400"/>
            </a:avLst>
          </a:prstGeom>
          <a:solidFill>
            <a:srgbClr val="FFFFFF"/>
          </a:solidFill>
          <a:ln w="12700">
            <a:solidFill>
              <a:srgbClr val="E2E8F0"/>
            </a:solidFill>
            <a:prstDash val="solid"/>
          </a:ln>
        </p:spPr>
      </p:sp>
      <p:sp>
        <p:nvSpPr>
          <p:cNvPr id="33" name="Shape 30"/>
          <p:cNvSpPr/>
          <p:nvPr/>
        </p:nvSpPr>
        <p:spPr>
          <a:xfrm>
            <a:off x="8266176" y="4489704"/>
            <a:ext cx="3182112" cy="54864"/>
          </a:xfrm>
          <a:prstGeom prst="rect">
            <a:avLst/>
          </a:prstGeom>
          <a:solidFill>
            <a:srgbClr val="0284C7"/>
          </a:solidFill>
          <a:ln w="12700">
            <a:solidFill>
              <a:srgbClr val="0284C7"/>
            </a:solidFill>
            <a:prstDash val="solid"/>
          </a:ln>
        </p:spPr>
      </p:sp>
      <p:sp>
        <p:nvSpPr>
          <p:cNvPr id="34" name="Text 31"/>
          <p:cNvSpPr/>
          <p:nvPr/>
        </p:nvSpPr>
        <p:spPr>
          <a:xfrm>
            <a:off x="8394192" y="4617720"/>
            <a:ext cx="2926080" cy="274320"/>
          </a:xfrm>
          <a:prstGeom prst="rect">
            <a:avLst/>
          </a:prstGeom>
          <a:noFill/>
          <a:ln/>
        </p:spPr>
        <p:txBody>
          <a:bodyPr wrap="square" rtlCol="0" anchor="ctr"/>
          <a:lstStyle/>
          <a:p>
            <a:pPr indent="0" marL="0">
              <a:buNone/>
            </a:pPr>
            <a:r>
              <a:rPr lang="en-US" sz="1100" b="1" dirty="0">
                <a:solidFill>
                  <a:srgbClr val="0F172A"/>
                </a:solidFill>
              </a:rPr>
              <a:t>Doctor-Contact Access</a:t>
            </a:r>
            <a:endParaRPr lang="en-US" sz="1100" dirty="0"/>
          </a:p>
        </p:txBody>
      </p:sp>
      <p:sp>
        <p:nvSpPr>
          <p:cNvPr id="35" name="Text 32"/>
          <p:cNvSpPr/>
          <p:nvPr/>
        </p:nvSpPr>
        <p:spPr>
          <a:xfrm>
            <a:off x="8394192" y="4892040"/>
            <a:ext cx="2926080" cy="548640"/>
          </a:xfrm>
          <a:prstGeom prst="rect">
            <a:avLst/>
          </a:prstGeom>
          <a:noFill/>
          <a:ln/>
        </p:spPr>
        <p:txBody>
          <a:bodyPr wrap="square" rtlCol="0" anchor="ctr"/>
          <a:lstStyle/>
          <a:p>
            <a:pPr indent="0" marL="0">
              <a:buNone/>
            </a:pPr>
            <a:r>
              <a:rPr lang="en-US" sz="900" dirty="0">
                <a:solidFill>
                  <a:srgbClr val="475569"/>
                </a:solidFill>
              </a:rPr>
              <a:t>Physician profiles, clinic hours &amp; contacts</a:t>
            </a:r>
            <a:endParaRPr lang="en-US" sz="900" dirty="0"/>
          </a:p>
        </p:txBody>
      </p:sp>
      <p:sp>
        <p:nvSpPr>
          <p:cNvPr id="36" name="Shape 33"/>
          <p:cNvSpPr/>
          <p:nvPr/>
        </p:nvSpPr>
        <p:spPr>
          <a:xfrm>
            <a:off x="4261104" y="5349240"/>
            <a:ext cx="3657600" cy="1051560"/>
          </a:xfrm>
          <a:prstGeom prst="roundRect">
            <a:avLst>
              <a:gd name="adj" fmla="val 6957"/>
            </a:avLst>
          </a:prstGeom>
          <a:solidFill>
            <a:srgbClr val="FFFFFF"/>
          </a:solidFill>
          <a:ln w="12700">
            <a:solidFill>
              <a:srgbClr val="E2E8F0"/>
            </a:solidFill>
            <a:prstDash val="solid"/>
          </a:ln>
        </p:spPr>
      </p:sp>
      <p:sp>
        <p:nvSpPr>
          <p:cNvPr id="37" name="Shape 34"/>
          <p:cNvSpPr/>
          <p:nvPr/>
        </p:nvSpPr>
        <p:spPr>
          <a:xfrm>
            <a:off x="4270248" y="5358384"/>
            <a:ext cx="3639312" cy="54864"/>
          </a:xfrm>
          <a:prstGeom prst="rect">
            <a:avLst/>
          </a:prstGeom>
          <a:solidFill>
            <a:srgbClr val="16A34A"/>
          </a:solidFill>
          <a:ln w="12700">
            <a:solidFill>
              <a:srgbClr val="16A34A"/>
            </a:solidFill>
            <a:prstDash val="solid"/>
          </a:ln>
        </p:spPr>
      </p:sp>
      <p:sp>
        <p:nvSpPr>
          <p:cNvPr id="38" name="Text 35"/>
          <p:cNvSpPr/>
          <p:nvPr/>
        </p:nvSpPr>
        <p:spPr>
          <a:xfrm>
            <a:off x="4443984" y="5486400"/>
            <a:ext cx="3291840" cy="731520"/>
          </a:xfrm>
          <a:prstGeom prst="rect">
            <a:avLst/>
          </a:prstGeom>
          <a:noFill/>
          <a:ln/>
        </p:spPr>
        <p:txBody>
          <a:bodyPr wrap="square" rtlCol="0" anchor="ctr"/>
          <a:lstStyle/>
          <a:p>
            <a:pPr algn="ctr" indent="0" marL="0">
              <a:buNone/>
            </a:pPr>
            <a:r>
              <a:rPr lang="en-US" sz="1000" b="1" dirty="0">
                <a:solidFill>
                  <a:srgbClr val="0F172A"/>
                </a:solidFill>
              </a:rPr>
              <a:t>Overview Dashboard: Daily routines, adherence stats &amp; vitals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731520" y="365760"/>
            <a:ext cx="2286000" cy="274320"/>
          </a:xfrm>
          <a:prstGeom prst="roundRect">
            <a:avLst>
              <a:gd name="adj" fmla="val 50000"/>
            </a:avLst>
          </a:prstGeom>
          <a:solidFill>
            <a:srgbClr val="F0FDFA"/>
          </a:solidFill>
          <a:ln w="12700">
            <a:solidFill>
              <a:srgbClr val="0D9488"/>
            </a:solidFill>
            <a:prstDash val="solid"/>
          </a:ln>
        </p:spPr>
      </p:sp>
      <p:sp>
        <p:nvSpPr>
          <p:cNvPr id="4" name="Text 1"/>
          <p:cNvSpPr/>
          <p:nvPr/>
        </p:nvSpPr>
        <p:spPr>
          <a:xfrm>
            <a:off x="731520" y="365760"/>
            <a:ext cx="2286000" cy="274320"/>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DEVELOPMENT METHODOLOGY</a:t>
            </a:r>
            <a:endParaRPr lang="en-US" sz="900" dirty="0"/>
          </a:p>
        </p:txBody>
      </p:sp>
      <p:sp>
        <p:nvSpPr>
          <p:cNvPr id="5" name="Text 2"/>
          <p:cNvSpPr/>
          <p:nvPr/>
        </p:nvSpPr>
        <p:spPr>
          <a:xfrm>
            <a:off x="7772400" y="365760"/>
            <a:ext cx="36576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DoseTrack · BCA S5 · KMCT IETM (KTU)</a:t>
            </a:r>
            <a:endParaRPr lang="en-US" sz="900" dirty="0"/>
          </a:p>
        </p:txBody>
      </p:sp>
      <p:sp>
        <p:nvSpPr>
          <p:cNvPr id="6" name="Text 3"/>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Project Methodology</a:t>
            </a:r>
            <a:endParaRPr lang="en-US" sz="2200" dirty="0"/>
          </a:p>
        </p:txBody>
      </p:sp>
      <p:sp>
        <p:nvSpPr>
          <p:cNvPr id="7" name="Text 4"/>
          <p:cNvSpPr/>
          <p:nvPr/>
        </p:nvSpPr>
        <p:spPr>
          <a:xfrm>
            <a:off x="731520" y="1188720"/>
            <a:ext cx="10515600" cy="32004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Structured eight-phase engineering lifecycle followed during DoseTrack development.</a:t>
            </a:r>
            <a:endParaRPr lang="en-US" sz="1100" dirty="0"/>
          </a:p>
        </p:txBody>
      </p:sp>
      <p:sp>
        <p:nvSpPr>
          <p:cNvPr id="8" name="Shape 5"/>
          <p:cNvSpPr/>
          <p:nvPr/>
        </p:nvSpPr>
        <p:spPr>
          <a:xfrm>
            <a:off x="731520" y="1645920"/>
            <a:ext cx="2542032" cy="2011680"/>
          </a:xfrm>
          <a:prstGeom prst="roundRect">
            <a:avLst>
              <a:gd name="adj" fmla="val 3636"/>
            </a:avLst>
          </a:prstGeom>
          <a:solidFill>
            <a:srgbClr val="FFFFFF"/>
          </a:solidFill>
          <a:ln w="12700">
            <a:solidFill>
              <a:srgbClr val="E2E8F0"/>
            </a:solidFill>
            <a:prstDash val="solid"/>
          </a:ln>
        </p:spPr>
      </p:sp>
      <p:sp>
        <p:nvSpPr>
          <p:cNvPr id="9" name="Shape 6"/>
          <p:cNvSpPr/>
          <p:nvPr/>
        </p:nvSpPr>
        <p:spPr>
          <a:xfrm>
            <a:off x="740664" y="1655064"/>
            <a:ext cx="2523744" cy="54864"/>
          </a:xfrm>
          <a:prstGeom prst="rect">
            <a:avLst/>
          </a:prstGeom>
          <a:solidFill>
            <a:srgbClr val="0D9488"/>
          </a:solidFill>
          <a:ln w="12700">
            <a:solidFill>
              <a:srgbClr val="0D9488"/>
            </a:solidFill>
            <a:prstDash val="solid"/>
          </a:ln>
        </p:spPr>
      </p:sp>
      <p:sp>
        <p:nvSpPr>
          <p:cNvPr id="10" name="Text 7"/>
          <p:cNvSpPr/>
          <p:nvPr/>
        </p:nvSpPr>
        <p:spPr>
          <a:xfrm>
            <a:off x="868680" y="1783080"/>
            <a:ext cx="731520" cy="228600"/>
          </a:xfrm>
          <a:prstGeom prst="rect">
            <a:avLst/>
          </a:prstGeom>
          <a:noFill/>
          <a:ln/>
        </p:spPr>
        <p:txBody>
          <a:bodyPr wrap="square" rtlCol="0" anchor="ctr"/>
          <a:lstStyle/>
          <a:p>
            <a:pPr indent="0" marL="0">
              <a:buNone/>
            </a:pPr>
            <a:r>
              <a:rPr lang="en-US" sz="900" b="1" dirty="0">
                <a:solidFill>
                  <a:srgbClr val="0D9488"/>
                </a:solidFill>
              </a:rPr>
              <a:t>01</a:t>
            </a:r>
            <a:endParaRPr lang="en-US" sz="900" dirty="0"/>
          </a:p>
        </p:txBody>
      </p:sp>
      <p:sp>
        <p:nvSpPr>
          <p:cNvPr id="11" name="Text 8"/>
          <p:cNvSpPr/>
          <p:nvPr/>
        </p:nvSpPr>
        <p:spPr>
          <a:xfrm>
            <a:off x="868680" y="2057400"/>
            <a:ext cx="2267712" cy="365760"/>
          </a:xfrm>
          <a:prstGeom prst="rect">
            <a:avLst/>
          </a:prstGeom>
          <a:noFill/>
          <a:ln/>
        </p:spPr>
        <p:txBody>
          <a:bodyPr wrap="square" rtlCol="0" anchor="ctr"/>
          <a:lstStyle/>
          <a:p>
            <a:pPr indent="0" marL="0">
              <a:buNone/>
            </a:pPr>
            <a:r>
              <a:rPr lang="en-US" sz="1100" b="1" dirty="0">
                <a:solidFill>
                  <a:srgbClr val="0F172A"/>
                </a:solidFill>
              </a:rPr>
              <a:t>Requirement Analysis</a:t>
            </a:r>
            <a:endParaRPr lang="en-US" sz="1100" dirty="0"/>
          </a:p>
        </p:txBody>
      </p:sp>
      <p:sp>
        <p:nvSpPr>
          <p:cNvPr id="12" name="Text 9"/>
          <p:cNvSpPr/>
          <p:nvPr/>
        </p:nvSpPr>
        <p:spPr>
          <a:xfrm>
            <a:off x="868680" y="2468880"/>
            <a:ext cx="2267712" cy="1005840"/>
          </a:xfrm>
          <a:prstGeom prst="rect">
            <a:avLst/>
          </a:prstGeom>
          <a:noFill/>
          <a:ln/>
        </p:spPr>
        <p:txBody>
          <a:bodyPr wrap="square" rtlCol="0" anchor="ctr"/>
          <a:lstStyle/>
          <a:p>
            <a:pPr indent="0" marL="0">
              <a:lnSpc>
                <a:spcPct val="120000"/>
              </a:lnSpc>
              <a:buNone/>
            </a:pPr>
            <a:r>
              <a:rPr lang="en-US" sz="950" dirty="0">
                <a:solidFill>
                  <a:srgbClr val="475569"/>
                </a:solidFill>
              </a:rPr>
              <a:t>Identified challenges in manual medicine tracking and clinical adherence needs.</a:t>
            </a:r>
            <a:endParaRPr lang="en-US" sz="950" dirty="0"/>
          </a:p>
        </p:txBody>
      </p:sp>
      <p:sp>
        <p:nvSpPr>
          <p:cNvPr id="13" name="Shape 10"/>
          <p:cNvSpPr/>
          <p:nvPr/>
        </p:nvSpPr>
        <p:spPr>
          <a:xfrm>
            <a:off x="3456432" y="1645920"/>
            <a:ext cx="2542032" cy="2011680"/>
          </a:xfrm>
          <a:prstGeom prst="roundRect">
            <a:avLst>
              <a:gd name="adj" fmla="val 3636"/>
            </a:avLst>
          </a:prstGeom>
          <a:solidFill>
            <a:srgbClr val="FFFFFF"/>
          </a:solidFill>
          <a:ln w="12700">
            <a:solidFill>
              <a:srgbClr val="E2E8F0"/>
            </a:solidFill>
            <a:prstDash val="solid"/>
          </a:ln>
        </p:spPr>
      </p:sp>
      <p:sp>
        <p:nvSpPr>
          <p:cNvPr id="14" name="Shape 11"/>
          <p:cNvSpPr/>
          <p:nvPr/>
        </p:nvSpPr>
        <p:spPr>
          <a:xfrm>
            <a:off x="3465576" y="1655064"/>
            <a:ext cx="2523744" cy="54864"/>
          </a:xfrm>
          <a:prstGeom prst="rect">
            <a:avLst/>
          </a:prstGeom>
          <a:solidFill>
            <a:srgbClr val="0D9488"/>
          </a:solidFill>
          <a:ln w="12700">
            <a:solidFill>
              <a:srgbClr val="0D9488"/>
            </a:solidFill>
            <a:prstDash val="solid"/>
          </a:ln>
        </p:spPr>
      </p:sp>
      <p:sp>
        <p:nvSpPr>
          <p:cNvPr id="15" name="Text 12"/>
          <p:cNvSpPr/>
          <p:nvPr/>
        </p:nvSpPr>
        <p:spPr>
          <a:xfrm>
            <a:off x="3593592" y="1783080"/>
            <a:ext cx="731520" cy="228600"/>
          </a:xfrm>
          <a:prstGeom prst="rect">
            <a:avLst/>
          </a:prstGeom>
          <a:noFill/>
          <a:ln/>
        </p:spPr>
        <p:txBody>
          <a:bodyPr wrap="square" rtlCol="0" anchor="ctr"/>
          <a:lstStyle/>
          <a:p>
            <a:pPr indent="0" marL="0">
              <a:buNone/>
            </a:pPr>
            <a:r>
              <a:rPr lang="en-US" sz="900" b="1" dirty="0">
                <a:solidFill>
                  <a:srgbClr val="0D9488"/>
                </a:solidFill>
              </a:rPr>
              <a:t>02</a:t>
            </a:r>
            <a:endParaRPr lang="en-US" sz="900" dirty="0"/>
          </a:p>
        </p:txBody>
      </p:sp>
      <p:sp>
        <p:nvSpPr>
          <p:cNvPr id="16" name="Text 13"/>
          <p:cNvSpPr/>
          <p:nvPr/>
        </p:nvSpPr>
        <p:spPr>
          <a:xfrm>
            <a:off x="3593592" y="2057400"/>
            <a:ext cx="2267712" cy="365760"/>
          </a:xfrm>
          <a:prstGeom prst="rect">
            <a:avLst/>
          </a:prstGeom>
          <a:noFill/>
          <a:ln/>
        </p:spPr>
        <p:txBody>
          <a:bodyPr wrap="square" rtlCol="0" anchor="ctr"/>
          <a:lstStyle/>
          <a:p>
            <a:pPr indent="0" marL="0">
              <a:buNone/>
            </a:pPr>
            <a:r>
              <a:rPr lang="en-US" sz="1100" b="1" dirty="0">
                <a:solidFill>
                  <a:srgbClr val="0F172A"/>
                </a:solidFill>
              </a:rPr>
              <a:t>System Design</a:t>
            </a:r>
            <a:endParaRPr lang="en-US" sz="1100" dirty="0"/>
          </a:p>
        </p:txBody>
      </p:sp>
      <p:sp>
        <p:nvSpPr>
          <p:cNvPr id="17" name="Text 14"/>
          <p:cNvSpPr/>
          <p:nvPr/>
        </p:nvSpPr>
        <p:spPr>
          <a:xfrm>
            <a:off x="3593592" y="2468880"/>
            <a:ext cx="2267712" cy="1005840"/>
          </a:xfrm>
          <a:prstGeom prst="rect">
            <a:avLst/>
          </a:prstGeom>
          <a:noFill/>
          <a:ln/>
        </p:spPr>
        <p:txBody>
          <a:bodyPr wrap="square" rtlCol="0" anchor="ctr"/>
          <a:lstStyle/>
          <a:p>
            <a:pPr indent="0" marL="0">
              <a:lnSpc>
                <a:spcPct val="120000"/>
              </a:lnSpc>
              <a:buNone/>
            </a:pPr>
            <a:r>
              <a:rPr lang="en-US" sz="950" dirty="0">
                <a:solidFill>
                  <a:srgbClr val="475569"/>
                </a:solidFill>
              </a:rPr>
              <a:t>Defined the 3-layer architecture, module responsibilities, and interaction contracts.</a:t>
            </a:r>
            <a:endParaRPr lang="en-US" sz="950" dirty="0"/>
          </a:p>
        </p:txBody>
      </p:sp>
      <p:sp>
        <p:nvSpPr>
          <p:cNvPr id="18" name="Shape 15"/>
          <p:cNvSpPr/>
          <p:nvPr/>
        </p:nvSpPr>
        <p:spPr>
          <a:xfrm>
            <a:off x="6181344" y="1645920"/>
            <a:ext cx="2542032" cy="2011680"/>
          </a:xfrm>
          <a:prstGeom prst="roundRect">
            <a:avLst>
              <a:gd name="adj" fmla="val 3636"/>
            </a:avLst>
          </a:prstGeom>
          <a:solidFill>
            <a:srgbClr val="FFFFFF"/>
          </a:solidFill>
          <a:ln w="12700">
            <a:solidFill>
              <a:srgbClr val="E2E8F0"/>
            </a:solidFill>
            <a:prstDash val="solid"/>
          </a:ln>
        </p:spPr>
      </p:sp>
      <p:sp>
        <p:nvSpPr>
          <p:cNvPr id="19" name="Shape 16"/>
          <p:cNvSpPr/>
          <p:nvPr/>
        </p:nvSpPr>
        <p:spPr>
          <a:xfrm>
            <a:off x="6190488" y="1655064"/>
            <a:ext cx="2523744" cy="54864"/>
          </a:xfrm>
          <a:prstGeom prst="rect">
            <a:avLst/>
          </a:prstGeom>
          <a:solidFill>
            <a:srgbClr val="0D9488"/>
          </a:solidFill>
          <a:ln w="12700">
            <a:solidFill>
              <a:srgbClr val="0D9488"/>
            </a:solidFill>
            <a:prstDash val="solid"/>
          </a:ln>
        </p:spPr>
      </p:sp>
      <p:sp>
        <p:nvSpPr>
          <p:cNvPr id="20" name="Text 17"/>
          <p:cNvSpPr/>
          <p:nvPr/>
        </p:nvSpPr>
        <p:spPr>
          <a:xfrm>
            <a:off x="6318504" y="1783080"/>
            <a:ext cx="731520" cy="228600"/>
          </a:xfrm>
          <a:prstGeom prst="rect">
            <a:avLst/>
          </a:prstGeom>
          <a:noFill/>
          <a:ln/>
        </p:spPr>
        <p:txBody>
          <a:bodyPr wrap="square" rtlCol="0" anchor="ctr"/>
          <a:lstStyle/>
          <a:p>
            <a:pPr indent="0" marL="0">
              <a:buNone/>
            </a:pPr>
            <a:r>
              <a:rPr lang="en-US" sz="900" b="1" dirty="0">
                <a:solidFill>
                  <a:srgbClr val="0D9488"/>
                </a:solidFill>
              </a:rPr>
              <a:t>03</a:t>
            </a:r>
            <a:endParaRPr lang="en-US" sz="900" dirty="0"/>
          </a:p>
        </p:txBody>
      </p:sp>
      <p:sp>
        <p:nvSpPr>
          <p:cNvPr id="21" name="Text 18"/>
          <p:cNvSpPr/>
          <p:nvPr/>
        </p:nvSpPr>
        <p:spPr>
          <a:xfrm>
            <a:off x="6318504" y="2057400"/>
            <a:ext cx="2267712" cy="365760"/>
          </a:xfrm>
          <a:prstGeom prst="rect">
            <a:avLst/>
          </a:prstGeom>
          <a:noFill/>
          <a:ln/>
        </p:spPr>
        <p:txBody>
          <a:bodyPr wrap="square" rtlCol="0" anchor="ctr"/>
          <a:lstStyle/>
          <a:p>
            <a:pPr indent="0" marL="0">
              <a:buNone/>
            </a:pPr>
            <a:r>
              <a:rPr lang="en-US" sz="1100" b="1" dirty="0">
                <a:solidFill>
                  <a:srgbClr val="0F172A"/>
                </a:solidFill>
              </a:rPr>
              <a:t>Database Design</a:t>
            </a:r>
            <a:endParaRPr lang="en-US" sz="1100" dirty="0"/>
          </a:p>
        </p:txBody>
      </p:sp>
      <p:sp>
        <p:nvSpPr>
          <p:cNvPr id="22" name="Text 19"/>
          <p:cNvSpPr/>
          <p:nvPr/>
        </p:nvSpPr>
        <p:spPr>
          <a:xfrm>
            <a:off x="6318504" y="2468880"/>
            <a:ext cx="2267712" cy="1005840"/>
          </a:xfrm>
          <a:prstGeom prst="rect">
            <a:avLst/>
          </a:prstGeom>
          <a:noFill/>
          <a:ln/>
        </p:spPr>
        <p:txBody>
          <a:bodyPr wrap="square" rtlCol="0" anchor="ctr"/>
          <a:lstStyle/>
          <a:p>
            <a:pPr indent="0" marL="0">
              <a:lnSpc>
                <a:spcPct val="120000"/>
              </a:lnSpc>
              <a:buNone/>
            </a:pPr>
            <a:r>
              <a:rPr lang="en-US" sz="950" dirty="0">
                <a:solidFill>
                  <a:srgbClr val="475569"/>
                </a:solidFill>
              </a:rPr>
              <a:t>Created relational schema with users, medications, schedules, and dose events.</a:t>
            </a:r>
            <a:endParaRPr lang="en-US" sz="950" dirty="0"/>
          </a:p>
        </p:txBody>
      </p:sp>
      <p:sp>
        <p:nvSpPr>
          <p:cNvPr id="23" name="Shape 20"/>
          <p:cNvSpPr/>
          <p:nvPr/>
        </p:nvSpPr>
        <p:spPr>
          <a:xfrm>
            <a:off x="8906256" y="1645920"/>
            <a:ext cx="2542032" cy="2011680"/>
          </a:xfrm>
          <a:prstGeom prst="roundRect">
            <a:avLst>
              <a:gd name="adj" fmla="val 3636"/>
            </a:avLst>
          </a:prstGeom>
          <a:solidFill>
            <a:srgbClr val="FFFFFF"/>
          </a:solidFill>
          <a:ln w="12700">
            <a:solidFill>
              <a:srgbClr val="E2E8F0"/>
            </a:solidFill>
            <a:prstDash val="solid"/>
          </a:ln>
        </p:spPr>
      </p:sp>
      <p:sp>
        <p:nvSpPr>
          <p:cNvPr id="24" name="Shape 21"/>
          <p:cNvSpPr/>
          <p:nvPr/>
        </p:nvSpPr>
        <p:spPr>
          <a:xfrm>
            <a:off x="8915400" y="1655064"/>
            <a:ext cx="2523744" cy="54864"/>
          </a:xfrm>
          <a:prstGeom prst="rect">
            <a:avLst/>
          </a:prstGeom>
          <a:solidFill>
            <a:srgbClr val="0D9488"/>
          </a:solidFill>
          <a:ln w="12700">
            <a:solidFill>
              <a:srgbClr val="0D9488"/>
            </a:solidFill>
            <a:prstDash val="solid"/>
          </a:ln>
        </p:spPr>
      </p:sp>
      <p:sp>
        <p:nvSpPr>
          <p:cNvPr id="25" name="Text 22"/>
          <p:cNvSpPr/>
          <p:nvPr/>
        </p:nvSpPr>
        <p:spPr>
          <a:xfrm>
            <a:off x="9043416" y="1783080"/>
            <a:ext cx="731520" cy="228600"/>
          </a:xfrm>
          <a:prstGeom prst="rect">
            <a:avLst/>
          </a:prstGeom>
          <a:noFill/>
          <a:ln/>
        </p:spPr>
        <p:txBody>
          <a:bodyPr wrap="square" rtlCol="0" anchor="ctr"/>
          <a:lstStyle/>
          <a:p>
            <a:pPr indent="0" marL="0">
              <a:buNone/>
            </a:pPr>
            <a:r>
              <a:rPr lang="en-US" sz="900" b="1" dirty="0">
                <a:solidFill>
                  <a:srgbClr val="0D9488"/>
                </a:solidFill>
              </a:rPr>
              <a:t>04</a:t>
            </a:r>
            <a:endParaRPr lang="en-US" sz="900" dirty="0"/>
          </a:p>
        </p:txBody>
      </p:sp>
      <p:sp>
        <p:nvSpPr>
          <p:cNvPr id="26" name="Text 23"/>
          <p:cNvSpPr/>
          <p:nvPr/>
        </p:nvSpPr>
        <p:spPr>
          <a:xfrm>
            <a:off x="9043416" y="2057400"/>
            <a:ext cx="2267712" cy="365760"/>
          </a:xfrm>
          <a:prstGeom prst="rect">
            <a:avLst/>
          </a:prstGeom>
          <a:noFill/>
          <a:ln/>
        </p:spPr>
        <p:txBody>
          <a:bodyPr wrap="square" rtlCol="0" anchor="ctr"/>
          <a:lstStyle/>
          <a:p>
            <a:pPr indent="0" marL="0">
              <a:buNone/>
            </a:pPr>
            <a:r>
              <a:rPr lang="en-US" sz="1100" b="1" dirty="0">
                <a:solidFill>
                  <a:srgbClr val="0F172A"/>
                </a:solidFill>
              </a:rPr>
              <a:t>Frontend Development</a:t>
            </a:r>
            <a:endParaRPr lang="en-US" sz="1100" dirty="0"/>
          </a:p>
        </p:txBody>
      </p:sp>
      <p:sp>
        <p:nvSpPr>
          <p:cNvPr id="27" name="Text 24"/>
          <p:cNvSpPr/>
          <p:nvPr/>
        </p:nvSpPr>
        <p:spPr>
          <a:xfrm>
            <a:off x="9043416" y="2468880"/>
            <a:ext cx="2267712" cy="1005840"/>
          </a:xfrm>
          <a:prstGeom prst="rect">
            <a:avLst/>
          </a:prstGeom>
          <a:noFill/>
          <a:ln/>
        </p:spPr>
        <p:txBody>
          <a:bodyPr wrap="square" rtlCol="0" anchor="ctr"/>
          <a:lstStyle/>
          <a:p>
            <a:pPr indent="0" marL="0">
              <a:lnSpc>
                <a:spcPct val="120000"/>
              </a:lnSpc>
              <a:buNone/>
            </a:pPr>
            <a:r>
              <a:rPr lang="en-US" sz="950" dirty="0">
                <a:solidFill>
                  <a:srgbClr val="475569"/>
                </a:solidFill>
              </a:rPr>
              <a:t>Crafted responsive, accessible UI using semantic HTML5, CSS3, and JavaScript.</a:t>
            </a:r>
            <a:endParaRPr lang="en-US" sz="950" dirty="0"/>
          </a:p>
        </p:txBody>
      </p:sp>
      <p:sp>
        <p:nvSpPr>
          <p:cNvPr id="28" name="Shape 25"/>
          <p:cNvSpPr/>
          <p:nvPr/>
        </p:nvSpPr>
        <p:spPr>
          <a:xfrm>
            <a:off x="731520" y="3931920"/>
            <a:ext cx="2542032" cy="2011680"/>
          </a:xfrm>
          <a:prstGeom prst="roundRect">
            <a:avLst>
              <a:gd name="adj" fmla="val 3636"/>
            </a:avLst>
          </a:prstGeom>
          <a:solidFill>
            <a:srgbClr val="FFFFFF"/>
          </a:solidFill>
          <a:ln w="12700">
            <a:solidFill>
              <a:srgbClr val="E2E8F0"/>
            </a:solidFill>
            <a:prstDash val="solid"/>
          </a:ln>
        </p:spPr>
      </p:sp>
      <p:sp>
        <p:nvSpPr>
          <p:cNvPr id="29" name="Shape 26"/>
          <p:cNvSpPr/>
          <p:nvPr/>
        </p:nvSpPr>
        <p:spPr>
          <a:xfrm>
            <a:off x="740664" y="3941064"/>
            <a:ext cx="2523744" cy="54864"/>
          </a:xfrm>
          <a:prstGeom prst="rect">
            <a:avLst/>
          </a:prstGeom>
          <a:solidFill>
            <a:srgbClr val="0D9488"/>
          </a:solidFill>
          <a:ln w="12700">
            <a:solidFill>
              <a:srgbClr val="0D9488"/>
            </a:solidFill>
            <a:prstDash val="solid"/>
          </a:ln>
        </p:spPr>
      </p:sp>
      <p:sp>
        <p:nvSpPr>
          <p:cNvPr id="30" name="Text 27"/>
          <p:cNvSpPr/>
          <p:nvPr/>
        </p:nvSpPr>
        <p:spPr>
          <a:xfrm>
            <a:off x="868680" y="4069080"/>
            <a:ext cx="731520" cy="228600"/>
          </a:xfrm>
          <a:prstGeom prst="rect">
            <a:avLst/>
          </a:prstGeom>
          <a:noFill/>
          <a:ln/>
        </p:spPr>
        <p:txBody>
          <a:bodyPr wrap="square" rtlCol="0" anchor="ctr"/>
          <a:lstStyle/>
          <a:p>
            <a:pPr indent="0" marL="0">
              <a:buNone/>
            </a:pPr>
            <a:r>
              <a:rPr lang="en-US" sz="900" b="1" dirty="0">
                <a:solidFill>
                  <a:srgbClr val="0D9488"/>
                </a:solidFill>
              </a:rPr>
              <a:t>05</a:t>
            </a:r>
            <a:endParaRPr lang="en-US" sz="900" dirty="0"/>
          </a:p>
        </p:txBody>
      </p:sp>
      <p:sp>
        <p:nvSpPr>
          <p:cNvPr id="31" name="Text 28"/>
          <p:cNvSpPr/>
          <p:nvPr/>
        </p:nvSpPr>
        <p:spPr>
          <a:xfrm>
            <a:off x="868680" y="4343400"/>
            <a:ext cx="2267712" cy="365760"/>
          </a:xfrm>
          <a:prstGeom prst="rect">
            <a:avLst/>
          </a:prstGeom>
          <a:noFill/>
          <a:ln/>
        </p:spPr>
        <p:txBody>
          <a:bodyPr wrap="square" rtlCol="0" anchor="ctr"/>
          <a:lstStyle/>
          <a:p>
            <a:pPr indent="0" marL="0">
              <a:buNone/>
            </a:pPr>
            <a:r>
              <a:rPr lang="en-US" sz="1100" b="1" dirty="0">
                <a:solidFill>
                  <a:srgbClr val="0F172A"/>
                </a:solidFill>
              </a:rPr>
              <a:t>Application Logic</a:t>
            </a:r>
            <a:endParaRPr lang="en-US" sz="1100" dirty="0"/>
          </a:p>
        </p:txBody>
      </p:sp>
      <p:sp>
        <p:nvSpPr>
          <p:cNvPr id="32" name="Text 29"/>
          <p:cNvSpPr/>
          <p:nvPr/>
        </p:nvSpPr>
        <p:spPr>
          <a:xfrm>
            <a:off x="868680" y="4754880"/>
            <a:ext cx="2267712" cy="1005840"/>
          </a:xfrm>
          <a:prstGeom prst="rect">
            <a:avLst/>
          </a:prstGeom>
          <a:noFill/>
          <a:ln/>
        </p:spPr>
        <p:txBody>
          <a:bodyPr wrap="square" rtlCol="0" anchor="ctr"/>
          <a:lstStyle/>
          <a:p>
            <a:pPr indent="0" marL="0">
              <a:lnSpc>
                <a:spcPct val="120000"/>
              </a:lnSpc>
              <a:buNone/>
            </a:pPr>
            <a:r>
              <a:rPr lang="en-US" sz="950" dirty="0">
                <a:solidFill>
                  <a:srgbClr val="475569"/>
                </a:solidFill>
              </a:rPr>
              <a:t>Programmed backend routing, authentication validation, and medication CRUD logic.</a:t>
            </a:r>
            <a:endParaRPr lang="en-US" sz="950" dirty="0"/>
          </a:p>
        </p:txBody>
      </p:sp>
      <p:sp>
        <p:nvSpPr>
          <p:cNvPr id="33" name="Shape 30"/>
          <p:cNvSpPr/>
          <p:nvPr/>
        </p:nvSpPr>
        <p:spPr>
          <a:xfrm>
            <a:off x="3456432" y="3931920"/>
            <a:ext cx="2542032" cy="2011680"/>
          </a:xfrm>
          <a:prstGeom prst="roundRect">
            <a:avLst>
              <a:gd name="adj" fmla="val 3636"/>
            </a:avLst>
          </a:prstGeom>
          <a:solidFill>
            <a:srgbClr val="FFFFFF"/>
          </a:solidFill>
          <a:ln w="12700">
            <a:solidFill>
              <a:srgbClr val="E2E8F0"/>
            </a:solidFill>
            <a:prstDash val="solid"/>
          </a:ln>
        </p:spPr>
      </p:sp>
      <p:sp>
        <p:nvSpPr>
          <p:cNvPr id="34" name="Shape 31"/>
          <p:cNvSpPr/>
          <p:nvPr/>
        </p:nvSpPr>
        <p:spPr>
          <a:xfrm>
            <a:off x="3465576" y="3941064"/>
            <a:ext cx="2523744" cy="54864"/>
          </a:xfrm>
          <a:prstGeom prst="rect">
            <a:avLst/>
          </a:prstGeom>
          <a:solidFill>
            <a:srgbClr val="0D9488"/>
          </a:solidFill>
          <a:ln w="12700">
            <a:solidFill>
              <a:srgbClr val="0D9488"/>
            </a:solidFill>
            <a:prstDash val="solid"/>
          </a:ln>
        </p:spPr>
      </p:sp>
      <p:sp>
        <p:nvSpPr>
          <p:cNvPr id="35" name="Text 32"/>
          <p:cNvSpPr/>
          <p:nvPr/>
        </p:nvSpPr>
        <p:spPr>
          <a:xfrm>
            <a:off x="3593592" y="4069080"/>
            <a:ext cx="731520" cy="228600"/>
          </a:xfrm>
          <a:prstGeom prst="rect">
            <a:avLst/>
          </a:prstGeom>
          <a:noFill/>
          <a:ln/>
        </p:spPr>
        <p:txBody>
          <a:bodyPr wrap="square" rtlCol="0" anchor="ctr"/>
          <a:lstStyle/>
          <a:p>
            <a:pPr indent="0" marL="0">
              <a:buNone/>
            </a:pPr>
            <a:r>
              <a:rPr lang="en-US" sz="900" b="1" dirty="0">
                <a:solidFill>
                  <a:srgbClr val="0D9488"/>
                </a:solidFill>
              </a:rPr>
              <a:t>06</a:t>
            </a:r>
            <a:endParaRPr lang="en-US" sz="900" dirty="0"/>
          </a:p>
        </p:txBody>
      </p:sp>
      <p:sp>
        <p:nvSpPr>
          <p:cNvPr id="36" name="Text 33"/>
          <p:cNvSpPr/>
          <p:nvPr/>
        </p:nvSpPr>
        <p:spPr>
          <a:xfrm>
            <a:off x="3593592" y="4343400"/>
            <a:ext cx="2267712" cy="365760"/>
          </a:xfrm>
          <a:prstGeom prst="rect">
            <a:avLst/>
          </a:prstGeom>
          <a:noFill/>
          <a:ln/>
        </p:spPr>
        <p:txBody>
          <a:bodyPr wrap="square" rtlCol="0" anchor="ctr"/>
          <a:lstStyle/>
          <a:p>
            <a:pPr indent="0" marL="0">
              <a:buNone/>
            </a:pPr>
            <a:r>
              <a:rPr lang="en-US" sz="1100" b="1" dirty="0">
                <a:solidFill>
                  <a:srgbClr val="0F172A"/>
                </a:solidFill>
              </a:rPr>
              <a:t>Reminders &amp; Tracking</a:t>
            </a:r>
            <a:endParaRPr lang="en-US" sz="1100" dirty="0"/>
          </a:p>
        </p:txBody>
      </p:sp>
      <p:sp>
        <p:nvSpPr>
          <p:cNvPr id="37" name="Text 34"/>
          <p:cNvSpPr/>
          <p:nvPr/>
        </p:nvSpPr>
        <p:spPr>
          <a:xfrm>
            <a:off x="3593592" y="4754880"/>
            <a:ext cx="2267712" cy="1005840"/>
          </a:xfrm>
          <a:prstGeom prst="rect">
            <a:avLst/>
          </a:prstGeom>
          <a:noFill/>
          <a:ln/>
        </p:spPr>
        <p:txBody>
          <a:bodyPr wrap="square" rtlCol="0" anchor="ctr"/>
          <a:lstStyle/>
          <a:p>
            <a:pPr indent="0" marL="0">
              <a:lnSpc>
                <a:spcPct val="120000"/>
              </a:lnSpc>
              <a:buNone/>
            </a:pPr>
            <a:r>
              <a:rPr lang="en-US" sz="950" dirty="0">
                <a:solidFill>
                  <a:srgbClr val="475569"/>
                </a:solidFill>
              </a:rPr>
              <a:t>Engineered schedule time-matching, notification dispatch, and dose logging.</a:t>
            </a:r>
            <a:endParaRPr lang="en-US" sz="950" dirty="0"/>
          </a:p>
        </p:txBody>
      </p:sp>
      <p:sp>
        <p:nvSpPr>
          <p:cNvPr id="38" name="Shape 35"/>
          <p:cNvSpPr/>
          <p:nvPr/>
        </p:nvSpPr>
        <p:spPr>
          <a:xfrm>
            <a:off x="6181344" y="3931920"/>
            <a:ext cx="2542032" cy="2011680"/>
          </a:xfrm>
          <a:prstGeom prst="roundRect">
            <a:avLst>
              <a:gd name="adj" fmla="val 3636"/>
            </a:avLst>
          </a:prstGeom>
          <a:solidFill>
            <a:srgbClr val="FFFFFF"/>
          </a:solidFill>
          <a:ln w="12700">
            <a:solidFill>
              <a:srgbClr val="E2E8F0"/>
            </a:solidFill>
            <a:prstDash val="solid"/>
          </a:ln>
        </p:spPr>
      </p:sp>
      <p:sp>
        <p:nvSpPr>
          <p:cNvPr id="39" name="Shape 36"/>
          <p:cNvSpPr/>
          <p:nvPr/>
        </p:nvSpPr>
        <p:spPr>
          <a:xfrm>
            <a:off x="6190488" y="3941064"/>
            <a:ext cx="2523744" cy="54864"/>
          </a:xfrm>
          <a:prstGeom prst="rect">
            <a:avLst/>
          </a:prstGeom>
          <a:solidFill>
            <a:srgbClr val="0D9488"/>
          </a:solidFill>
          <a:ln w="12700">
            <a:solidFill>
              <a:srgbClr val="0D9488"/>
            </a:solidFill>
            <a:prstDash val="solid"/>
          </a:ln>
        </p:spPr>
      </p:sp>
      <p:sp>
        <p:nvSpPr>
          <p:cNvPr id="40" name="Text 37"/>
          <p:cNvSpPr/>
          <p:nvPr/>
        </p:nvSpPr>
        <p:spPr>
          <a:xfrm>
            <a:off x="6318504" y="4069080"/>
            <a:ext cx="731520" cy="228600"/>
          </a:xfrm>
          <a:prstGeom prst="rect">
            <a:avLst/>
          </a:prstGeom>
          <a:noFill/>
          <a:ln/>
        </p:spPr>
        <p:txBody>
          <a:bodyPr wrap="square" rtlCol="0" anchor="ctr"/>
          <a:lstStyle/>
          <a:p>
            <a:pPr indent="0" marL="0">
              <a:buNone/>
            </a:pPr>
            <a:r>
              <a:rPr lang="en-US" sz="900" b="1" dirty="0">
                <a:solidFill>
                  <a:srgbClr val="0D9488"/>
                </a:solidFill>
              </a:rPr>
              <a:t>07</a:t>
            </a:r>
            <a:endParaRPr lang="en-US" sz="900" dirty="0"/>
          </a:p>
        </p:txBody>
      </p:sp>
      <p:sp>
        <p:nvSpPr>
          <p:cNvPr id="41" name="Text 38"/>
          <p:cNvSpPr/>
          <p:nvPr/>
        </p:nvSpPr>
        <p:spPr>
          <a:xfrm>
            <a:off x="6318504" y="4343400"/>
            <a:ext cx="2267712" cy="365760"/>
          </a:xfrm>
          <a:prstGeom prst="rect">
            <a:avLst/>
          </a:prstGeom>
          <a:noFill/>
          <a:ln/>
        </p:spPr>
        <p:txBody>
          <a:bodyPr wrap="square" rtlCol="0" anchor="ctr"/>
          <a:lstStyle/>
          <a:p>
            <a:pPr indent="0" marL="0">
              <a:buNone/>
            </a:pPr>
            <a:r>
              <a:rPr lang="en-US" sz="1100" b="1" dirty="0">
                <a:solidFill>
                  <a:srgbClr val="0F172A"/>
                </a:solidFill>
              </a:rPr>
              <a:t>Testing &amp; Verification</a:t>
            </a:r>
            <a:endParaRPr lang="en-US" sz="1100" dirty="0"/>
          </a:p>
        </p:txBody>
      </p:sp>
      <p:sp>
        <p:nvSpPr>
          <p:cNvPr id="42" name="Text 39"/>
          <p:cNvSpPr/>
          <p:nvPr/>
        </p:nvSpPr>
        <p:spPr>
          <a:xfrm>
            <a:off x="6318504" y="4754880"/>
            <a:ext cx="2267712" cy="1005840"/>
          </a:xfrm>
          <a:prstGeom prst="rect">
            <a:avLst/>
          </a:prstGeom>
          <a:noFill/>
          <a:ln/>
        </p:spPr>
        <p:txBody>
          <a:bodyPr wrap="square" rtlCol="0" anchor="ctr"/>
          <a:lstStyle/>
          <a:p>
            <a:pPr indent="0" marL="0">
              <a:lnSpc>
                <a:spcPct val="120000"/>
              </a:lnSpc>
              <a:buNone/>
            </a:pPr>
            <a:r>
              <a:rPr lang="en-US" sz="950" dirty="0">
                <a:solidFill>
                  <a:srgbClr val="475569"/>
                </a:solidFill>
              </a:rPr>
              <a:t>Conducted unit and functional testing of auth, CRUD operations, and DB updates.</a:t>
            </a:r>
            <a:endParaRPr lang="en-US" sz="950" dirty="0"/>
          </a:p>
        </p:txBody>
      </p:sp>
      <p:sp>
        <p:nvSpPr>
          <p:cNvPr id="43" name="Shape 40"/>
          <p:cNvSpPr/>
          <p:nvPr/>
        </p:nvSpPr>
        <p:spPr>
          <a:xfrm>
            <a:off x="8906256" y="3931920"/>
            <a:ext cx="2542032" cy="2011680"/>
          </a:xfrm>
          <a:prstGeom prst="roundRect">
            <a:avLst>
              <a:gd name="adj" fmla="val 3636"/>
            </a:avLst>
          </a:prstGeom>
          <a:solidFill>
            <a:srgbClr val="FFFFFF"/>
          </a:solidFill>
          <a:ln w="12700">
            <a:solidFill>
              <a:srgbClr val="E2E8F0"/>
            </a:solidFill>
            <a:prstDash val="solid"/>
          </a:ln>
        </p:spPr>
      </p:sp>
      <p:sp>
        <p:nvSpPr>
          <p:cNvPr id="44" name="Shape 41"/>
          <p:cNvSpPr/>
          <p:nvPr/>
        </p:nvSpPr>
        <p:spPr>
          <a:xfrm>
            <a:off x="8915400" y="3941064"/>
            <a:ext cx="2523744" cy="54864"/>
          </a:xfrm>
          <a:prstGeom prst="rect">
            <a:avLst/>
          </a:prstGeom>
          <a:solidFill>
            <a:srgbClr val="0D9488"/>
          </a:solidFill>
          <a:ln w="12700">
            <a:solidFill>
              <a:srgbClr val="0D9488"/>
            </a:solidFill>
            <a:prstDash val="solid"/>
          </a:ln>
        </p:spPr>
      </p:sp>
      <p:sp>
        <p:nvSpPr>
          <p:cNvPr id="45" name="Text 42"/>
          <p:cNvSpPr/>
          <p:nvPr/>
        </p:nvSpPr>
        <p:spPr>
          <a:xfrm>
            <a:off x="9043416" y="4069080"/>
            <a:ext cx="731520" cy="228600"/>
          </a:xfrm>
          <a:prstGeom prst="rect">
            <a:avLst/>
          </a:prstGeom>
          <a:noFill/>
          <a:ln/>
        </p:spPr>
        <p:txBody>
          <a:bodyPr wrap="square" rtlCol="0" anchor="ctr"/>
          <a:lstStyle/>
          <a:p>
            <a:pPr indent="0" marL="0">
              <a:buNone/>
            </a:pPr>
            <a:r>
              <a:rPr lang="en-US" sz="900" b="1" dirty="0">
                <a:solidFill>
                  <a:srgbClr val="0D9488"/>
                </a:solidFill>
              </a:rPr>
              <a:t>08</a:t>
            </a:r>
            <a:endParaRPr lang="en-US" sz="900" dirty="0"/>
          </a:p>
        </p:txBody>
      </p:sp>
      <p:sp>
        <p:nvSpPr>
          <p:cNvPr id="46" name="Text 43"/>
          <p:cNvSpPr/>
          <p:nvPr/>
        </p:nvSpPr>
        <p:spPr>
          <a:xfrm>
            <a:off x="9043416" y="4343400"/>
            <a:ext cx="2267712" cy="365760"/>
          </a:xfrm>
          <a:prstGeom prst="rect">
            <a:avLst/>
          </a:prstGeom>
          <a:noFill/>
          <a:ln/>
        </p:spPr>
        <p:txBody>
          <a:bodyPr wrap="square" rtlCol="0" anchor="ctr"/>
          <a:lstStyle/>
          <a:p>
            <a:pPr indent="0" marL="0">
              <a:buNone/>
            </a:pPr>
            <a:r>
              <a:rPr lang="en-US" sz="1100" b="1" dirty="0">
                <a:solidFill>
                  <a:srgbClr val="0F172A"/>
                </a:solidFill>
              </a:rPr>
              <a:t>Final Integration</a:t>
            </a:r>
            <a:endParaRPr lang="en-US" sz="1100" dirty="0"/>
          </a:p>
        </p:txBody>
      </p:sp>
      <p:sp>
        <p:nvSpPr>
          <p:cNvPr id="47" name="Text 44"/>
          <p:cNvSpPr/>
          <p:nvPr/>
        </p:nvSpPr>
        <p:spPr>
          <a:xfrm>
            <a:off x="9043416" y="4754880"/>
            <a:ext cx="2267712" cy="1005840"/>
          </a:xfrm>
          <a:prstGeom prst="rect">
            <a:avLst/>
          </a:prstGeom>
          <a:noFill/>
          <a:ln/>
        </p:spPr>
        <p:txBody>
          <a:bodyPr wrap="square" rtlCol="0" anchor="ctr"/>
          <a:lstStyle/>
          <a:p>
            <a:pPr indent="0" marL="0">
              <a:lnSpc>
                <a:spcPct val="120000"/>
              </a:lnSpc>
              <a:buNone/>
            </a:pPr>
            <a:r>
              <a:rPr lang="en-US" sz="950" dirty="0">
                <a:solidFill>
                  <a:srgbClr val="475569"/>
                </a:solidFill>
              </a:rPr>
              <a:t>Unified presentation, logic, and data tiers into a coherent web application.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731520" y="365760"/>
            <a:ext cx="2286000" cy="274320"/>
          </a:xfrm>
          <a:prstGeom prst="roundRect">
            <a:avLst>
              <a:gd name="adj" fmla="val 50000"/>
            </a:avLst>
          </a:prstGeom>
          <a:solidFill>
            <a:srgbClr val="F0FDFA"/>
          </a:solidFill>
          <a:ln w="12700">
            <a:solidFill>
              <a:srgbClr val="0D9488"/>
            </a:solidFill>
            <a:prstDash val="solid"/>
          </a:ln>
        </p:spPr>
      </p:sp>
      <p:sp>
        <p:nvSpPr>
          <p:cNvPr id="4" name="Text 1"/>
          <p:cNvSpPr/>
          <p:nvPr/>
        </p:nvSpPr>
        <p:spPr>
          <a:xfrm>
            <a:off x="731520" y="365760"/>
            <a:ext cx="2286000" cy="274320"/>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ARCHITECTURE SPECIFICATION</a:t>
            </a:r>
            <a:endParaRPr lang="en-US" sz="900" dirty="0"/>
          </a:p>
        </p:txBody>
      </p:sp>
      <p:sp>
        <p:nvSpPr>
          <p:cNvPr id="5" name="Text 2"/>
          <p:cNvSpPr/>
          <p:nvPr/>
        </p:nvSpPr>
        <p:spPr>
          <a:xfrm>
            <a:off x="7772400" y="365760"/>
            <a:ext cx="36576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DoseTrack · BCA S5 · KMCT IETM (KTU)</a:t>
            </a:r>
            <a:endParaRPr lang="en-US" sz="900" dirty="0"/>
          </a:p>
        </p:txBody>
      </p:sp>
      <p:sp>
        <p:nvSpPr>
          <p:cNvPr id="6" name="Text 3"/>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System Architecture</a:t>
            </a:r>
            <a:endParaRPr lang="en-US" sz="2200" dirty="0"/>
          </a:p>
        </p:txBody>
      </p:sp>
      <p:sp>
        <p:nvSpPr>
          <p:cNvPr id="7" name="Text 4"/>
          <p:cNvSpPr/>
          <p:nvPr/>
        </p:nvSpPr>
        <p:spPr>
          <a:xfrm>
            <a:off x="731520" y="1188720"/>
            <a:ext cx="10515600" cy="32004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Three-layer architecture connecting Presentation, Application Logic, and Relational Data.</a:t>
            </a:r>
            <a:endParaRPr lang="en-US" sz="1100" dirty="0"/>
          </a:p>
        </p:txBody>
      </p:sp>
      <p:pic>
        <p:nvPicPr>
          <p:cNvPr id="8" name="Image 0" descr="C:\Users\DELL\Downloads\DoseTrack\public\images\fig_5_1_architecture.png">    </p:cNvPr>
          <p:cNvPicPr>
            <a:picLocks noChangeAspect="1"/>
          </p:cNvPicPr>
          <p:nvPr/>
        </p:nvPicPr>
        <p:blipFill>
          <a:blip r:embed="rId1"/>
          <a:stretch>
            <a:fillRect/>
          </a:stretch>
        </p:blipFill>
        <p:spPr>
          <a:xfrm>
            <a:off x="731520" y="1645920"/>
            <a:ext cx="5029200" cy="4572000"/>
          </a:xfrm>
          <a:prstGeom prst="rect">
            <a:avLst/>
          </a:prstGeom>
        </p:spPr>
      </p:pic>
      <p:sp>
        <p:nvSpPr>
          <p:cNvPr id="9" name="Shape 5"/>
          <p:cNvSpPr/>
          <p:nvPr/>
        </p:nvSpPr>
        <p:spPr>
          <a:xfrm>
            <a:off x="6126480" y="1645920"/>
            <a:ext cx="5330952" cy="1371600"/>
          </a:xfrm>
          <a:prstGeom prst="roundRect">
            <a:avLst>
              <a:gd name="adj" fmla="val 5333"/>
            </a:avLst>
          </a:prstGeom>
          <a:solidFill>
            <a:srgbClr val="FFFFFF"/>
          </a:solidFill>
          <a:ln w="12700">
            <a:solidFill>
              <a:srgbClr val="E2E8F0"/>
            </a:solidFill>
            <a:prstDash val="solid"/>
          </a:ln>
        </p:spPr>
      </p:sp>
      <p:sp>
        <p:nvSpPr>
          <p:cNvPr id="10" name="Shape 6"/>
          <p:cNvSpPr/>
          <p:nvPr/>
        </p:nvSpPr>
        <p:spPr>
          <a:xfrm>
            <a:off x="6135624" y="1655064"/>
            <a:ext cx="5312664" cy="54864"/>
          </a:xfrm>
          <a:prstGeom prst="rect">
            <a:avLst/>
          </a:prstGeom>
          <a:solidFill>
            <a:srgbClr val="0D9488"/>
          </a:solidFill>
          <a:ln w="12700">
            <a:solidFill>
              <a:srgbClr val="0D9488"/>
            </a:solidFill>
            <a:prstDash val="solid"/>
          </a:ln>
        </p:spPr>
      </p:sp>
      <p:sp>
        <p:nvSpPr>
          <p:cNvPr id="11" name="Text 7"/>
          <p:cNvSpPr/>
          <p:nvPr/>
        </p:nvSpPr>
        <p:spPr>
          <a:xfrm>
            <a:off x="6309360" y="1783080"/>
            <a:ext cx="4937760" cy="274320"/>
          </a:xfrm>
          <a:prstGeom prst="rect">
            <a:avLst/>
          </a:prstGeom>
          <a:noFill/>
          <a:ln/>
        </p:spPr>
        <p:txBody>
          <a:bodyPr wrap="square" rtlCol="0" anchor="ctr"/>
          <a:lstStyle/>
          <a:p>
            <a:pPr indent="0" marL="0">
              <a:buNone/>
            </a:pPr>
            <a:r>
              <a:rPr lang="en-US" sz="1200" b="1" dirty="0">
                <a:solidFill>
                  <a:srgbClr val="0F172A"/>
                </a:solidFill>
              </a:rPr>
              <a:t>1. Presentation Layer (HTML5, CSS3, JavaScript)</a:t>
            </a:r>
            <a:endParaRPr lang="en-US" sz="1200" dirty="0"/>
          </a:p>
        </p:txBody>
      </p:sp>
      <p:sp>
        <p:nvSpPr>
          <p:cNvPr id="12" name="Text 8"/>
          <p:cNvSpPr/>
          <p:nvPr/>
        </p:nvSpPr>
        <p:spPr>
          <a:xfrm>
            <a:off x="6309360" y="2103120"/>
            <a:ext cx="4937760" cy="777240"/>
          </a:xfrm>
          <a:prstGeom prst="rect">
            <a:avLst/>
          </a:prstGeom>
          <a:noFill/>
          <a:ln/>
        </p:spPr>
        <p:txBody>
          <a:bodyPr wrap="square" rtlCol="0" anchor="ctr"/>
          <a:lstStyle/>
          <a:p>
            <a:pPr indent="0" marL="0">
              <a:lnSpc>
                <a:spcPct val="120000"/>
              </a:lnSpc>
              <a:buNone/>
            </a:pPr>
            <a:r>
              <a:rPr lang="en-US" sz="1000" dirty="0">
                <a:solidFill>
                  <a:srgbClr val="475569"/>
                </a:solidFill>
              </a:rPr>
              <a:t>Frontend forms, daily overview dashboard, modal dialogs, schedule configuration forms, real-time alert banners, and doctor contact cards accessed via desktop/mobile browsers.</a:t>
            </a:r>
            <a:endParaRPr lang="en-US" sz="1000" dirty="0"/>
          </a:p>
        </p:txBody>
      </p:sp>
      <p:sp>
        <p:nvSpPr>
          <p:cNvPr id="13" name="Shape 9"/>
          <p:cNvSpPr/>
          <p:nvPr/>
        </p:nvSpPr>
        <p:spPr>
          <a:xfrm>
            <a:off x="6126480" y="3200400"/>
            <a:ext cx="5330952" cy="1371600"/>
          </a:xfrm>
          <a:prstGeom prst="roundRect">
            <a:avLst>
              <a:gd name="adj" fmla="val 5333"/>
            </a:avLst>
          </a:prstGeom>
          <a:solidFill>
            <a:srgbClr val="FFFFFF"/>
          </a:solidFill>
          <a:ln w="12700">
            <a:solidFill>
              <a:srgbClr val="E2E8F0"/>
            </a:solidFill>
            <a:prstDash val="solid"/>
          </a:ln>
        </p:spPr>
      </p:sp>
      <p:sp>
        <p:nvSpPr>
          <p:cNvPr id="14" name="Shape 10"/>
          <p:cNvSpPr/>
          <p:nvPr/>
        </p:nvSpPr>
        <p:spPr>
          <a:xfrm>
            <a:off x="6135624" y="3209544"/>
            <a:ext cx="5312664" cy="54864"/>
          </a:xfrm>
          <a:prstGeom prst="rect">
            <a:avLst/>
          </a:prstGeom>
          <a:solidFill>
            <a:srgbClr val="0284C7"/>
          </a:solidFill>
          <a:ln w="12700">
            <a:solidFill>
              <a:srgbClr val="0284C7"/>
            </a:solidFill>
            <a:prstDash val="solid"/>
          </a:ln>
        </p:spPr>
      </p:sp>
      <p:sp>
        <p:nvSpPr>
          <p:cNvPr id="15" name="Text 11"/>
          <p:cNvSpPr/>
          <p:nvPr/>
        </p:nvSpPr>
        <p:spPr>
          <a:xfrm>
            <a:off x="6309360" y="3337560"/>
            <a:ext cx="4937760" cy="274320"/>
          </a:xfrm>
          <a:prstGeom prst="rect">
            <a:avLst/>
          </a:prstGeom>
          <a:noFill/>
          <a:ln/>
        </p:spPr>
        <p:txBody>
          <a:bodyPr wrap="square" rtlCol="0" anchor="ctr"/>
          <a:lstStyle/>
          <a:p>
            <a:pPr indent="0" marL="0">
              <a:buNone/>
            </a:pPr>
            <a:r>
              <a:rPr lang="en-US" sz="1200" b="1" dirty="0">
                <a:solidFill>
                  <a:srgbClr val="0F172A"/>
                </a:solidFill>
              </a:rPr>
              <a:t>2. Application / Logic Layer (Node.js / PHP)</a:t>
            </a:r>
            <a:endParaRPr lang="en-US" sz="1200" dirty="0"/>
          </a:p>
        </p:txBody>
      </p:sp>
      <p:sp>
        <p:nvSpPr>
          <p:cNvPr id="16" name="Text 12"/>
          <p:cNvSpPr/>
          <p:nvPr/>
        </p:nvSpPr>
        <p:spPr>
          <a:xfrm>
            <a:off x="6309360" y="3657600"/>
            <a:ext cx="4937760" cy="777240"/>
          </a:xfrm>
          <a:prstGeom prst="rect">
            <a:avLst/>
          </a:prstGeom>
          <a:noFill/>
          <a:ln/>
        </p:spPr>
        <p:txBody>
          <a:bodyPr wrap="square" rtlCol="0" anchor="ctr"/>
          <a:lstStyle/>
          <a:p>
            <a:pPr indent="0" marL="0">
              <a:lnSpc>
                <a:spcPct val="120000"/>
              </a:lnSpc>
              <a:buNone/>
            </a:pPr>
            <a:r>
              <a:rPr lang="en-US" sz="1000" dirty="0">
                <a:solidFill>
                  <a:srgbClr val="475569"/>
                </a:solidFill>
              </a:rPr>
              <a:t>Backend business logic and validation checking every request before storage; handles user authentication, medication CRUD operations, schedule matching, and adherence recording.</a:t>
            </a:r>
            <a:endParaRPr lang="en-US" sz="1000" dirty="0"/>
          </a:p>
        </p:txBody>
      </p:sp>
      <p:sp>
        <p:nvSpPr>
          <p:cNvPr id="17" name="Shape 13"/>
          <p:cNvSpPr/>
          <p:nvPr/>
        </p:nvSpPr>
        <p:spPr>
          <a:xfrm>
            <a:off x="6126480" y="4754880"/>
            <a:ext cx="5330952" cy="1463040"/>
          </a:xfrm>
          <a:prstGeom prst="roundRect">
            <a:avLst>
              <a:gd name="adj" fmla="val 5000"/>
            </a:avLst>
          </a:prstGeom>
          <a:solidFill>
            <a:srgbClr val="FFFFFF"/>
          </a:solidFill>
          <a:ln w="12700">
            <a:solidFill>
              <a:srgbClr val="E2E8F0"/>
            </a:solidFill>
            <a:prstDash val="solid"/>
          </a:ln>
        </p:spPr>
      </p:sp>
      <p:sp>
        <p:nvSpPr>
          <p:cNvPr id="18" name="Shape 14"/>
          <p:cNvSpPr/>
          <p:nvPr/>
        </p:nvSpPr>
        <p:spPr>
          <a:xfrm>
            <a:off x="6135624" y="4764024"/>
            <a:ext cx="5312664" cy="54864"/>
          </a:xfrm>
          <a:prstGeom prst="rect">
            <a:avLst/>
          </a:prstGeom>
          <a:solidFill>
            <a:srgbClr val="16A34A"/>
          </a:solidFill>
          <a:ln w="12700">
            <a:solidFill>
              <a:srgbClr val="16A34A"/>
            </a:solidFill>
            <a:prstDash val="solid"/>
          </a:ln>
        </p:spPr>
      </p:sp>
      <p:sp>
        <p:nvSpPr>
          <p:cNvPr id="19" name="Text 15"/>
          <p:cNvSpPr/>
          <p:nvPr/>
        </p:nvSpPr>
        <p:spPr>
          <a:xfrm>
            <a:off x="6309360" y="4892040"/>
            <a:ext cx="4937760" cy="274320"/>
          </a:xfrm>
          <a:prstGeom prst="rect">
            <a:avLst/>
          </a:prstGeom>
          <a:noFill/>
          <a:ln/>
        </p:spPr>
        <p:txBody>
          <a:bodyPr wrap="square" rtlCol="0" anchor="ctr"/>
          <a:lstStyle/>
          <a:p>
            <a:pPr indent="0" marL="0">
              <a:buNone/>
            </a:pPr>
            <a:r>
              <a:rPr lang="en-US" sz="1200" b="1" dirty="0">
                <a:solidFill>
                  <a:srgbClr val="0F172A"/>
                </a:solidFill>
              </a:rPr>
              <a:t>3. Data Layer (MySQL Relational Database)</a:t>
            </a:r>
            <a:endParaRPr lang="en-US" sz="1200" dirty="0"/>
          </a:p>
        </p:txBody>
      </p:sp>
      <p:sp>
        <p:nvSpPr>
          <p:cNvPr id="20" name="Text 16"/>
          <p:cNvSpPr/>
          <p:nvPr/>
        </p:nvSpPr>
        <p:spPr>
          <a:xfrm>
            <a:off x="6309360" y="5212080"/>
            <a:ext cx="4937760" cy="868680"/>
          </a:xfrm>
          <a:prstGeom prst="rect">
            <a:avLst/>
          </a:prstGeom>
          <a:noFill/>
          <a:ln/>
        </p:spPr>
        <p:txBody>
          <a:bodyPr wrap="square" rtlCol="0" anchor="ctr"/>
          <a:lstStyle/>
          <a:p>
            <a:pPr indent="0" marL="0">
              <a:lnSpc>
                <a:spcPct val="120000"/>
              </a:lnSpc>
              <a:buNone/>
            </a:pPr>
            <a:r>
              <a:rPr lang="en-US" sz="1000" dirty="0">
                <a:solidFill>
                  <a:srgbClr val="475569"/>
                </a:solidFill>
              </a:rPr>
              <a:t>Structured MySQL database managing tables for users, medications, dosage schedules, adherence event logs, doctor contact details, and notification settings with foreign key integrity.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731520" y="365760"/>
            <a:ext cx="2286000" cy="274320"/>
          </a:xfrm>
          <a:prstGeom prst="roundRect">
            <a:avLst>
              <a:gd name="adj" fmla="val 50000"/>
            </a:avLst>
          </a:prstGeom>
          <a:solidFill>
            <a:srgbClr val="F0FDFA"/>
          </a:solidFill>
          <a:ln w="12700">
            <a:solidFill>
              <a:srgbClr val="0D9488"/>
            </a:solidFill>
            <a:prstDash val="solid"/>
          </a:ln>
        </p:spPr>
      </p:sp>
      <p:sp>
        <p:nvSpPr>
          <p:cNvPr id="4" name="Text 1"/>
          <p:cNvSpPr/>
          <p:nvPr/>
        </p:nvSpPr>
        <p:spPr>
          <a:xfrm>
            <a:off x="731520" y="365760"/>
            <a:ext cx="2286000" cy="274320"/>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OPERATIONAL FLOWCHART</a:t>
            </a:r>
            <a:endParaRPr lang="en-US" sz="900" dirty="0"/>
          </a:p>
        </p:txBody>
      </p:sp>
      <p:sp>
        <p:nvSpPr>
          <p:cNvPr id="5" name="Text 2"/>
          <p:cNvSpPr/>
          <p:nvPr/>
        </p:nvSpPr>
        <p:spPr>
          <a:xfrm>
            <a:off x="7772400" y="365760"/>
            <a:ext cx="36576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DoseTrack · BCA S5 · KMCT IETM (KTU)</a:t>
            </a:r>
            <a:endParaRPr lang="en-US" sz="900" dirty="0"/>
          </a:p>
        </p:txBody>
      </p:sp>
      <p:sp>
        <p:nvSpPr>
          <p:cNvPr id="6" name="Text 3"/>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Application Workflow</a:t>
            </a:r>
            <a:endParaRPr lang="en-US" sz="2200" dirty="0"/>
          </a:p>
        </p:txBody>
      </p:sp>
      <p:sp>
        <p:nvSpPr>
          <p:cNvPr id="7" name="Text 4"/>
          <p:cNvSpPr/>
          <p:nvPr/>
        </p:nvSpPr>
        <p:spPr>
          <a:xfrm>
            <a:off x="731520" y="1188720"/>
            <a:ext cx="10515600" cy="32004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End-to-end user journey flowchart from Chapter 6 (Figure 5.3).</a:t>
            </a:r>
            <a:endParaRPr lang="en-US" sz="1100" dirty="0"/>
          </a:p>
        </p:txBody>
      </p:sp>
      <p:pic>
        <p:nvPicPr>
          <p:cNvPr id="8" name="Image 0" descr="C:\Users\DELL\Downloads\DoseTrack\public\images\fig_5_3_workflow.png">    </p:cNvPr>
          <p:cNvPicPr>
            <a:picLocks noChangeAspect="1"/>
          </p:cNvPicPr>
          <p:nvPr/>
        </p:nvPicPr>
        <p:blipFill>
          <a:blip r:embed="rId1"/>
          <a:stretch>
            <a:fillRect/>
          </a:stretch>
        </p:blipFill>
        <p:spPr>
          <a:xfrm>
            <a:off x="731520" y="1645920"/>
            <a:ext cx="4114800" cy="4572000"/>
          </a:xfrm>
          <a:prstGeom prst="rect">
            <a:avLst/>
          </a:prstGeom>
        </p:spPr>
      </p:pic>
      <p:sp>
        <p:nvSpPr>
          <p:cNvPr id="9" name="Shape 5"/>
          <p:cNvSpPr/>
          <p:nvPr/>
        </p:nvSpPr>
        <p:spPr>
          <a:xfrm>
            <a:off x="5120640" y="1645920"/>
            <a:ext cx="6336792" cy="594360"/>
          </a:xfrm>
          <a:prstGeom prst="roundRect">
            <a:avLst>
              <a:gd name="adj" fmla="val 12308"/>
            </a:avLst>
          </a:prstGeom>
          <a:solidFill>
            <a:srgbClr val="FFFFFF"/>
          </a:solidFill>
          <a:ln w="12700">
            <a:solidFill>
              <a:srgbClr val="E2E8F0"/>
            </a:solidFill>
            <a:prstDash val="solid"/>
          </a:ln>
        </p:spPr>
      </p:sp>
      <p:sp>
        <p:nvSpPr>
          <p:cNvPr id="10" name="Text 6"/>
          <p:cNvSpPr/>
          <p:nvPr/>
        </p:nvSpPr>
        <p:spPr>
          <a:xfrm>
            <a:off x="5257800" y="1783080"/>
            <a:ext cx="320040" cy="320040"/>
          </a:xfrm>
          <a:prstGeom prst="rect">
            <a:avLst/>
          </a:prstGeom>
          <a:noFill/>
          <a:ln/>
        </p:spPr>
        <p:txBody>
          <a:bodyPr wrap="square" rtlCol="0" anchor="ctr"/>
          <a:lstStyle/>
          <a:p>
            <a:pPr indent="0" marL="0">
              <a:buNone/>
            </a:pPr>
            <a:r>
              <a:rPr lang="en-US" sz="1000" b="1" dirty="0">
                <a:solidFill>
                  <a:srgbClr val="0D9488"/>
                </a:solidFill>
              </a:rPr>
              <a:t>1</a:t>
            </a:r>
            <a:endParaRPr lang="en-US" sz="1000" dirty="0"/>
          </a:p>
        </p:txBody>
      </p:sp>
      <p:sp>
        <p:nvSpPr>
          <p:cNvPr id="11" name="Text 7"/>
          <p:cNvSpPr/>
          <p:nvPr/>
        </p:nvSpPr>
        <p:spPr>
          <a:xfrm>
            <a:off x="5623560" y="1737360"/>
            <a:ext cx="5669280" cy="411480"/>
          </a:xfrm>
          <a:prstGeom prst="rect">
            <a:avLst/>
          </a:prstGeom>
          <a:noFill/>
          <a:ln/>
        </p:spPr>
        <p:txBody>
          <a:bodyPr wrap="square" rtlCol="0" anchor="ctr"/>
          <a:lstStyle/>
          <a:p>
            <a:pPr indent="0" marL="0">
              <a:buNone/>
            </a:pPr>
            <a:r>
              <a:rPr lang="en-US" sz="950" dirty="0">
                <a:solidFill>
                  <a:srgbClr val="475569"/>
                </a:solidFill>
                <a:latin typeface="Arial" pitchFamily="34" charset="0"/>
                <a:ea typeface="Arial" pitchFamily="34" charset="-122"/>
                <a:cs typeface="Arial" pitchFamily="34" charset="-120"/>
              </a:rPr>
              <a:t>Register / Login — Patient registers and logs in securely; session associates medication data with user account.</a:t>
            </a:r>
            <a:endParaRPr lang="en-US" sz="950" dirty="0"/>
          </a:p>
        </p:txBody>
      </p:sp>
      <p:sp>
        <p:nvSpPr>
          <p:cNvPr id="12" name="Shape 8"/>
          <p:cNvSpPr/>
          <p:nvPr/>
        </p:nvSpPr>
        <p:spPr>
          <a:xfrm>
            <a:off x="5120640" y="2304288"/>
            <a:ext cx="6336792" cy="594360"/>
          </a:xfrm>
          <a:prstGeom prst="roundRect">
            <a:avLst>
              <a:gd name="adj" fmla="val 12308"/>
            </a:avLst>
          </a:prstGeom>
          <a:solidFill>
            <a:srgbClr val="FFFFFF"/>
          </a:solidFill>
          <a:ln w="12700">
            <a:solidFill>
              <a:srgbClr val="E2E8F0"/>
            </a:solidFill>
            <a:prstDash val="solid"/>
          </a:ln>
        </p:spPr>
      </p:sp>
      <p:sp>
        <p:nvSpPr>
          <p:cNvPr id="13" name="Text 9"/>
          <p:cNvSpPr/>
          <p:nvPr/>
        </p:nvSpPr>
        <p:spPr>
          <a:xfrm>
            <a:off x="5257800" y="2441448"/>
            <a:ext cx="320040" cy="320040"/>
          </a:xfrm>
          <a:prstGeom prst="rect">
            <a:avLst/>
          </a:prstGeom>
          <a:noFill/>
          <a:ln/>
        </p:spPr>
        <p:txBody>
          <a:bodyPr wrap="square" rtlCol="0" anchor="ctr"/>
          <a:lstStyle/>
          <a:p>
            <a:pPr indent="0" marL="0">
              <a:buNone/>
            </a:pPr>
            <a:r>
              <a:rPr lang="en-US" sz="1000" b="1" dirty="0">
                <a:solidFill>
                  <a:srgbClr val="0D9488"/>
                </a:solidFill>
              </a:rPr>
              <a:t>2</a:t>
            </a:r>
            <a:endParaRPr lang="en-US" sz="1000" dirty="0"/>
          </a:p>
        </p:txBody>
      </p:sp>
      <p:sp>
        <p:nvSpPr>
          <p:cNvPr id="14" name="Text 10"/>
          <p:cNvSpPr/>
          <p:nvPr/>
        </p:nvSpPr>
        <p:spPr>
          <a:xfrm>
            <a:off x="5623560" y="2395728"/>
            <a:ext cx="5669280" cy="411480"/>
          </a:xfrm>
          <a:prstGeom prst="rect">
            <a:avLst/>
          </a:prstGeom>
          <a:noFill/>
          <a:ln/>
        </p:spPr>
        <p:txBody>
          <a:bodyPr wrap="square" rtlCol="0" anchor="ctr"/>
          <a:lstStyle/>
          <a:p>
            <a:pPr indent="0" marL="0">
              <a:buNone/>
            </a:pPr>
            <a:r>
              <a:rPr lang="en-US" sz="950" dirty="0">
                <a:solidFill>
                  <a:srgbClr val="475569"/>
                </a:solidFill>
                <a:latin typeface="Arial" pitchFamily="34" charset="0"/>
                <a:ea typeface="Arial" pitchFamily="34" charset="-122"/>
                <a:cs typeface="Arial" pitchFamily="34" charset="-120"/>
              </a:rPr>
              <a:t>Dashboard Overview — Displays todays scheduled medication doses, adherence progress counter, and vitals snapshot.</a:t>
            </a:r>
            <a:endParaRPr lang="en-US" sz="950" dirty="0"/>
          </a:p>
        </p:txBody>
      </p:sp>
      <p:sp>
        <p:nvSpPr>
          <p:cNvPr id="15" name="Shape 11"/>
          <p:cNvSpPr/>
          <p:nvPr/>
        </p:nvSpPr>
        <p:spPr>
          <a:xfrm>
            <a:off x="5120640" y="2962656"/>
            <a:ext cx="6336792" cy="594360"/>
          </a:xfrm>
          <a:prstGeom prst="roundRect">
            <a:avLst>
              <a:gd name="adj" fmla="val 12308"/>
            </a:avLst>
          </a:prstGeom>
          <a:solidFill>
            <a:srgbClr val="FFFFFF"/>
          </a:solidFill>
          <a:ln w="12700">
            <a:solidFill>
              <a:srgbClr val="E2E8F0"/>
            </a:solidFill>
            <a:prstDash val="solid"/>
          </a:ln>
        </p:spPr>
      </p:sp>
      <p:sp>
        <p:nvSpPr>
          <p:cNvPr id="16" name="Text 12"/>
          <p:cNvSpPr/>
          <p:nvPr/>
        </p:nvSpPr>
        <p:spPr>
          <a:xfrm>
            <a:off x="5257800" y="3099816"/>
            <a:ext cx="320040" cy="320040"/>
          </a:xfrm>
          <a:prstGeom prst="rect">
            <a:avLst/>
          </a:prstGeom>
          <a:noFill/>
          <a:ln/>
        </p:spPr>
        <p:txBody>
          <a:bodyPr wrap="square" rtlCol="0" anchor="ctr"/>
          <a:lstStyle/>
          <a:p>
            <a:pPr indent="0" marL="0">
              <a:buNone/>
            </a:pPr>
            <a:r>
              <a:rPr lang="en-US" sz="1000" b="1" dirty="0">
                <a:solidFill>
                  <a:srgbClr val="0D9488"/>
                </a:solidFill>
              </a:rPr>
              <a:t>3</a:t>
            </a:r>
            <a:endParaRPr lang="en-US" sz="1000" dirty="0"/>
          </a:p>
        </p:txBody>
      </p:sp>
      <p:sp>
        <p:nvSpPr>
          <p:cNvPr id="17" name="Text 13"/>
          <p:cNvSpPr/>
          <p:nvPr/>
        </p:nvSpPr>
        <p:spPr>
          <a:xfrm>
            <a:off x="5623560" y="3054096"/>
            <a:ext cx="5669280" cy="411480"/>
          </a:xfrm>
          <a:prstGeom prst="rect">
            <a:avLst/>
          </a:prstGeom>
          <a:noFill/>
          <a:ln/>
        </p:spPr>
        <p:txBody>
          <a:bodyPr wrap="square" rtlCol="0" anchor="ctr"/>
          <a:lstStyle/>
          <a:p>
            <a:pPr indent="0" marL="0">
              <a:buNone/>
            </a:pPr>
            <a:r>
              <a:rPr lang="en-US" sz="950" dirty="0">
                <a:solidFill>
                  <a:srgbClr val="475569"/>
                </a:solidFill>
                <a:latin typeface="Arial" pitchFamily="34" charset="0"/>
                <a:ea typeface="Arial" pitchFamily="34" charset="-122"/>
                <a:cs typeface="Arial" pitchFamily="34" charset="-120"/>
              </a:rPr>
              <a:t>Add / Edit Medication — User inputs medicine name, dosage strength, quantity, frequency, and treatment duration.</a:t>
            </a:r>
            <a:endParaRPr lang="en-US" sz="950" dirty="0"/>
          </a:p>
        </p:txBody>
      </p:sp>
      <p:sp>
        <p:nvSpPr>
          <p:cNvPr id="18" name="Shape 14"/>
          <p:cNvSpPr/>
          <p:nvPr/>
        </p:nvSpPr>
        <p:spPr>
          <a:xfrm>
            <a:off x="5120640" y="3621024"/>
            <a:ext cx="6336792" cy="594360"/>
          </a:xfrm>
          <a:prstGeom prst="roundRect">
            <a:avLst>
              <a:gd name="adj" fmla="val 12308"/>
            </a:avLst>
          </a:prstGeom>
          <a:solidFill>
            <a:srgbClr val="FFFFFF"/>
          </a:solidFill>
          <a:ln w="12700">
            <a:solidFill>
              <a:srgbClr val="E2E8F0"/>
            </a:solidFill>
            <a:prstDash val="solid"/>
          </a:ln>
        </p:spPr>
      </p:sp>
      <p:sp>
        <p:nvSpPr>
          <p:cNvPr id="19" name="Text 15"/>
          <p:cNvSpPr/>
          <p:nvPr/>
        </p:nvSpPr>
        <p:spPr>
          <a:xfrm>
            <a:off x="5257800" y="3758184"/>
            <a:ext cx="320040" cy="320040"/>
          </a:xfrm>
          <a:prstGeom prst="rect">
            <a:avLst/>
          </a:prstGeom>
          <a:noFill/>
          <a:ln/>
        </p:spPr>
        <p:txBody>
          <a:bodyPr wrap="square" rtlCol="0" anchor="ctr"/>
          <a:lstStyle/>
          <a:p>
            <a:pPr indent="0" marL="0">
              <a:buNone/>
            </a:pPr>
            <a:r>
              <a:rPr lang="en-US" sz="1000" b="1" dirty="0">
                <a:solidFill>
                  <a:srgbClr val="0D9488"/>
                </a:solidFill>
              </a:rPr>
              <a:t>4</a:t>
            </a:r>
            <a:endParaRPr lang="en-US" sz="1000" dirty="0"/>
          </a:p>
        </p:txBody>
      </p:sp>
      <p:sp>
        <p:nvSpPr>
          <p:cNvPr id="20" name="Text 16"/>
          <p:cNvSpPr/>
          <p:nvPr/>
        </p:nvSpPr>
        <p:spPr>
          <a:xfrm>
            <a:off x="5623560" y="3712464"/>
            <a:ext cx="5669280" cy="411480"/>
          </a:xfrm>
          <a:prstGeom prst="rect">
            <a:avLst/>
          </a:prstGeom>
          <a:noFill/>
          <a:ln/>
        </p:spPr>
        <p:txBody>
          <a:bodyPr wrap="square" rtlCol="0" anchor="ctr"/>
          <a:lstStyle/>
          <a:p>
            <a:pPr indent="0" marL="0">
              <a:buNone/>
            </a:pPr>
            <a:r>
              <a:rPr lang="en-US" sz="950" dirty="0">
                <a:solidFill>
                  <a:srgbClr val="475569"/>
                </a:solidFill>
                <a:latin typeface="Arial" pitchFamily="34" charset="0"/>
                <a:ea typeface="Arial" pitchFamily="34" charset="-122"/>
                <a:cs typeface="Arial" pitchFamily="34" charset="-120"/>
              </a:rPr>
              <a:t>Configure Schedule — Sets specific dose timings (e.g. 08:00 AM, 08:30 PM) directly linked to the medication record.</a:t>
            </a:r>
            <a:endParaRPr lang="en-US" sz="950" dirty="0"/>
          </a:p>
        </p:txBody>
      </p:sp>
      <p:sp>
        <p:nvSpPr>
          <p:cNvPr id="21" name="Shape 17"/>
          <p:cNvSpPr/>
          <p:nvPr/>
        </p:nvSpPr>
        <p:spPr>
          <a:xfrm>
            <a:off x="5120640" y="4279392"/>
            <a:ext cx="6336792" cy="594360"/>
          </a:xfrm>
          <a:prstGeom prst="roundRect">
            <a:avLst>
              <a:gd name="adj" fmla="val 12308"/>
            </a:avLst>
          </a:prstGeom>
          <a:solidFill>
            <a:srgbClr val="FFFFFF"/>
          </a:solidFill>
          <a:ln w="12700">
            <a:solidFill>
              <a:srgbClr val="E2E8F0"/>
            </a:solidFill>
            <a:prstDash val="solid"/>
          </a:ln>
        </p:spPr>
      </p:sp>
      <p:sp>
        <p:nvSpPr>
          <p:cNvPr id="22" name="Text 18"/>
          <p:cNvSpPr/>
          <p:nvPr/>
        </p:nvSpPr>
        <p:spPr>
          <a:xfrm>
            <a:off x="5257800" y="4416552"/>
            <a:ext cx="320040" cy="320040"/>
          </a:xfrm>
          <a:prstGeom prst="rect">
            <a:avLst/>
          </a:prstGeom>
          <a:noFill/>
          <a:ln/>
        </p:spPr>
        <p:txBody>
          <a:bodyPr wrap="square" rtlCol="0" anchor="ctr"/>
          <a:lstStyle/>
          <a:p>
            <a:pPr indent="0" marL="0">
              <a:buNone/>
            </a:pPr>
            <a:r>
              <a:rPr lang="en-US" sz="1000" b="1" dirty="0">
                <a:solidFill>
                  <a:srgbClr val="0D9488"/>
                </a:solidFill>
              </a:rPr>
              <a:t>5</a:t>
            </a:r>
            <a:endParaRPr lang="en-US" sz="1000" dirty="0"/>
          </a:p>
        </p:txBody>
      </p:sp>
      <p:sp>
        <p:nvSpPr>
          <p:cNvPr id="23" name="Text 19"/>
          <p:cNvSpPr/>
          <p:nvPr/>
        </p:nvSpPr>
        <p:spPr>
          <a:xfrm>
            <a:off x="5623560" y="4370832"/>
            <a:ext cx="5669280" cy="411480"/>
          </a:xfrm>
          <a:prstGeom prst="rect">
            <a:avLst/>
          </a:prstGeom>
          <a:noFill/>
          <a:ln/>
        </p:spPr>
        <p:txBody>
          <a:bodyPr wrap="square" rtlCol="0" anchor="ctr"/>
          <a:lstStyle/>
          <a:p>
            <a:pPr indent="0" marL="0">
              <a:buNone/>
            </a:pPr>
            <a:r>
              <a:rPr lang="en-US" sz="950" dirty="0">
                <a:solidFill>
                  <a:srgbClr val="475569"/>
                </a:solidFill>
                <a:latin typeface="Arial" pitchFamily="34" charset="0"/>
                <a:ea typeface="Arial" pitchFamily="34" charset="-122"/>
                <a:cs typeface="Arial" pitchFamily="34" charset="-120"/>
              </a:rPr>
              <a:t>Automated Reminder Generated — When current time matches schedule, system alerts the patient that a dose is due.</a:t>
            </a:r>
            <a:endParaRPr lang="en-US" sz="950" dirty="0"/>
          </a:p>
        </p:txBody>
      </p:sp>
      <p:sp>
        <p:nvSpPr>
          <p:cNvPr id="24" name="Shape 20"/>
          <p:cNvSpPr/>
          <p:nvPr/>
        </p:nvSpPr>
        <p:spPr>
          <a:xfrm>
            <a:off x="5120640" y="4937760"/>
            <a:ext cx="6336792" cy="594360"/>
          </a:xfrm>
          <a:prstGeom prst="roundRect">
            <a:avLst>
              <a:gd name="adj" fmla="val 12308"/>
            </a:avLst>
          </a:prstGeom>
          <a:solidFill>
            <a:srgbClr val="FFFFFF"/>
          </a:solidFill>
          <a:ln w="12700">
            <a:solidFill>
              <a:srgbClr val="E2E8F0"/>
            </a:solidFill>
            <a:prstDash val="solid"/>
          </a:ln>
        </p:spPr>
      </p:sp>
      <p:sp>
        <p:nvSpPr>
          <p:cNvPr id="25" name="Text 21"/>
          <p:cNvSpPr/>
          <p:nvPr/>
        </p:nvSpPr>
        <p:spPr>
          <a:xfrm>
            <a:off x="5257800" y="5074920"/>
            <a:ext cx="320040" cy="320040"/>
          </a:xfrm>
          <a:prstGeom prst="rect">
            <a:avLst/>
          </a:prstGeom>
          <a:noFill/>
          <a:ln/>
        </p:spPr>
        <p:txBody>
          <a:bodyPr wrap="square" rtlCol="0" anchor="ctr"/>
          <a:lstStyle/>
          <a:p>
            <a:pPr indent="0" marL="0">
              <a:buNone/>
            </a:pPr>
            <a:r>
              <a:rPr lang="en-US" sz="1000" b="1" dirty="0">
                <a:solidFill>
                  <a:srgbClr val="0D9488"/>
                </a:solidFill>
              </a:rPr>
              <a:t>6</a:t>
            </a:r>
            <a:endParaRPr lang="en-US" sz="1000" dirty="0"/>
          </a:p>
        </p:txBody>
      </p:sp>
      <p:sp>
        <p:nvSpPr>
          <p:cNvPr id="26" name="Text 22"/>
          <p:cNvSpPr/>
          <p:nvPr/>
        </p:nvSpPr>
        <p:spPr>
          <a:xfrm>
            <a:off x="5623560" y="5029200"/>
            <a:ext cx="5669280" cy="411480"/>
          </a:xfrm>
          <a:prstGeom prst="rect">
            <a:avLst/>
          </a:prstGeom>
          <a:noFill/>
          <a:ln/>
        </p:spPr>
        <p:txBody>
          <a:bodyPr wrap="square" rtlCol="0" anchor="ctr"/>
          <a:lstStyle/>
          <a:p>
            <a:pPr indent="0" marL="0">
              <a:buNone/>
            </a:pPr>
            <a:r>
              <a:rPr lang="en-US" sz="950" dirty="0">
                <a:solidFill>
                  <a:srgbClr val="475569"/>
                </a:solidFill>
                <a:latin typeface="Arial" pitchFamily="34" charset="0"/>
                <a:ea typeface="Arial" pitchFamily="34" charset="-122"/>
                <a:cs typeface="Arial" pitchFamily="34" charset="-120"/>
              </a:rPr>
              <a:t>User Responds: Taken / Missed — Patient marks dose status directly from the reminder or daily dashboard.</a:t>
            </a:r>
            <a:endParaRPr lang="en-US" sz="950" dirty="0"/>
          </a:p>
        </p:txBody>
      </p:sp>
      <p:sp>
        <p:nvSpPr>
          <p:cNvPr id="27" name="Shape 23"/>
          <p:cNvSpPr/>
          <p:nvPr/>
        </p:nvSpPr>
        <p:spPr>
          <a:xfrm>
            <a:off x="5120640" y="5596128"/>
            <a:ext cx="6336792" cy="594360"/>
          </a:xfrm>
          <a:prstGeom prst="roundRect">
            <a:avLst>
              <a:gd name="adj" fmla="val 12308"/>
            </a:avLst>
          </a:prstGeom>
          <a:solidFill>
            <a:srgbClr val="FFFFFF"/>
          </a:solidFill>
          <a:ln w="12700">
            <a:solidFill>
              <a:srgbClr val="E2E8F0"/>
            </a:solidFill>
            <a:prstDash val="solid"/>
          </a:ln>
        </p:spPr>
      </p:sp>
      <p:sp>
        <p:nvSpPr>
          <p:cNvPr id="28" name="Text 24"/>
          <p:cNvSpPr/>
          <p:nvPr/>
        </p:nvSpPr>
        <p:spPr>
          <a:xfrm>
            <a:off x="5257800" y="5733288"/>
            <a:ext cx="320040" cy="320040"/>
          </a:xfrm>
          <a:prstGeom prst="rect">
            <a:avLst/>
          </a:prstGeom>
          <a:noFill/>
          <a:ln/>
        </p:spPr>
        <p:txBody>
          <a:bodyPr wrap="square" rtlCol="0" anchor="ctr"/>
          <a:lstStyle/>
          <a:p>
            <a:pPr indent="0" marL="0">
              <a:buNone/>
            </a:pPr>
            <a:r>
              <a:rPr lang="en-US" sz="1000" b="1" dirty="0">
                <a:solidFill>
                  <a:srgbClr val="0D9488"/>
                </a:solidFill>
              </a:rPr>
              <a:t>7</a:t>
            </a:r>
            <a:endParaRPr lang="en-US" sz="1000" dirty="0"/>
          </a:p>
        </p:txBody>
      </p:sp>
      <p:sp>
        <p:nvSpPr>
          <p:cNvPr id="29" name="Text 25"/>
          <p:cNvSpPr/>
          <p:nvPr/>
        </p:nvSpPr>
        <p:spPr>
          <a:xfrm>
            <a:off x="5623560" y="5687568"/>
            <a:ext cx="5669280" cy="411480"/>
          </a:xfrm>
          <a:prstGeom prst="rect">
            <a:avLst/>
          </a:prstGeom>
          <a:noFill/>
          <a:ln/>
        </p:spPr>
        <p:txBody>
          <a:bodyPr wrap="square" rtlCol="0" anchor="ctr"/>
          <a:lstStyle/>
          <a:p>
            <a:pPr indent="0" marL="0">
              <a:buNone/>
            </a:pPr>
            <a:r>
              <a:rPr lang="en-US" sz="950" dirty="0">
                <a:solidFill>
                  <a:srgbClr val="475569"/>
                </a:solidFill>
                <a:latin typeface="Arial" pitchFamily="34" charset="0"/>
                <a:ea typeface="Arial" pitchFamily="34" charset="-122"/>
                <a:cs typeface="Arial" pitchFamily="34" charset="-120"/>
              </a:rPr>
              <a:t>Status Stored in MySQL History — Event is committed to database; adherence compliance metrics update instantly.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731520" y="365760"/>
            <a:ext cx="2286000" cy="274320"/>
          </a:xfrm>
          <a:prstGeom prst="roundRect">
            <a:avLst>
              <a:gd name="adj" fmla="val 50000"/>
            </a:avLst>
          </a:prstGeom>
          <a:solidFill>
            <a:srgbClr val="F0FDFA"/>
          </a:solidFill>
          <a:ln w="12700">
            <a:solidFill>
              <a:srgbClr val="0D9488"/>
            </a:solidFill>
            <a:prstDash val="solid"/>
          </a:ln>
        </p:spPr>
      </p:sp>
      <p:sp>
        <p:nvSpPr>
          <p:cNvPr id="4" name="Text 1"/>
          <p:cNvSpPr/>
          <p:nvPr/>
        </p:nvSpPr>
        <p:spPr>
          <a:xfrm>
            <a:off x="731520" y="365760"/>
            <a:ext cx="2286000" cy="274320"/>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APPLICATION LOGIC</a:t>
            </a:r>
            <a:endParaRPr lang="en-US" sz="900" dirty="0"/>
          </a:p>
        </p:txBody>
      </p:sp>
      <p:sp>
        <p:nvSpPr>
          <p:cNvPr id="5" name="Text 2"/>
          <p:cNvSpPr/>
          <p:nvPr/>
        </p:nvSpPr>
        <p:spPr>
          <a:xfrm>
            <a:off x="7772400" y="365760"/>
            <a:ext cx="36576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DoseTrack · BCA S5 · KMCT IETM (KTU)</a:t>
            </a:r>
            <a:endParaRPr lang="en-US" sz="900" dirty="0"/>
          </a:p>
        </p:txBody>
      </p:sp>
      <p:sp>
        <p:nvSpPr>
          <p:cNvPr id="6" name="Text 3"/>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Algorithms &amp; Core Logic</a:t>
            </a:r>
            <a:endParaRPr lang="en-US" sz="2200" dirty="0"/>
          </a:p>
        </p:txBody>
      </p:sp>
      <p:sp>
        <p:nvSpPr>
          <p:cNvPr id="7" name="Text 4"/>
          <p:cNvSpPr/>
          <p:nvPr/>
        </p:nvSpPr>
        <p:spPr>
          <a:xfrm>
            <a:off x="731520" y="1188720"/>
            <a:ext cx="10515600" cy="32004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Deterministic rule-based workflows powering authentication, CRUD, reminders, and adherence monitoring.</a:t>
            </a:r>
            <a:endParaRPr lang="en-US" sz="1100" dirty="0"/>
          </a:p>
        </p:txBody>
      </p:sp>
      <p:sp>
        <p:nvSpPr>
          <p:cNvPr id="8" name="Shape 5"/>
          <p:cNvSpPr/>
          <p:nvPr/>
        </p:nvSpPr>
        <p:spPr>
          <a:xfrm>
            <a:off x="731520" y="1645920"/>
            <a:ext cx="5212080" cy="2194560"/>
          </a:xfrm>
          <a:prstGeom prst="roundRect">
            <a:avLst>
              <a:gd name="adj" fmla="val 3333"/>
            </a:avLst>
          </a:prstGeom>
          <a:solidFill>
            <a:srgbClr val="FFFFFF"/>
          </a:solidFill>
          <a:ln w="12700">
            <a:solidFill>
              <a:srgbClr val="E2E8F0"/>
            </a:solidFill>
            <a:prstDash val="solid"/>
          </a:ln>
        </p:spPr>
      </p:sp>
      <p:sp>
        <p:nvSpPr>
          <p:cNvPr id="9" name="Shape 6"/>
          <p:cNvSpPr/>
          <p:nvPr/>
        </p:nvSpPr>
        <p:spPr>
          <a:xfrm>
            <a:off x="740664" y="1655064"/>
            <a:ext cx="5193792" cy="54864"/>
          </a:xfrm>
          <a:prstGeom prst="rect">
            <a:avLst/>
          </a:prstGeom>
          <a:solidFill>
            <a:srgbClr val="0D9488"/>
          </a:solidFill>
          <a:ln w="12700">
            <a:solidFill>
              <a:srgbClr val="0D9488"/>
            </a:solidFill>
            <a:prstDash val="solid"/>
          </a:ln>
        </p:spPr>
      </p:sp>
      <p:sp>
        <p:nvSpPr>
          <p:cNvPr id="10" name="Text 7"/>
          <p:cNvSpPr/>
          <p:nvPr/>
        </p:nvSpPr>
        <p:spPr>
          <a:xfrm>
            <a:off x="914400" y="1783080"/>
            <a:ext cx="4846320" cy="274320"/>
          </a:xfrm>
          <a:prstGeom prst="rect">
            <a:avLst/>
          </a:prstGeom>
          <a:noFill/>
          <a:ln/>
        </p:spPr>
        <p:txBody>
          <a:bodyPr wrap="square" rtlCol="0" anchor="ctr"/>
          <a:lstStyle/>
          <a:p>
            <a:pPr indent="0" marL="0">
              <a:buNone/>
            </a:pPr>
            <a:r>
              <a:rPr lang="en-US" sz="1200" b="1" dirty="0">
                <a:solidFill>
                  <a:srgbClr val="0F172A"/>
                </a:solidFill>
              </a:rPr>
              <a:t>1. Authentication &amp; Session Logic</a:t>
            </a:r>
            <a:endParaRPr lang="en-US" sz="1200" dirty="0"/>
          </a:p>
        </p:txBody>
      </p:sp>
      <p:sp>
        <p:nvSpPr>
          <p:cNvPr id="11" name="Text 8"/>
          <p:cNvSpPr/>
          <p:nvPr/>
        </p:nvSpPr>
        <p:spPr>
          <a:xfrm>
            <a:off x="914400" y="2103120"/>
            <a:ext cx="4846320" cy="1554480"/>
          </a:xfrm>
          <a:prstGeom prst="rect">
            <a:avLst/>
          </a:prstGeom>
          <a:noFill/>
          <a:ln/>
        </p:spPr>
        <p:txBody>
          <a:bodyPr wrap="square" rtlCol="0" anchor="ctr"/>
          <a:lstStyle/>
          <a:p>
            <a:pPr indent="0" marL="0">
              <a:lnSpc>
                <a:spcPct val="120000"/>
              </a:lnSpc>
              <a:buNone/>
            </a:pPr>
            <a:r>
              <a:rPr lang="en-US" sz="950" b="1" dirty="0">
                <a:solidFill>
                  <a:srgbClr val="475569"/>
                </a:solidFill>
              </a:rPr>
              <a:t>• Input: </a:t>
            </a:r>
            <a:pPr indent="0" marL="0">
              <a:lnSpc>
                <a:spcPct val="120000"/>
              </a:lnSpc>
              <a:buNone/>
            </a:pPr>
            <a:r>
              <a:rPr lang="en-US" sz="950" dirty="0">
                <a:solidFill>
                  <a:srgbClr val="475569"/>
                </a:solidFill>
              </a:rPr>
              <a:t>User email &amp; password credentials.
</a:t>
            </a:r>
            <a:pPr indent="0" marL="0">
              <a:lnSpc>
                <a:spcPct val="120000"/>
              </a:lnSpc>
              <a:buNone/>
            </a:pPr>
            <a:r>
              <a:rPr lang="en-US" sz="950" b="1" dirty="0">
                <a:solidFill>
                  <a:srgbClr val="475569"/>
                </a:solidFill>
              </a:rPr>
              <a:t>• Step 1: </a:t>
            </a:r>
            <a:pPr indent="0" marL="0">
              <a:lnSpc>
                <a:spcPct val="120000"/>
              </a:lnSpc>
              <a:buNone/>
            </a:pPr>
            <a:r>
              <a:rPr lang="en-US" sz="950" dirty="0">
                <a:solidFill>
                  <a:srgbClr val="475569"/>
                </a:solidFill>
              </a:rPr>
              <a:t>Query users table for unique registered email.
</a:t>
            </a:r>
            <a:pPr indent="0" marL="0">
              <a:lnSpc>
                <a:spcPct val="120000"/>
              </a:lnSpc>
              <a:buNone/>
            </a:pPr>
            <a:r>
              <a:rPr lang="en-US" sz="950" b="1" dirty="0">
                <a:solidFill>
                  <a:srgbClr val="475569"/>
                </a:solidFill>
              </a:rPr>
              <a:t>• Step 2: </a:t>
            </a:r>
            <a:pPr indent="0" marL="0">
              <a:lnSpc>
                <a:spcPct val="120000"/>
              </a:lnSpc>
              <a:buNone/>
            </a:pPr>
            <a:r>
              <a:rPr lang="en-US" sz="950" dirty="0">
                <a:solidFill>
                  <a:srgbClr val="475569"/>
                </a:solidFill>
              </a:rPr>
              <a:t>Verify submitted password against stored secure hash.
</a:t>
            </a:r>
            <a:pPr indent="0" marL="0">
              <a:lnSpc>
                <a:spcPct val="120000"/>
              </a:lnSpc>
              <a:buNone/>
            </a:pPr>
            <a:r>
              <a:rPr lang="en-US" sz="950" b="1" dirty="0">
                <a:solidFill>
                  <a:srgbClr val="475569"/>
                </a:solidFill>
              </a:rPr>
              <a:t>• Step 3: </a:t>
            </a:r>
            <a:pPr indent="0" marL="0">
              <a:lnSpc>
                <a:spcPct val="120000"/>
              </a:lnSpc>
              <a:buNone/>
            </a:pPr>
            <a:r>
              <a:rPr lang="en-US" sz="950" dirty="0">
                <a:solidFill>
                  <a:srgbClr val="475569"/>
                </a:solidFill>
              </a:rPr>
              <a:t>Initialize authenticated session binding user ID to all data requests.</a:t>
            </a:r>
            <a:endParaRPr lang="en-US" sz="950" dirty="0"/>
          </a:p>
        </p:txBody>
      </p:sp>
      <p:sp>
        <p:nvSpPr>
          <p:cNvPr id="12" name="Shape 9"/>
          <p:cNvSpPr/>
          <p:nvPr/>
        </p:nvSpPr>
        <p:spPr>
          <a:xfrm>
            <a:off x="6245352" y="1645920"/>
            <a:ext cx="5212080" cy="2194560"/>
          </a:xfrm>
          <a:prstGeom prst="roundRect">
            <a:avLst>
              <a:gd name="adj" fmla="val 3333"/>
            </a:avLst>
          </a:prstGeom>
          <a:solidFill>
            <a:srgbClr val="FFFFFF"/>
          </a:solidFill>
          <a:ln w="12700">
            <a:solidFill>
              <a:srgbClr val="E2E8F0"/>
            </a:solidFill>
            <a:prstDash val="solid"/>
          </a:ln>
        </p:spPr>
      </p:sp>
      <p:sp>
        <p:nvSpPr>
          <p:cNvPr id="13" name="Shape 10"/>
          <p:cNvSpPr/>
          <p:nvPr/>
        </p:nvSpPr>
        <p:spPr>
          <a:xfrm>
            <a:off x="6254496" y="1655064"/>
            <a:ext cx="5193792" cy="54864"/>
          </a:xfrm>
          <a:prstGeom prst="rect">
            <a:avLst/>
          </a:prstGeom>
          <a:solidFill>
            <a:srgbClr val="0284C7"/>
          </a:solidFill>
          <a:ln w="12700">
            <a:solidFill>
              <a:srgbClr val="0284C7"/>
            </a:solidFill>
            <a:prstDash val="solid"/>
          </a:ln>
        </p:spPr>
      </p:sp>
      <p:sp>
        <p:nvSpPr>
          <p:cNvPr id="14" name="Text 11"/>
          <p:cNvSpPr/>
          <p:nvPr/>
        </p:nvSpPr>
        <p:spPr>
          <a:xfrm>
            <a:off x="6428232" y="1783080"/>
            <a:ext cx="4846320" cy="274320"/>
          </a:xfrm>
          <a:prstGeom prst="rect">
            <a:avLst/>
          </a:prstGeom>
          <a:noFill/>
          <a:ln/>
        </p:spPr>
        <p:txBody>
          <a:bodyPr wrap="square" rtlCol="0" anchor="ctr"/>
          <a:lstStyle/>
          <a:p>
            <a:pPr indent="0" marL="0">
              <a:buNone/>
            </a:pPr>
            <a:r>
              <a:rPr lang="en-US" sz="1200" b="1" dirty="0">
                <a:solidFill>
                  <a:srgbClr val="0F172A"/>
                </a:solidFill>
              </a:rPr>
              <a:t>2. Medication CRUD Logic</a:t>
            </a:r>
            <a:endParaRPr lang="en-US" sz="1200" dirty="0"/>
          </a:p>
        </p:txBody>
      </p:sp>
      <p:sp>
        <p:nvSpPr>
          <p:cNvPr id="15" name="Text 12"/>
          <p:cNvSpPr/>
          <p:nvPr/>
        </p:nvSpPr>
        <p:spPr>
          <a:xfrm>
            <a:off x="6428232" y="2103120"/>
            <a:ext cx="4846320" cy="1554480"/>
          </a:xfrm>
          <a:prstGeom prst="rect">
            <a:avLst/>
          </a:prstGeom>
          <a:noFill/>
          <a:ln/>
        </p:spPr>
        <p:txBody>
          <a:bodyPr wrap="square" rtlCol="0" anchor="ctr"/>
          <a:lstStyle/>
          <a:p>
            <a:pPr indent="0" marL="0">
              <a:lnSpc>
                <a:spcPct val="120000"/>
              </a:lnSpc>
              <a:buNone/>
            </a:pPr>
            <a:r>
              <a:rPr lang="en-US" sz="950" b="1" dirty="0">
                <a:solidFill>
                  <a:srgbClr val="475569"/>
                </a:solidFill>
              </a:rPr>
              <a:t>• Create: </a:t>
            </a:r>
            <a:pPr indent="0" marL="0">
              <a:lnSpc>
                <a:spcPct val="120000"/>
              </a:lnSpc>
              <a:buNone/>
            </a:pPr>
            <a:r>
              <a:rPr lang="en-US" sz="950" dirty="0">
                <a:solidFill>
                  <a:srgbClr val="475569"/>
                </a:solidFill>
              </a:rPr>
              <a:t>Insert medication row with user_id, dosage &amp; instructions.
</a:t>
            </a:r>
            <a:pPr indent="0" marL="0">
              <a:lnSpc>
                <a:spcPct val="120000"/>
              </a:lnSpc>
              <a:buNone/>
            </a:pPr>
            <a:r>
              <a:rPr lang="en-US" sz="950" b="1" dirty="0">
                <a:solidFill>
                  <a:srgbClr val="475569"/>
                </a:solidFill>
              </a:rPr>
              <a:t>• Read: </a:t>
            </a:r>
            <a:pPr indent="0" marL="0">
              <a:lnSpc>
                <a:spcPct val="120000"/>
              </a:lnSpc>
              <a:buNone/>
            </a:pPr>
            <a:r>
              <a:rPr lang="en-US" sz="950" dirty="0">
                <a:solidFill>
                  <a:srgbClr val="475569"/>
                </a:solidFill>
              </a:rPr>
              <a:t>Retrieve active medicines where start_date &lt;= NOW() &lt;= end_date.
</a:t>
            </a:r>
            <a:pPr indent="0" marL="0">
              <a:lnSpc>
                <a:spcPct val="120000"/>
              </a:lnSpc>
              <a:buNone/>
            </a:pPr>
            <a:r>
              <a:rPr lang="en-US" sz="950" b="1" dirty="0">
                <a:solidFill>
                  <a:srgbClr val="475569"/>
                </a:solidFill>
              </a:rPr>
              <a:t>• Update: </a:t>
            </a:r>
            <a:pPr indent="0" marL="0">
              <a:lnSpc>
                <a:spcPct val="120000"/>
              </a:lnSpc>
              <a:buNone/>
            </a:pPr>
            <a:r>
              <a:rPr lang="en-US" sz="950" dirty="0">
                <a:solidFill>
                  <a:srgbClr val="475569"/>
                </a:solidFill>
              </a:rPr>
              <a:t>Validate and update dosage, frequency, or instructions.
</a:t>
            </a:r>
            <a:pPr indent="0" marL="0">
              <a:lnSpc>
                <a:spcPct val="120000"/>
              </a:lnSpc>
              <a:buNone/>
            </a:pPr>
            <a:r>
              <a:rPr lang="en-US" sz="950" b="1" dirty="0">
                <a:solidFill>
                  <a:srgbClr val="475569"/>
                </a:solidFill>
              </a:rPr>
              <a:t>• Delete: </a:t>
            </a:r>
            <a:pPr indent="0" marL="0">
              <a:lnSpc>
                <a:spcPct val="120000"/>
              </a:lnSpc>
              <a:buNone/>
            </a:pPr>
            <a:r>
              <a:rPr lang="en-US" sz="950" dirty="0">
                <a:solidFill>
                  <a:srgbClr val="475569"/>
                </a:solidFill>
              </a:rPr>
              <a:t>Cascade delete associated dosage schedules and alert logs.</a:t>
            </a:r>
            <a:endParaRPr lang="en-US" sz="950" dirty="0"/>
          </a:p>
        </p:txBody>
      </p:sp>
      <p:sp>
        <p:nvSpPr>
          <p:cNvPr id="16" name="Shape 13"/>
          <p:cNvSpPr/>
          <p:nvPr/>
        </p:nvSpPr>
        <p:spPr>
          <a:xfrm>
            <a:off x="731520" y="4023360"/>
            <a:ext cx="5212080" cy="2286000"/>
          </a:xfrm>
          <a:prstGeom prst="roundRect">
            <a:avLst>
              <a:gd name="adj" fmla="val 3200"/>
            </a:avLst>
          </a:prstGeom>
          <a:solidFill>
            <a:srgbClr val="FFFFFF"/>
          </a:solidFill>
          <a:ln w="12700">
            <a:solidFill>
              <a:srgbClr val="E2E8F0"/>
            </a:solidFill>
            <a:prstDash val="solid"/>
          </a:ln>
        </p:spPr>
      </p:sp>
      <p:sp>
        <p:nvSpPr>
          <p:cNvPr id="17" name="Shape 14"/>
          <p:cNvSpPr/>
          <p:nvPr/>
        </p:nvSpPr>
        <p:spPr>
          <a:xfrm>
            <a:off x="740664" y="4032504"/>
            <a:ext cx="5193792" cy="54864"/>
          </a:xfrm>
          <a:prstGeom prst="rect">
            <a:avLst/>
          </a:prstGeom>
          <a:solidFill>
            <a:srgbClr val="D97706"/>
          </a:solidFill>
          <a:ln w="12700">
            <a:solidFill>
              <a:srgbClr val="D97706"/>
            </a:solidFill>
            <a:prstDash val="solid"/>
          </a:ln>
        </p:spPr>
      </p:sp>
      <p:sp>
        <p:nvSpPr>
          <p:cNvPr id="18" name="Text 15"/>
          <p:cNvSpPr/>
          <p:nvPr/>
        </p:nvSpPr>
        <p:spPr>
          <a:xfrm>
            <a:off x="914400" y="4160520"/>
            <a:ext cx="4846320" cy="274320"/>
          </a:xfrm>
          <a:prstGeom prst="rect">
            <a:avLst/>
          </a:prstGeom>
          <a:noFill/>
          <a:ln/>
        </p:spPr>
        <p:txBody>
          <a:bodyPr wrap="square" rtlCol="0" anchor="ctr"/>
          <a:lstStyle/>
          <a:p>
            <a:pPr indent="0" marL="0">
              <a:buNone/>
            </a:pPr>
            <a:r>
              <a:rPr lang="en-US" sz="1200" b="1" dirty="0">
                <a:solidFill>
                  <a:srgbClr val="0F172A"/>
                </a:solidFill>
              </a:rPr>
              <a:t>3. Reminder Triggering Logic</a:t>
            </a:r>
            <a:endParaRPr lang="en-US" sz="1200" dirty="0"/>
          </a:p>
        </p:txBody>
      </p:sp>
      <p:sp>
        <p:nvSpPr>
          <p:cNvPr id="19" name="Text 16"/>
          <p:cNvSpPr/>
          <p:nvPr/>
        </p:nvSpPr>
        <p:spPr>
          <a:xfrm>
            <a:off x="914400" y="4480560"/>
            <a:ext cx="4846320" cy="1645920"/>
          </a:xfrm>
          <a:prstGeom prst="rect">
            <a:avLst/>
          </a:prstGeom>
          <a:noFill/>
          <a:ln/>
        </p:spPr>
        <p:txBody>
          <a:bodyPr wrap="square" rtlCol="0" anchor="ctr"/>
          <a:lstStyle/>
          <a:p>
            <a:pPr indent="0" marL="0">
              <a:lnSpc>
                <a:spcPct val="120000"/>
              </a:lnSpc>
              <a:buNone/>
            </a:pPr>
            <a:r>
              <a:rPr lang="en-US" sz="950" b="1" dirty="0">
                <a:solidFill>
                  <a:srgbClr val="475569"/>
                </a:solidFill>
              </a:rPr>
              <a:t>• Input: </a:t>
            </a:r>
            <a:pPr indent="0" marL="0">
              <a:lnSpc>
                <a:spcPct val="120000"/>
              </a:lnSpc>
              <a:buNone/>
            </a:pPr>
            <a:r>
              <a:rPr lang="en-US" sz="950" dirty="0">
                <a:solidFill>
                  <a:srgbClr val="475569"/>
                </a:solidFill>
              </a:rPr>
              <a:t>Active schedules S = {dose_time, active}.
</a:t>
            </a:r>
            <a:pPr indent="0" marL="0">
              <a:lnSpc>
                <a:spcPct val="120000"/>
              </a:lnSpc>
              <a:buNone/>
            </a:pPr>
            <a:r>
              <a:rPr lang="en-US" sz="950" b="1" dirty="0">
                <a:solidFill>
                  <a:srgbClr val="475569"/>
                </a:solidFill>
              </a:rPr>
              <a:t>• Step 1: </a:t>
            </a:r>
            <a:pPr indent="0" marL="0">
              <a:lnSpc>
                <a:spcPct val="120000"/>
              </a:lnSpc>
              <a:buNone/>
            </a:pPr>
            <a:r>
              <a:rPr lang="en-US" sz="950" dirty="0">
                <a:solidFill>
                  <a:srgbClr val="475569"/>
                </a:solidFill>
              </a:rPr>
              <a:t>Compare current system time T_now with dose_time.
</a:t>
            </a:r>
            <a:pPr indent="0" marL="0">
              <a:lnSpc>
                <a:spcPct val="120000"/>
              </a:lnSpc>
              <a:buNone/>
            </a:pPr>
            <a:r>
              <a:rPr lang="en-US" sz="950" b="1" dirty="0">
                <a:solidFill>
                  <a:srgbClr val="475569"/>
                </a:solidFill>
              </a:rPr>
              <a:t>• Step 2: </a:t>
            </a:r>
            <a:pPr indent="0" marL="0">
              <a:lnSpc>
                <a:spcPct val="120000"/>
              </a:lnSpc>
              <a:buNone/>
            </a:pPr>
            <a:r>
              <a:rPr lang="en-US" sz="950" dirty="0">
                <a:solidFill>
                  <a:srgbClr val="475569"/>
                </a:solidFill>
              </a:rPr>
              <a:t>Check if an event already exists in dose_events for today.
</a:t>
            </a:r>
            <a:pPr indent="0" marL="0">
              <a:lnSpc>
                <a:spcPct val="120000"/>
              </a:lnSpc>
              <a:buNone/>
            </a:pPr>
            <a:r>
              <a:rPr lang="en-US" sz="950" b="1" dirty="0">
                <a:solidFill>
                  <a:srgbClr val="475569"/>
                </a:solidFill>
              </a:rPr>
              <a:t>• Step 3: </a:t>
            </a:r>
            <a:pPr indent="0" marL="0">
              <a:lnSpc>
                <a:spcPct val="120000"/>
              </a:lnSpc>
              <a:buNone/>
            </a:pPr>
            <a:r>
              <a:rPr lang="en-US" sz="950" dirty="0">
                <a:solidFill>
                  <a:srgbClr val="475569"/>
                </a:solidFill>
              </a:rPr>
              <a:t>If T_now &gt;= dose_time and not recorded, trigger dashboard alert.</a:t>
            </a:r>
            <a:endParaRPr lang="en-US" sz="950" dirty="0"/>
          </a:p>
        </p:txBody>
      </p:sp>
      <p:sp>
        <p:nvSpPr>
          <p:cNvPr id="20" name="Shape 17"/>
          <p:cNvSpPr/>
          <p:nvPr/>
        </p:nvSpPr>
        <p:spPr>
          <a:xfrm>
            <a:off x="6245352" y="4023360"/>
            <a:ext cx="5212080" cy="2286000"/>
          </a:xfrm>
          <a:prstGeom prst="roundRect">
            <a:avLst>
              <a:gd name="adj" fmla="val 3200"/>
            </a:avLst>
          </a:prstGeom>
          <a:solidFill>
            <a:srgbClr val="FFFFFF"/>
          </a:solidFill>
          <a:ln w="12700">
            <a:solidFill>
              <a:srgbClr val="E2E8F0"/>
            </a:solidFill>
            <a:prstDash val="solid"/>
          </a:ln>
        </p:spPr>
      </p:sp>
      <p:sp>
        <p:nvSpPr>
          <p:cNvPr id="21" name="Shape 18"/>
          <p:cNvSpPr/>
          <p:nvPr/>
        </p:nvSpPr>
        <p:spPr>
          <a:xfrm>
            <a:off x="6254496" y="4032504"/>
            <a:ext cx="5193792" cy="54864"/>
          </a:xfrm>
          <a:prstGeom prst="rect">
            <a:avLst/>
          </a:prstGeom>
          <a:solidFill>
            <a:srgbClr val="16A34A"/>
          </a:solidFill>
          <a:ln w="12700">
            <a:solidFill>
              <a:srgbClr val="16A34A"/>
            </a:solidFill>
            <a:prstDash val="solid"/>
          </a:ln>
        </p:spPr>
      </p:sp>
      <p:sp>
        <p:nvSpPr>
          <p:cNvPr id="22" name="Text 19"/>
          <p:cNvSpPr/>
          <p:nvPr/>
        </p:nvSpPr>
        <p:spPr>
          <a:xfrm>
            <a:off x="6428232" y="4160520"/>
            <a:ext cx="4846320" cy="274320"/>
          </a:xfrm>
          <a:prstGeom prst="rect">
            <a:avLst/>
          </a:prstGeom>
          <a:noFill/>
          <a:ln/>
        </p:spPr>
        <p:txBody>
          <a:bodyPr wrap="square" rtlCol="0" anchor="ctr"/>
          <a:lstStyle/>
          <a:p>
            <a:pPr indent="0" marL="0">
              <a:buNone/>
            </a:pPr>
            <a:r>
              <a:rPr lang="en-US" sz="1200" b="1" dirty="0">
                <a:solidFill>
                  <a:srgbClr val="0F172A"/>
                </a:solidFill>
              </a:rPr>
              <a:t>4. Adherence Evaluation Logic</a:t>
            </a:r>
            <a:endParaRPr lang="en-US" sz="1200" dirty="0"/>
          </a:p>
        </p:txBody>
      </p:sp>
      <p:sp>
        <p:nvSpPr>
          <p:cNvPr id="23" name="Text 20"/>
          <p:cNvSpPr/>
          <p:nvPr/>
        </p:nvSpPr>
        <p:spPr>
          <a:xfrm>
            <a:off x="6428232" y="4480560"/>
            <a:ext cx="4846320" cy="1645920"/>
          </a:xfrm>
          <a:prstGeom prst="rect">
            <a:avLst/>
          </a:prstGeom>
          <a:noFill/>
          <a:ln/>
        </p:spPr>
        <p:txBody>
          <a:bodyPr wrap="square" rtlCol="0" anchor="ctr"/>
          <a:lstStyle/>
          <a:p>
            <a:pPr indent="0" marL="0">
              <a:lnSpc>
                <a:spcPct val="120000"/>
              </a:lnSpc>
              <a:buNone/>
            </a:pPr>
            <a:r>
              <a:rPr lang="en-US" sz="950" b="1" dirty="0">
                <a:solidFill>
                  <a:srgbClr val="475569"/>
                </a:solidFill>
              </a:rPr>
              <a:t>• User Action: </a:t>
            </a:r>
            <a:pPr indent="0" marL="0">
              <a:lnSpc>
                <a:spcPct val="120000"/>
              </a:lnSpc>
              <a:buNone/>
            </a:pPr>
            <a:r>
              <a:rPr lang="en-US" sz="950" dirty="0">
                <a:solidFill>
                  <a:srgbClr val="475569"/>
                </a:solidFill>
              </a:rPr>
              <a:t>Patient selects Taken or Missed.
</a:t>
            </a:r>
            <a:pPr indent="0" marL="0">
              <a:lnSpc>
                <a:spcPct val="120000"/>
              </a:lnSpc>
              <a:buNone/>
            </a:pPr>
            <a:r>
              <a:rPr lang="en-US" sz="950" b="1" dirty="0">
                <a:solidFill>
                  <a:srgbClr val="475569"/>
                </a:solidFill>
              </a:rPr>
              <a:t>• Commit: </a:t>
            </a:r>
            <a:pPr indent="0" marL="0">
              <a:lnSpc>
                <a:spcPct val="120000"/>
              </a:lnSpc>
              <a:buNone/>
            </a:pPr>
            <a:r>
              <a:rPr lang="en-US" sz="950" dirty="0">
                <a:solidFill>
                  <a:srgbClr val="475569"/>
                </a:solidFill>
              </a:rPr>
              <a:t>Insert record into dose_events with timestamp.
</a:t>
            </a:r>
            <a:pPr indent="0" marL="0">
              <a:lnSpc>
                <a:spcPct val="120000"/>
              </a:lnSpc>
              <a:buNone/>
            </a:pPr>
            <a:r>
              <a:rPr lang="en-US" sz="950" b="1" dirty="0">
                <a:solidFill>
                  <a:srgbClr val="0D9488"/>
                </a:solidFill>
              </a:rPr>
              <a:t>• Formula: </a:t>
            </a:r>
            <a:pPr indent="0" marL="0">
              <a:lnSpc>
                <a:spcPct val="120000"/>
              </a:lnSpc>
              <a:buNone/>
            </a:pPr>
            <a:r>
              <a:rPr lang="en-US" sz="950" b="1" dirty="0">
                <a:solidFill>
                  <a:srgbClr val="0D9488"/>
                </a:solidFill>
              </a:rPr>
              <a:t>Adherence Rate (%) = (Total Taken / Total Scheduled) * 100%
</a:t>
            </a:r>
            <a:pPr indent="0" marL="0">
              <a:lnSpc>
                <a:spcPct val="120000"/>
              </a:lnSpc>
              <a:buNone/>
            </a:pPr>
            <a:r>
              <a:rPr lang="en-US" sz="950" b="1" dirty="0">
                <a:solidFill>
                  <a:srgbClr val="475569"/>
                </a:solidFill>
              </a:rPr>
              <a:t>• Update: </a:t>
            </a:r>
            <a:pPr indent="0" marL="0">
              <a:lnSpc>
                <a:spcPct val="120000"/>
              </a:lnSpc>
              <a:buNone/>
            </a:pPr>
            <a:r>
              <a:rPr lang="en-US" sz="950" dirty="0">
                <a:solidFill>
                  <a:srgbClr val="475569"/>
                </a:solidFill>
              </a:rPr>
              <a:t>Refreshes daily progress (e.g. 2/4 doses) and adherence history.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731520" y="365760"/>
            <a:ext cx="2286000" cy="274320"/>
          </a:xfrm>
          <a:prstGeom prst="roundRect">
            <a:avLst>
              <a:gd name="adj" fmla="val 50000"/>
            </a:avLst>
          </a:prstGeom>
          <a:solidFill>
            <a:srgbClr val="F0FDFA"/>
          </a:solidFill>
          <a:ln w="12700">
            <a:solidFill>
              <a:srgbClr val="0D9488"/>
            </a:solidFill>
            <a:prstDash val="solid"/>
          </a:ln>
        </p:spPr>
      </p:sp>
      <p:sp>
        <p:nvSpPr>
          <p:cNvPr id="4" name="Text 1"/>
          <p:cNvSpPr/>
          <p:nvPr/>
        </p:nvSpPr>
        <p:spPr>
          <a:xfrm>
            <a:off x="731520" y="365760"/>
            <a:ext cx="2286000" cy="274320"/>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MODULE ARCHITECTURE</a:t>
            </a:r>
            <a:endParaRPr lang="en-US" sz="900" dirty="0"/>
          </a:p>
        </p:txBody>
      </p:sp>
      <p:sp>
        <p:nvSpPr>
          <p:cNvPr id="5" name="Text 2"/>
          <p:cNvSpPr/>
          <p:nvPr/>
        </p:nvSpPr>
        <p:spPr>
          <a:xfrm>
            <a:off x="7772400" y="365760"/>
            <a:ext cx="36576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DoseTrack · BCA S5 · KMCT IETM (KTU)</a:t>
            </a:r>
            <a:endParaRPr lang="en-US" sz="900" dirty="0"/>
          </a:p>
        </p:txBody>
      </p:sp>
      <p:sp>
        <p:nvSpPr>
          <p:cNvPr id="6" name="Text 3"/>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Modules Developed</a:t>
            </a:r>
            <a:endParaRPr lang="en-US" sz="2200" dirty="0"/>
          </a:p>
        </p:txBody>
      </p:sp>
      <p:sp>
        <p:nvSpPr>
          <p:cNvPr id="7" name="Text 4"/>
          <p:cNvSpPr/>
          <p:nvPr/>
        </p:nvSpPr>
        <p:spPr>
          <a:xfrm>
            <a:off x="731520" y="1188720"/>
            <a:ext cx="10515600" cy="32004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Core interconnected subsystems documented in Table 5.1 of the report.</a:t>
            </a:r>
            <a:endParaRPr lang="en-US" sz="1100" dirty="0"/>
          </a:p>
        </p:txBody>
      </p:sp>
      <p:sp>
        <p:nvSpPr>
          <p:cNvPr id="8" name="Shape 5"/>
          <p:cNvSpPr/>
          <p:nvPr/>
        </p:nvSpPr>
        <p:spPr>
          <a:xfrm>
            <a:off x="731520" y="1645920"/>
            <a:ext cx="5285232" cy="987552"/>
          </a:xfrm>
          <a:prstGeom prst="roundRect">
            <a:avLst>
              <a:gd name="adj" fmla="val 7407"/>
            </a:avLst>
          </a:prstGeom>
          <a:solidFill>
            <a:srgbClr val="FFFFFF"/>
          </a:solidFill>
          <a:ln w="12700">
            <a:solidFill>
              <a:srgbClr val="E2E8F0"/>
            </a:solidFill>
            <a:prstDash val="solid"/>
          </a:ln>
        </p:spPr>
      </p:sp>
      <p:sp>
        <p:nvSpPr>
          <p:cNvPr id="9" name="Text 6"/>
          <p:cNvSpPr/>
          <p:nvPr/>
        </p:nvSpPr>
        <p:spPr>
          <a:xfrm>
            <a:off x="914400" y="1755648"/>
            <a:ext cx="4919472" cy="274320"/>
          </a:xfrm>
          <a:prstGeom prst="rect">
            <a:avLst/>
          </a:prstGeom>
          <a:noFill/>
          <a:ln/>
        </p:spPr>
        <p:txBody>
          <a:bodyPr wrap="square" rtlCol="0" anchor="ctr"/>
          <a:lstStyle/>
          <a:p>
            <a:pPr indent="0" marL="0">
              <a:buNone/>
            </a:pPr>
            <a:r>
              <a:rPr lang="en-US" sz="1100" b="1" dirty="0">
                <a:solidFill>
                  <a:srgbClr val="0F172A"/>
                </a:solidFill>
              </a:rPr>
              <a:t>1. User Management</a:t>
            </a:r>
            <a:endParaRPr lang="en-US" sz="1100" dirty="0"/>
          </a:p>
        </p:txBody>
      </p:sp>
      <p:sp>
        <p:nvSpPr>
          <p:cNvPr id="10" name="Text 7"/>
          <p:cNvSpPr/>
          <p:nvPr/>
        </p:nvSpPr>
        <p:spPr>
          <a:xfrm>
            <a:off x="914400" y="2057400"/>
            <a:ext cx="4919472" cy="502920"/>
          </a:xfrm>
          <a:prstGeom prst="rect">
            <a:avLst/>
          </a:prstGeom>
          <a:noFill/>
          <a:ln/>
        </p:spPr>
        <p:txBody>
          <a:bodyPr wrap="square" rtlCol="0" anchor="ctr"/>
          <a:lstStyle/>
          <a:p>
            <a:pPr indent="0" marL="0">
              <a:buNone/>
            </a:pPr>
            <a:r>
              <a:rPr lang="en-US" sz="950" dirty="0">
                <a:solidFill>
                  <a:srgbClr val="475569"/>
                </a:solidFill>
              </a:rPr>
              <a:t>Registration, secure login, profile information, and account context.</a:t>
            </a:r>
            <a:endParaRPr lang="en-US" sz="950" dirty="0"/>
          </a:p>
        </p:txBody>
      </p:sp>
      <p:sp>
        <p:nvSpPr>
          <p:cNvPr id="11" name="Shape 8"/>
          <p:cNvSpPr/>
          <p:nvPr/>
        </p:nvSpPr>
        <p:spPr>
          <a:xfrm>
            <a:off x="6172200" y="1645920"/>
            <a:ext cx="5285232" cy="987552"/>
          </a:xfrm>
          <a:prstGeom prst="roundRect">
            <a:avLst>
              <a:gd name="adj" fmla="val 7407"/>
            </a:avLst>
          </a:prstGeom>
          <a:solidFill>
            <a:srgbClr val="FFFFFF"/>
          </a:solidFill>
          <a:ln w="12700">
            <a:solidFill>
              <a:srgbClr val="E2E8F0"/>
            </a:solidFill>
            <a:prstDash val="solid"/>
          </a:ln>
        </p:spPr>
      </p:sp>
      <p:sp>
        <p:nvSpPr>
          <p:cNvPr id="12" name="Text 9"/>
          <p:cNvSpPr/>
          <p:nvPr/>
        </p:nvSpPr>
        <p:spPr>
          <a:xfrm>
            <a:off x="6355080" y="1755648"/>
            <a:ext cx="4919472" cy="274320"/>
          </a:xfrm>
          <a:prstGeom prst="rect">
            <a:avLst/>
          </a:prstGeom>
          <a:noFill/>
          <a:ln/>
        </p:spPr>
        <p:txBody>
          <a:bodyPr wrap="square" rtlCol="0" anchor="ctr"/>
          <a:lstStyle/>
          <a:p>
            <a:pPr indent="0" marL="0">
              <a:buNone/>
            </a:pPr>
            <a:r>
              <a:rPr lang="en-US" sz="1100" b="1" dirty="0">
                <a:solidFill>
                  <a:srgbClr val="0F172A"/>
                </a:solidFill>
              </a:rPr>
              <a:t>2. Medication Management</a:t>
            </a:r>
            <a:endParaRPr lang="en-US" sz="1100" dirty="0"/>
          </a:p>
        </p:txBody>
      </p:sp>
      <p:sp>
        <p:nvSpPr>
          <p:cNvPr id="13" name="Text 10"/>
          <p:cNvSpPr/>
          <p:nvPr/>
        </p:nvSpPr>
        <p:spPr>
          <a:xfrm>
            <a:off x="6355080" y="2057400"/>
            <a:ext cx="4919472" cy="502920"/>
          </a:xfrm>
          <a:prstGeom prst="rect">
            <a:avLst/>
          </a:prstGeom>
          <a:noFill/>
          <a:ln/>
        </p:spPr>
        <p:txBody>
          <a:bodyPr wrap="square" rtlCol="0" anchor="ctr"/>
          <a:lstStyle/>
          <a:p>
            <a:pPr indent="0" marL="0">
              <a:buNone/>
            </a:pPr>
            <a:r>
              <a:rPr lang="en-US" sz="950" dirty="0">
                <a:solidFill>
                  <a:srgbClr val="475569"/>
                </a:solidFill>
              </a:rPr>
              <a:t>Add, edit, view, and delete medication records and instructions.</a:t>
            </a:r>
            <a:endParaRPr lang="en-US" sz="950" dirty="0"/>
          </a:p>
        </p:txBody>
      </p:sp>
      <p:sp>
        <p:nvSpPr>
          <p:cNvPr id="14" name="Shape 11"/>
          <p:cNvSpPr/>
          <p:nvPr/>
        </p:nvSpPr>
        <p:spPr>
          <a:xfrm>
            <a:off x="731520" y="2761488"/>
            <a:ext cx="5285232" cy="987552"/>
          </a:xfrm>
          <a:prstGeom prst="roundRect">
            <a:avLst>
              <a:gd name="adj" fmla="val 7407"/>
            </a:avLst>
          </a:prstGeom>
          <a:solidFill>
            <a:srgbClr val="FFFFFF"/>
          </a:solidFill>
          <a:ln w="12700">
            <a:solidFill>
              <a:srgbClr val="E2E8F0"/>
            </a:solidFill>
            <a:prstDash val="solid"/>
          </a:ln>
        </p:spPr>
      </p:sp>
      <p:sp>
        <p:nvSpPr>
          <p:cNvPr id="15" name="Text 12"/>
          <p:cNvSpPr/>
          <p:nvPr/>
        </p:nvSpPr>
        <p:spPr>
          <a:xfrm>
            <a:off x="914400" y="2871216"/>
            <a:ext cx="4919472" cy="274320"/>
          </a:xfrm>
          <a:prstGeom prst="rect">
            <a:avLst/>
          </a:prstGeom>
          <a:noFill/>
          <a:ln/>
        </p:spPr>
        <p:txBody>
          <a:bodyPr wrap="square" rtlCol="0" anchor="ctr"/>
          <a:lstStyle/>
          <a:p>
            <a:pPr indent="0" marL="0">
              <a:buNone/>
            </a:pPr>
            <a:r>
              <a:rPr lang="en-US" sz="1100" b="1" dirty="0">
                <a:solidFill>
                  <a:srgbClr val="0F172A"/>
                </a:solidFill>
              </a:rPr>
              <a:t>3. Schedule Management</a:t>
            </a:r>
            <a:endParaRPr lang="en-US" sz="1100" dirty="0"/>
          </a:p>
        </p:txBody>
      </p:sp>
      <p:sp>
        <p:nvSpPr>
          <p:cNvPr id="16" name="Text 13"/>
          <p:cNvSpPr/>
          <p:nvPr/>
        </p:nvSpPr>
        <p:spPr>
          <a:xfrm>
            <a:off x="914400" y="3172968"/>
            <a:ext cx="4919472" cy="502920"/>
          </a:xfrm>
          <a:prstGeom prst="rect">
            <a:avLst/>
          </a:prstGeom>
          <a:noFill/>
          <a:ln/>
        </p:spPr>
        <p:txBody>
          <a:bodyPr wrap="square" rtlCol="0" anchor="ctr"/>
          <a:lstStyle/>
          <a:p>
            <a:pPr indent="0" marL="0">
              <a:buNone/>
            </a:pPr>
            <a:r>
              <a:rPr lang="en-US" sz="950" dirty="0">
                <a:solidFill>
                  <a:srgbClr val="475569"/>
                </a:solidFill>
              </a:rPr>
              <a:t>Configure exact dose timings, daily frequencies, and treatment dates.</a:t>
            </a:r>
            <a:endParaRPr lang="en-US" sz="950" dirty="0"/>
          </a:p>
        </p:txBody>
      </p:sp>
      <p:sp>
        <p:nvSpPr>
          <p:cNvPr id="17" name="Shape 14"/>
          <p:cNvSpPr/>
          <p:nvPr/>
        </p:nvSpPr>
        <p:spPr>
          <a:xfrm>
            <a:off x="6172200" y="2761488"/>
            <a:ext cx="5285232" cy="987552"/>
          </a:xfrm>
          <a:prstGeom prst="roundRect">
            <a:avLst>
              <a:gd name="adj" fmla="val 7407"/>
            </a:avLst>
          </a:prstGeom>
          <a:solidFill>
            <a:srgbClr val="FFFFFF"/>
          </a:solidFill>
          <a:ln w="12700">
            <a:solidFill>
              <a:srgbClr val="E2E8F0"/>
            </a:solidFill>
            <a:prstDash val="solid"/>
          </a:ln>
        </p:spPr>
      </p:sp>
      <p:sp>
        <p:nvSpPr>
          <p:cNvPr id="18" name="Text 15"/>
          <p:cNvSpPr/>
          <p:nvPr/>
        </p:nvSpPr>
        <p:spPr>
          <a:xfrm>
            <a:off x="6355080" y="2871216"/>
            <a:ext cx="4919472" cy="274320"/>
          </a:xfrm>
          <a:prstGeom prst="rect">
            <a:avLst/>
          </a:prstGeom>
          <a:noFill/>
          <a:ln/>
        </p:spPr>
        <p:txBody>
          <a:bodyPr wrap="square" rtlCol="0" anchor="ctr"/>
          <a:lstStyle/>
          <a:p>
            <a:pPr indent="0" marL="0">
              <a:buNone/>
            </a:pPr>
            <a:r>
              <a:rPr lang="en-US" sz="1100" b="1" dirty="0">
                <a:solidFill>
                  <a:srgbClr val="0F172A"/>
                </a:solidFill>
              </a:rPr>
              <a:t>4. Reminder System</a:t>
            </a:r>
            <a:endParaRPr lang="en-US" sz="1100" dirty="0"/>
          </a:p>
        </p:txBody>
      </p:sp>
      <p:sp>
        <p:nvSpPr>
          <p:cNvPr id="19" name="Text 16"/>
          <p:cNvSpPr/>
          <p:nvPr/>
        </p:nvSpPr>
        <p:spPr>
          <a:xfrm>
            <a:off x="6355080" y="3172968"/>
            <a:ext cx="4919472" cy="502920"/>
          </a:xfrm>
          <a:prstGeom prst="rect">
            <a:avLst/>
          </a:prstGeom>
          <a:noFill/>
          <a:ln/>
        </p:spPr>
        <p:txBody>
          <a:bodyPr wrap="square" rtlCol="0" anchor="ctr"/>
          <a:lstStyle/>
          <a:p>
            <a:pPr indent="0" marL="0">
              <a:buNone/>
            </a:pPr>
            <a:r>
              <a:rPr lang="en-US" sz="950" dirty="0">
                <a:solidFill>
                  <a:srgbClr val="475569"/>
                </a:solidFill>
              </a:rPr>
              <a:t>Scheduled notifications alerting users when medicines become due.</a:t>
            </a:r>
            <a:endParaRPr lang="en-US" sz="950" dirty="0"/>
          </a:p>
        </p:txBody>
      </p:sp>
      <p:sp>
        <p:nvSpPr>
          <p:cNvPr id="20" name="Shape 17"/>
          <p:cNvSpPr/>
          <p:nvPr/>
        </p:nvSpPr>
        <p:spPr>
          <a:xfrm>
            <a:off x="731520" y="3877056"/>
            <a:ext cx="5285232" cy="987552"/>
          </a:xfrm>
          <a:prstGeom prst="roundRect">
            <a:avLst>
              <a:gd name="adj" fmla="val 7407"/>
            </a:avLst>
          </a:prstGeom>
          <a:solidFill>
            <a:srgbClr val="FFFFFF"/>
          </a:solidFill>
          <a:ln w="12700">
            <a:solidFill>
              <a:srgbClr val="E2E8F0"/>
            </a:solidFill>
            <a:prstDash val="solid"/>
          </a:ln>
        </p:spPr>
      </p:sp>
      <p:sp>
        <p:nvSpPr>
          <p:cNvPr id="21" name="Text 18"/>
          <p:cNvSpPr/>
          <p:nvPr/>
        </p:nvSpPr>
        <p:spPr>
          <a:xfrm>
            <a:off x="914400" y="3986784"/>
            <a:ext cx="4919472" cy="274320"/>
          </a:xfrm>
          <a:prstGeom prst="rect">
            <a:avLst/>
          </a:prstGeom>
          <a:noFill/>
          <a:ln/>
        </p:spPr>
        <p:txBody>
          <a:bodyPr wrap="square" rtlCol="0" anchor="ctr"/>
          <a:lstStyle/>
          <a:p>
            <a:pPr indent="0" marL="0">
              <a:buNone/>
            </a:pPr>
            <a:r>
              <a:rPr lang="en-US" sz="1100" b="1" dirty="0">
                <a:solidFill>
                  <a:srgbClr val="0F172A"/>
                </a:solidFill>
              </a:rPr>
              <a:t>5. Adherence Tracking</a:t>
            </a:r>
            <a:endParaRPr lang="en-US" sz="1100" dirty="0"/>
          </a:p>
        </p:txBody>
      </p:sp>
      <p:sp>
        <p:nvSpPr>
          <p:cNvPr id="22" name="Text 19"/>
          <p:cNvSpPr/>
          <p:nvPr/>
        </p:nvSpPr>
        <p:spPr>
          <a:xfrm>
            <a:off x="914400" y="4288536"/>
            <a:ext cx="4919472" cy="502920"/>
          </a:xfrm>
          <a:prstGeom prst="rect">
            <a:avLst/>
          </a:prstGeom>
          <a:noFill/>
          <a:ln/>
        </p:spPr>
        <p:txBody>
          <a:bodyPr wrap="square" rtlCol="0" anchor="ctr"/>
          <a:lstStyle/>
          <a:p>
            <a:pPr indent="0" marL="0">
              <a:buNone/>
            </a:pPr>
            <a:r>
              <a:rPr lang="en-US" sz="950" dirty="0">
                <a:solidFill>
                  <a:srgbClr val="475569"/>
                </a:solidFill>
              </a:rPr>
              <a:t>Records Taken or Missed status with persistent event timestamps.</a:t>
            </a:r>
            <a:endParaRPr lang="en-US" sz="950" dirty="0"/>
          </a:p>
        </p:txBody>
      </p:sp>
      <p:sp>
        <p:nvSpPr>
          <p:cNvPr id="23" name="Shape 20"/>
          <p:cNvSpPr/>
          <p:nvPr/>
        </p:nvSpPr>
        <p:spPr>
          <a:xfrm>
            <a:off x="6172200" y="3877056"/>
            <a:ext cx="5285232" cy="987552"/>
          </a:xfrm>
          <a:prstGeom prst="roundRect">
            <a:avLst>
              <a:gd name="adj" fmla="val 7407"/>
            </a:avLst>
          </a:prstGeom>
          <a:solidFill>
            <a:srgbClr val="FFFFFF"/>
          </a:solidFill>
          <a:ln w="12700">
            <a:solidFill>
              <a:srgbClr val="E2E8F0"/>
            </a:solidFill>
            <a:prstDash val="solid"/>
          </a:ln>
        </p:spPr>
      </p:sp>
      <p:sp>
        <p:nvSpPr>
          <p:cNvPr id="24" name="Text 21"/>
          <p:cNvSpPr/>
          <p:nvPr/>
        </p:nvSpPr>
        <p:spPr>
          <a:xfrm>
            <a:off x="6355080" y="3986784"/>
            <a:ext cx="4919472" cy="274320"/>
          </a:xfrm>
          <a:prstGeom prst="rect">
            <a:avLst/>
          </a:prstGeom>
          <a:noFill/>
          <a:ln/>
        </p:spPr>
        <p:txBody>
          <a:bodyPr wrap="square" rtlCol="0" anchor="ctr"/>
          <a:lstStyle/>
          <a:p>
            <a:pPr indent="0" marL="0">
              <a:buNone/>
            </a:pPr>
            <a:r>
              <a:rPr lang="en-US" sz="1100" b="1" dirty="0">
                <a:solidFill>
                  <a:srgbClr val="0F172A"/>
                </a:solidFill>
              </a:rPr>
              <a:t>6. Dashboard Module</a:t>
            </a:r>
            <a:endParaRPr lang="en-US" sz="1100" dirty="0"/>
          </a:p>
        </p:txBody>
      </p:sp>
      <p:sp>
        <p:nvSpPr>
          <p:cNvPr id="25" name="Text 22"/>
          <p:cNvSpPr/>
          <p:nvPr/>
        </p:nvSpPr>
        <p:spPr>
          <a:xfrm>
            <a:off x="6355080" y="4288536"/>
            <a:ext cx="4919472" cy="502920"/>
          </a:xfrm>
          <a:prstGeom prst="rect">
            <a:avLst/>
          </a:prstGeom>
          <a:noFill/>
          <a:ln/>
        </p:spPr>
        <p:txBody>
          <a:bodyPr wrap="square" rtlCol="0" anchor="ctr"/>
          <a:lstStyle/>
          <a:p>
            <a:pPr indent="0" marL="0">
              <a:buNone/>
            </a:pPr>
            <a:r>
              <a:rPr lang="en-US" sz="950" dirty="0">
                <a:solidFill>
                  <a:srgbClr val="475569"/>
                </a:solidFill>
              </a:rPr>
              <a:t>Centralized display of upcoming doses, compliance rates, and vitals.</a:t>
            </a:r>
            <a:endParaRPr lang="en-US" sz="950" dirty="0"/>
          </a:p>
        </p:txBody>
      </p:sp>
      <p:sp>
        <p:nvSpPr>
          <p:cNvPr id="26" name="Shape 23"/>
          <p:cNvSpPr/>
          <p:nvPr/>
        </p:nvSpPr>
        <p:spPr>
          <a:xfrm>
            <a:off x="731520" y="4992624"/>
            <a:ext cx="5285232" cy="987552"/>
          </a:xfrm>
          <a:prstGeom prst="roundRect">
            <a:avLst>
              <a:gd name="adj" fmla="val 7407"/>
            </a:avLst>
          </a:prstGeom>
          <a:solidFill>
            <a:srgbClr val="FFFFFF"/>
          </a:solidFill>
          <a:ln w="12700">
            <a:solidFill>
              <a:srgbClr val="E2E8F0"/>
            </a:solidFill>
            <a:prstDash val="solid"/>
          </a:ln>
        </p:spPr>
      </p:sp>
      <p:sp>
        <p:nvSpPr>
          <p:cNvPr id="27" name="Text 24"/>
          <p:cNvSpPr/>
          <p:nvPr/>
        </p:nvSpPr>
        <p:spPr>
          <a:xfrm>
            <a:off x="914400" y="5102352"/>
            <a:ext cx="4919472" cy="274320"/>
          </a:xfrm>
          <a:prstGeom prst="rect">
            <a:avLst/>
          </a:prstGeom>
          <a:noFill/>
          <a:ln/>
        </p:spPr>
        <p:txBody>
          <a:bodyPr wrap="square" rtlCol="0" anchor="ctr"/>
          <a:lstStyle/>
          <a:p>
            <a:pPr indent="0" marL="0">
              <a:buNone/>
            </a:pPr>
            <a:r>
              <a:rPr lang="en-US" sz="1100" b="1" dirty="0">
                <a:solidFill>
                  <a:srgbClr val="0F172A"/>
                </a:solidFill>
              </a:rPr>
              <a:t>7. Settings Module</a:t>
            </a:r>
            <a:endParaRPr lang="en-US" sz="1100" dirty="0"/>
          </a:p>
        </p:txBody>
      </p:sp>
      <p:sp>
        <p:nvSpPr>
          <p:cNvPr id="28" name="Text 25"/>
          <p:cNvSpPr/>
          <p:nvPr/>
        </p:nvSpPr>
        <p:spPr>
          <a:xfrm>
            <a:off x="914400" y="5404104"/>
            <a:ext cx="4919472" cy="502920"/>
          </a:xfrm>
          <a:prstGeom prst="rect">
            <a:avLst/>
          </a:prstGeom>
          <a:noFill/>
          <a:ln/>
        </p:spPr>
        <p:txBody>
          <a:bodyPr wrap="square" rtlCol="0" anchor="ctr"/>
          <a:lstStyle/>
          <a:p>
            <a:pPr indent="0" marL="0">
              <a:buNone/>
            </a:pPr>
            <a:r>
              <a:rPr lang="en-US" sz="950" dirty="0">
                <a:solidFill>
                  <a:srgbClr val="475569"/>
                </a:solidFill>
              </a:rPr>
              <a:t>Reminder preferences, notification configurations, and display options.</a:t>
            </a:r>
            <a:endParaRPr lang="en-US" sz="950" dirty="0"/>
          </a:p>
        </p:txBody>
      </p:sp>
      <p:sp>
        <p:nvSpPr>
          <p:cNvPr id="29" name="Shape 26"/>
          <p:cNvSpPr/>
          <p:nvPr/>
        </p:nvSpPr>
        <p:spPr>
          <a:xfrm>
            <a:off x="6172200" y="4992624"/>
            <a:ext cx="5285232" cy="987552"/>
          </a:xfrm>
          <a:prstGeom prst="roundRect">
            <a:avLst>
              <a:gd name="adj" fmla="val 7407"/>
            </a:avLst>
          </a:prstGeom>
          <a:solidFill>
            <a:srgbClr val="FFFFFF"/>
          </a:solidFill>
          <a:ln w="12700">
            <a:solidFill>
              <a:srgbClr val="E2E8F0"/>
            </a:solidFill>
            <a:prstDash val="solid"/>
          </a:ln>
        </p:spPr>
      </p:sp>
      <p:sp>
        <p:nvSpPr>
          <p:cNvPr id="30" name="Shape 27"/>
          <p:cNvSpPr/>
          <p:nvPr/>
        </p:nvSpPr>
        <p:spPr>
          <a:xfrm>
            <a:off x="6181344" y="5001768"/>
            <a:ext cx="5266944" cy="54864"/>
          </a:xfrm>
          <a:prstGeom prst="rect">
            <a:avLst/>
          </a:prstGeom>
          <a:solidFill>
            <a:srgbClr val="0D9488"/>
          </a:solidFill>
          <a:ln w="12700">
            <a:solidFill>
              <a:srgbClr val="0D9488"/>
            </a:solidFill>
            <a:prstDash val="solid"/>
          </a:ln>
        </p:spPr>
      </p:sp>
      <p:sp>
        <p:nvSpPr>
          <p:cNvPr id="31" name="Text 28"/>
          <p:cNvSpPr/>
          <p:nvPr/>
        </p:nvSpPr>
        <p:spPr>
          <a:xfrm>
            <a:off x="6355080" y="5102352"/>
            <a:ext cx="4919472" cy="274320"/>
          </a:xfrm>
          <a:prstGeom prst="rect">
            <a:avLst/>
          </a:prstGeom>
          <a:noFill/>
          <a:ln/>
        </p:spPr>
        <p:txBody>
          <a:bodyPr wrap="square" rtlCol="0" anchor="ctr"/>
          <a:lstStyle/>
          <a:p>
            <a:pPr indent="0" marL="0">
              <a:buNone/>
            </a:pPr>
            <a:r>
              <a:rPr lang="en-US" sz="1100" b="1" dirty="0">
                <a:solidFill>
                  <a:srgbClr val="0F172A"/>
                </a:solidFill>
              </a:rPr>
              <a:t>8. Doctor-Contact Module</a:t>
            </a:r>
            <a:endParaRPr lang="en-US" sz="1100" dirty="0"/>
          </a:p>
        </p:txBody>
      </p:sp>
      <p:sp>
        <p:nvSpPr>
          <p:cNvPr id="32" name="Text 29"/>
          <p:cNvSpPr/>
          <p:nvPr/>
        </p:nvSpPr>
        <p:spPr>
          <a:xfrm>
            <a:off x="6355080" y="5404104"/>
            <a:ext cx="4919472" cy="502920"/>
          </a:xfrm>
          <a:prstGeom prst="rect">
            <a:avLst/>
          </a:prstGeom>
          <a:noFill/>
          <a:ln/>
        </p:spPr>
        <p:txBody>
          <a:bodyPr wrap="square" rtlCol="0" anchor="ctr"/>
          <a:lstStyle/>
          <a:p>
            <a:pPr indent="0" marL="0">
              <a:buNone/>
            </a:pPr>
            <a:r>
              <a:rPr lang="en-US" sz="950" dirty="0">
                <a:solidFill>
                  <a:srgbClr val="475569"/>
                </a:solidFill>
              </a:rPr>
              <a:t>Physician profiles, clinic locations, hours, and appointment requests.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731520" y="365760"/>
            <a:ext cx="2286000" cy="274320"/>
          </a:xfrm>
          <a:prstGeom prst="roundRect">
            <a:avLst>
              <a:gd name="adj" fmla="val 50000"/>
            </a:avLst>
          </a:prstGeom>
          <a:solidFill>
            <a:srgbClr val="F0FDFA"/>
          </a:solidFill>
          <a:ln w="12700">
            <a:solidFill>
              <a:srgbClr val="0D9488"/>
            </a:solidFill>
            <a:prstDash val="solid"/>
          </a:ln>
        </p:spPr>
      </p:sp>
      <p:sp>
        <p:nvSpPr>
          <p:cNvPr id="4" name="Text 1"/>
          <p:cNvSpPr/>
          <p:nvPr/>
        </p:nvSpPr>
        <p:spPr>
          <a:xfrm>
            <a:off x="731520" y="365760"/>
            <a:ext cx="2286000" cy="274320"/>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TECHNICAL ENVIRONMENT</a:t>
            </a:r>
            <a:endParaRPr lang="en-US" sz="900" dirty="0"/>
          </a:p>
        </p:txBody>
      </p:sp>
      <p:sp>
        <p:nvSpPr>
          <p:cNvPr id="5" name="Text 2"/>
          <p:cNvSpPr/>
          <p:nvPr/>
        </p:nvSpPr>
        <p:spPr>
          <a:xfrm>
            <a:off x="7772400" y="365760"/>
            <a:ext cx="36576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DoseTrack · BCA S5 · KMCT IETM (KTU)</a:t>
            </a:r>
            <a:endParaRPr lang="en-US" sz="900" dirty="0"/>
          </a:p>
        </p:txBody>
      </p:sp>
      <p:sp>
        <p:nvSpPr>
          <p:cNvPr id="6" name="Text 3"/>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Technology Stack</a:t>
            </a:r>
            <a:endParaRPr lang="en-US" sz="2200" dirty="0"/>
          </a:p>
        </p:txBody>
      </p:sp>
      <p:sp>
        <p:nvSpPr>
          <p:cNvPr id="7" name="Text 4"/>
          <p:cNvSpPr/>
          <p:nvPr/>
        </p:nvSpPr>
        <p:spPr>
          <a:xfrm>
            <a:off x="731520" y="1188720"/>
            <a:ext cx="10515600" cy="32004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Standard web, backend, and relational database technologies referenced in the report.</a:t>
            </a:r>
            <a:endParaRPr lang="en-US" sz="1100" dirty="0"/>
          </a:p>
        </p:txBody>
      </p:sp>
      <p:sp>
        <p:nvSpPr>
          <p:cNvPr id="8" name="Shape 5"/>
          <p:cNvSpPr/>
          <p:nvPr/>
        </p:nvSpPr>
        <p:spPr>
          <a:xfrm>
            <a:off x="731520" y="1645920"/>
            <a:ext cx="3410712" cy="4389120"/>
          </a:xfrm>
          <a:prstGeom prst="roundRect">
            <a:avLst>
              <a:gd name="adj" fmla="val 2145"/>
            </a:avLst>
          </a:prstGeom>
          <a:solidFill>
            <a:srgbClr val="FFFFFF"/>
          </a:solidFill>
          <a:ln w="12700">
            <a:solidFill>
              <a:srgbClr val="E2E8F0"/>
            </a:solidFill>
            <a:prstDash val="solid"/>
          </a:ln>
        </p:spPr>
      </p:sp>
      <p:sp>
        <p:nvSpPr>
          <p:cNvPr id="9" name="Shape 6"/>
          <p:cNvSpPr/>
          <p:nvPr/>
        </p:nvSpPr>
        <p:spPr>
          <a:xfrm>
            <a:off x="740664" y="1655064"/>
            <a:ext cx="3392424" cy="54864"/>
          </a:xfrm>
          <a:prstGeom prst="rect">
            <a:avLst/>
          </a:prstGeom>
          <a:solidFill>
            <a:srgbClr val="0D9488"/>
          </a:solidFill>
          <a:ln w="12700">
            <a:solidFill>
              <a:srgbClr val="0D9488"/>
            </a:solidFill>
            <a:prstDash val="solid"/>
          </a:ln>
        </p:spPr>
      </p:sp>
      <p:sp>
        <p:nvSpPr>
          <p:cNvPr id="10" name="Text 7"/>
          <p:cNvSpPr/>
          <p:nvPr/>
        </p:nvSpPr>
        <p:spPr>
          <a:xfrm>
            <a:off x="914400" y="1828800"/>
            <a:ext cx="3044952" cy="320040"/>
          </a:xfrm>
          <a:prstGeom prst="rect">
            <a:avLst/>
          </a:prstGeom>
          <a:noFill/>
          <a:ln/>
        </p:spPr>
        <p:txBody>
          <a:bodyPr wrap="square" rtlCol="0" anchor="ctr"/>
          <a:lstStyle/>
          <a:p>
            <a:pPr indent="0" marL="0">
              <a:buNone/>
            </a:pPr>
            <a:r>
              <a:rPr lang="en-US" sz="1400" b="1" dirty="0">
                <a:solidFill>
                  <a:srgbClr val="0F172A"/>
                </a:solidFill>
              </a:rPr>
              <a:t>Frontend Tier</a:t>
            </a:r>
            <a:endParaRPr lang="en-US" sz="1400" dirty="0"/>
          </a:p>
        </p:txBody>
      </p:sp>
      <p:sp>
        <p:nvSpPr>
          <p:cNvPr id="11" name="Text 8"/>
          <p:cNvSpPr/>
          <p:nvPr/>
        </p:nvSpPr>
        <p:spPr>
          <a:xfrm>
            <a:off x="914400" y="2148840"/>
            <a:ext cx="3044952" cy="228600"/>
          </a:xfrm>
          <a:prstGeom prst="rect">
            <a:avLst/>
          </a:prstGeom>
          <a:noFill/>
          <a:ln/>
        </p:spPr>
        <p:txBody>
          <a:bodyPr wrap="square" rtlCol="0" anchor="ctr"/>
          <a:lstStyle/>
          <a:p>
            <a:pPr indent="0" marL="0">
              <a:buNone/>
            </a:pPr>
            <a:r>
              <a:rPr lang="en-US" sz="950" b="1" dirty="0">
                <a:solidFill>
                  <a:srgbClr val="0D9488"/>
                </a:solidFill>
              </a:rPr>
              <a:t>User Interface &amp; Presentation</a:t>
            </a:r>
            <a:endParaRPr lang="en-US" sz="950" dirty="0"/>
          </a:p>
        </p:txBody>
      </p:sp>
      <p:sp>
        <p:nvSpPr>
          <p:cNvPr id="12" name="Text 9"/>
          <p:cNvSpPr/>
          <p:nvPr/>
        </p:nvSpPr>
        <p:spPr>
          <a:xfrm>
            <a:off x="914400" y="2468880"/>
            <a:ext cx="3044952" cy="3383280"/>
          </a:xfrm>
          <a:prstGeom prst="rect">
            <a:avLst/>
          </a:prstGeom>
          <a:noFill/>
          <a:ln/>
        </p:spPr>
        <p:txBody>
          <a:bodyPr wrap="square" rtlCol="0" anchor="ctr"/>
          <a:lstStyle/>
          <a:p>
            <a:pPr indent="0" marL="0">
              <a:lnSpc>
                <a:spcPct val="120000"/>
              </a:lnSpc>
              <a:buNone/>
            </a:pPr>
            <a:r>
              <a:rPr lang="en-US" sz="950" b="1" dirty="0">
                <a:solidFill>
                  <a:srgbClr val="0F172A"/>
                </a:solidFill>
              </a:rPr>
              <a:t>•  HTML5:
</a:t>
            </a:r>
            <a:pPr indent="0" marL="0">
              <a:lnSpc>
                <a:spcPct val="120000"/>
              </a:lnSpc>
              <a:buNone/>
            </a:pPr>
            <a:r>
              <a:rPr lang="en-US" sz="950" dirty="0">
                <a:solidFill>
                  <a:srgbClr val="475569"/>
                </a:solidFill>
              </a:rPr>
              <a:t>Semantic page structure, responsive forms, and accessible modal views.
</a:t>
            </a:r>
            <a:pPr indent="0" marL="0">
              <a:lnSpc>
                <a:spcPct val="120000"/>
              </a:lnSpc>
              <a:buNone/>
            </a:pPr>
            <a:r>
              <a:rPr lang="en-US" sz="950" b="1" dirty="0">
                <a:solidFill>
                  <a:srgbClr val="0F172A"/>
                </a:solidFill>
              </a:rPr>
              <a:t>•  CSS3:
</a:t>
            </a:r>
            <a:pPr indent="0" marL="0">
              <a:lnSpc>
                <a:spcPct val="120000"/>
              </a:lnSpc>
              <a:buNone/>
            </a:pPr>
            <a:r>
              <a:rPr lang="en-US" sz="950" dirty="0">
                <a:solidFill>
                  <a:srgbClr val="475569"/>
                </a:solidFill>
              </a:rPr>
              <a:t>Modern clinical color scheme, card components, flexbox/grid layouts, and status badges.
</a:t>
            </a:r>
            <a:pPr indent="0" marL="0">
              <a:lnSpc>
                <a:spcPct val="120000"/>
              </a:lnSpc>
              <a:buNone/>
            </a:pPr>
            <a:r>
              <a:rPr lang="en-US" sz="950" b="1" dirty="0">
                <a:solidFill>
                  <a:srgbClr val="0F172A"/>
                </a:solidFill>
              </a:rPr>
              <a:t>•  JavaScript (ES6+):
</a:t>
            </a:r>
            <a:pPr indent="0" marL="0">
              <a:lnSpc>
                <a:spcPct val="120000"/>
              </a:lnSpc>
              <a:buNone/>
            </a:pPr>
            <a:r>
              <a:rPr lang="en-US" sz="950" dirty="0">
                <a:solidFill>
                  <a:srgbClr val="475569"/>
                </a:solidFill>
              </a:rPr>
              <a:t>Dynamic DOM updates, asynchronous fetch API calls, and client-side form validation.</a:t>
            </a:r>
            <a:endParaRPr lang="en-US" sz="950" dirty="0"/>
          </a:p>
        </p:txBody>
      </p:sp>
      <p:sp>
        <p:nvSpPr>
          <p:cNvPr id="13" name="Shape 10"/>
          <p:cNvSpPr/>
          <p:nvPr/>
        </p:nvSpPr>
        <p:spPr>
          <a:xfrm>
            <a:off x="4389120" y="1645920"/>
            <a:ext cx="3410712" cy="4389120"/>
          </a:xfrm>
          <a:prstGeom prst="roundRect">
            <a:avLst>
              <a:gd name="adj" fmla="val 2145"/>
            </a:avLst>
          </a:prstGeom>
          <a:solidFill>
            <a:srgbClr val="FFFFFF"/>
          </a:solidFill>
          <a:ln w="12700">
            <a:solidFill>
              <a:srgbClr val="E2E8F0"/>
            </a:solidFill>
            <a:prstDash val="solid"/>
          </a:ln>
        </p:spPr>
      </p:sp>
      <p:sp>
        <p:nvSpPr>
          <p:cNvPr id="14" name="Shape 11"/>
          <p:cNvSpPr/>
          <p:nvPr/>
        </p:nvSpPr>
        <p:spPr>
          <a:xfrm>
            <a:off x="4398264" y="1655064"/>
            <a:ext cx="3392424" cy="54864"/>
          </a:xfrm>
          <a:prstGeom prst="rect">
            <a:avLst/>
          </a:prstGeom>
          <a:solidFill>
            <a:srgbClr val="0284C7"/>
          </a:solidFill>
          <a:ln w="12700">
            <a:solidFill>
              <a:srgbClr val="0284C7"/>
            </a:solidFill>
            <a:prstDash val="solid"/>
          </a:ln>
        </p:spPr>
      </p:sp>
      <p:sp>
        <p:nvSpPr>
          <p:cNvPr id="15" name="Text 12"/>
          <p:cNvSpPr/>
          <p:nvPr/>
        </p:nvSpPr>
        <p:spPr>
          <a:xfrm>
            <a:off x="4572000" y="1828800"/>
            <a:ext cx="3044952" cy="320040"/>
          </a:xfrm>
          <a:prstGeom prst="rect">
            <a:avLst/>
          </a:prstGeom>
          <a:noFill/>
          <a:ln/>
        </p:spPr>
        <p:txBody>
          <a:bodyPr wrap="square" rtlCol="0" anchor="ctr"/>
          <a:lstStyle/>
          <a:p>
            <a:pPr indent="0" marL="0">
              <a:buNone/>
            </a:pPr>
            <a:r>
              <a:rPr lang="en-US" sz="1400" b="1" dirty="0">
                <a:solidFill>
                  <a:srgbClr val="0F172A"/>
                </a:solidFill>
              </a:rPr>
              <a:t>Application Tier</a:t>
            </a:r>
            <a:endParaRPr lang="en-US" sz="1400" dirty="0"/>
          </a:p>
        </p:txBody>
      </p:sp>
      <p:sp>
        <p:nvSpPr>
          <p:cNvPr id="16" name="Text 13"/>
          <p:cNvSpPr/>
          <p:nvPr/>
        </p:nvSpPr>
        <p:spPr>
          <a:xfrm>
            <a:off x="4572000" y="2148840"/>
            <a:ext cx="3044952" cy="228600"/>
          </a:xfrm>
          <a:prstGeom prst="rect">
            <a:avLst/>
          </a:prstGeom>
          <a:noFill/>
          <a:ln/>
        </p:spPr>
        <p:txBody>
          <a:bodyPr wrap="square" rtlCol="0" anchor="ctr"/>
          <a:lstStyle/>
          <a:p>
            <a:pPr indent="0" marL="0">
              <a:buNone/>
            </a:pPr>
            <a:r>
              <a:rPr lang="en-US" sz="950" b="1" dirty="0">
                <a:solidFill>
                  <a:srgbClr val="0284C7"/>
                </a:solidFill>
              </a:rPr>
              <a:t>Business Logic &amp; API Routing</a:t>
            </a:r>
            <a:endParaRPr lang="en-US" sz="950" dirty="0"/>
          </a:p>
        </p:txBody>
      </p:sp>
      <p:sp>
        <p:nvSpPr>
          <p:cNvPr id="17" name="Text 14"/>
          <p:cNvSpPr/>
          <p:nvPr/>
        </p:nvSpPr>
        <p:spPr>
          <a:xfrm>
            <a:off x="4572000" y="2468880"/>
            <a:ext cx="3044952" cy="3383280"/>
          </a:xfrm>
          <a:prstGeom prst="rect">
            <a:avLst/>
          </a:prstGeom>
          <a:noFill/>
          <a:ln/>
        </p:spPr>
        <p:txBody>
          <a:bodyPr wrap="square" rtlCol="0" anchor="ctr"/>
          <a:lstStyle/>
          <a:p>
            <a:pPr indent="0" marL="0">
              <a:lnSpc>
                <a:spcPct val="120000"/>
              </a:lnSpc>
              <a:buNone/>
            </a:pPr>
            <a:r>
              <a:rPr lang="en-US" sz="950" b="1" dirty="0">
                <a:solidFill>
                  <a:srgbClr val="0F172A"/>
                </a:solidFill>
              </a:rPr>
              <a:t>•  Node.js / Express:
</a:t>
            </a:r>
            <a:pPr indent="0" marL="0">
              <a:lnSpc>
                <a:spcPct val="120000"/>
              </a:lnSpc>
              <a:buNone/>
            </a:pPr>
            <a:r>
              <a:rPr lang="en-US" sz="950" dirty="0">
                <a:solidFill>
                  <a:srgbClr val="475569"/>
                </a:solidFill>
              </a:rPr>
              <a:t>RESTful API routing, business logic orchestration, and reminder schedule daemons.
</a:t>
            </a:r>
            <a:pPr indent="0" marL="0">
              <a:lnSpc>
                <a:spcPct val="120000"/>
              </a:lnSpc>
              <a:buNone/>
            </a:pPr>
            <a:r>
              <a:rPr lang="en-US" sz="950" b="1" dirty="0">
                <a:solidFill>
                  <a:srgbClr val="0F172A"/>
                </a:solidFill>
              </a:rPr>
              <a:t>•  PHP Support:
</a:t>
            </a:r>
            <a:pPr indent="0" marL="0">
              <a:lnSpc>
                <a:spcPct val="120000"/>
              </a:lnSpc>
              <a:buNone/>
            </a:pPr>
            <a:r>
              <a:rPr lang="en-US" sz="950" dirty="0">
                <a:solidFill>
                  <a:srgbClr val="475569"/>
                </a:solidFill>
              </a:rPr>
              <a:t>Backend application logic and request validation cited in Chapter 6.
</a:t>
            </a:r>
            <a:pPr indent="0" marL="0">
              <a:lnSpc>
                <a:spcPct val="120000"/>
              </a:lnSpc>
              <a:buNone/>
            </a:pPr>
            <a:r>
              <a:rPr lang="en-US" sz="950" b="1" dirty="0">
                <a:solidFill>
                  <a:srgbClr val="0F172A"/>
                </a:solidFill>
              </a:rPr>
              <a:t>•  Security &amp; Validation:
</a:t>
            </a:r>
            <a:pPr indent="0" marL="0">
              <a:lnSpc>
                <a:spcPct val="120000"/>
              </a:lnSpc>
              <a:buNone/>
            </a:pPr>
            <a:r>
              <a:rPr lang="en-US" sz="950" dirty="0">
                <a:solidFill>
                  <a:srgbClr val="475569"/>
                </a:solidFill>
              </a:rPr>
              <a:t>Secure password hashing, input sanitization, and session state management.</a:t>
            </a:r>
            <a:endParaRPr lang="en-US" sz="950" dirty="0"/>
          </a:p>
        </p:txBody>
      </p:sp>
      <p:sp>
        <p:nvSpPr>
          <p:cNvPr id="18" name="Shape 15"/>
          <p:cNvSpPr/>
          <p:nvPr/>
        </p:nvSpPr>
        <p:spPr>
          <a:xfrm>
            <a:off x="8046720" y="1645920"/>
            <a:ext cx="3410712" cy="4389120"/>
          </a:xfrm>
          <a:prstGeom prst="roundRect">
            <a:avLst>
              <a:gd name="adj" fmla="val 2145"/>
            </a:avLst>
          </a:prstGeom>
          <a:solidFill>
            <a:srgbClr val="FFFFFF"/>
          </a:solidFill>
          <a:ln w="12700">
            <a:solidFill>
              <a:srgbClr val="E2E8F0"/>
            </a:solidFill>
            <a:prstDash val="solid"/>
          </a:ln>
        </p:spPr>
      </p:sp>
      <p:sp>
        <p:nvSpPr>
          <p:cNvPr id="19" name="Shape 16"/>
          <p:cNvSpPr/>
          <p:nvPr/>
        </p:nvSpPr>
        <p:spPr>
          <a:xfrm>
            <a:off x="8055864" y="1655064"/>
            <a:ext cx="3392424" cy="54864"/>
          </a:xfrm>
          <a:prstGeom prst="rect">
            <a:avLst/>
          </a:prstGeom>
          <a:solidFill>
            <a:srgbClr val="16A34A"/>
          </a:solidFill>
          <a:ln w="12700">
            <a:solidFill>
              <a:srgbClr val="16A34A"/>
            </a:solidFill>
            <a:prstDash val="solid"/>
          </a:ln>
        </p:spPr>
      </p:sp>
      <p:sp>
        <p:nvSpPr>
          <p:cNvPr id="20" name="Text 17"/>
          <p:cNvSpPr/>
          <p:nvPr/>
        </p:nvSpPr>
        <p:spPr>
          <a:xfrm>
            <a:off x="8229600" y="1828800"/>
            <a:ext cx="3044952" cy="320040"/>
          </a:xfrm>
          <a:prstGeom prst="rect">
            <a:avLst/>
          </a:prstGeom>
          <a:noFill/>
          <a:ln/>
        </p:spPr>
        <p:txBody>
          <a:bodyPr wrap="square" rtlCol="0" anchor="ctr"/>
          <a:lstStyle/>
          <a:p>
            <a:pPr indent="0" marL="0">
              <a:buNone/>
            </a:pPr>
            <a:r>
              <a:rPr lang="en-US" sz="1400" b="1" dirty="0">
                <a:solidFill>
                  <a:srgbClr val="0F172A"/>
                </a:solidFill>
              </a:rPr>
              <a:t>Data Tier &amp; Tools</a:t>
            </a:r>
            <a:endParaRPr lang="en-US" sz="1400" dirty="0"/>
          </a:p>
        </p:txBody>
      </p:sp>
      <p:sp>
        <p:nvSpPr>
          <p:cNvPr id="21" name="Text 18"/>
          <p:cNvSpPr/>
          <p:nvPr/>
        </p:nvSpPr>
        <p:spPr>
          <a:xfrm>
            <a:off x="8229600" y="2148840"/>
            <a:ext cx="3044952" cy="228600"/>
          </a:xfrm>
          <a:prstGeom prst="rect">
            <a:avLst/>
          </a:prstGeom>
          <a:noFill/>
          <a:ln/>
        </p:spPr>
        <p:txBody>
          <a:bodyPr wrap="square" rtlCol="0" anchor="ctr"/>
          <a:lstStyle/>
          <a:p>
            <a:pPr indent="0" marL="0">
              <a:buNone/>
            </a:pPr>
            <a:r>
              <a:rPr lang="en-US" sz="950" b="1" dirty="0">
                <a:solidFill>
                  <a:srgbClr val="16A34A"/>
                </a:solidFill>
              </a:rPr>
              <a:t>Persistent Storage &amp; Tooling</a:t>
            </a:r>
            <a:endParaRPr lang="en-US" sz="950" dirty="0"/>
          </a:p>
        </p:txBody>
      </p:sp>
      <p:sp>
        <p:nvSpPr>
          <p:cNvPr id="22" name="Text 19"/>
          <p:cNvSpPr/>
          <p:nvPr/>
        </p:nvSpPr>
        <p:spPr>
          <a:xfrm>
            <a:off x="8229600" y="2468880"/>
            <a:ext cx="3044952" cy="3383280"/>
          </a:xfrm>
          <a:prstGeom prst="rect">
            <a:avLst/>
          </a:prstGeom>
          <a:noFill/>
          <a:ln/>
        </p:spPr>
        <p:txBody>
          <a:bodyPr wrap="square" rtlCol="0" anchor="ctr"/>
          <a:lstStyle/>
          <a:p>
            <a:pPr indent="0" marL="0">
              <a:lnSpc>
                <a:spcPct val="120000"/>
              </a:lnSpc>
              <a:buNone/>
            </a:pPr>
            <a:r>
              <a:rPr lang="en-US" sz="950" b="1" dirty="0">
                <a:solidFill>
                  <a:srgbClr val="0F172A"/>
                </a:solidFill>
              </a:rPr>
              <a:t>•  MySQL Database:
</a:t>
            </a:r>
            <a:pPr indent="0" marL="0">
              <a:lnSpc>
                <a:spcPct val="120000"/>
              </a:lnSpc>
              <a:buNone/>
            </a:pPr>
            <a:r>
              <a:rPr lang="en-US" sz="950" dirty="0">
                <a:solidFill>
                  <a:srgbClr val="475569"/>
                </a:solidFill>
              </a:rPr>
              <a:t>Relational data management with InnoDB engine, ACID compliance, and foreign keys.
</a:t>
            </a:r>
            <a:pPr indent="0" marL="0">
              <a:lnSpc>
                <a:spcPct val="120000"/>
              </a:lnSpc>
              <a:buNone/>
            </a:pPr>
            <a:r>
              <a:rPr lang="en-US" sz="950" b="1" dirty="0">
                <a:solidFill>
                  <a:srgbClr val="0F172A"/>
                </a:solidFill>
              </a:rPr>
              <a:t>•  Git Version Control:
</a:t>
            </a:r>
            <a:pPr indent="0" marL="0">
              <a:lnSpc>
                <a:spcPct val="120000"/>
              </a:lnSpc>
              <a:buNone/>
            </a:pPr>
            <a:r>
              <a:rPr lang="en-US" sz="950" dirty="0">
                <a:solidFill>
                  <a:srgbClr val="475569"/>
                </a:solidFill>
              </a:rPr>
              <a:t>Distributed version control tracking features, commits, and codebase history.
</a:t>
            </a:r>
            <a:pPr indent="0" marL="0">
              <a:lnSpc>
                <a:spcPct val="120000"/>
              </a:lnSpc>
              <a:buNone/>
            </a:pPr>
            <a:r>
              <a:rPr lang="en-US" sz="950" b="1" dirty="0">
                <a:solidFill>
                  <a:srgbClr val="0F172A"/>
                </a:solidFill>
              </a:rPr>
              <a:t>•  Standards &amp; Manuals:
</a:t>
            </a:r>
            <a:pPr indent="0" marL="0">
              <a:lnSpc>
                <a:spcPct val="120000"/>
              </a:lnSpc>
              <a:buNone/>
            </a:pPr>
            <a:r>
              <a:rPr lang="en-US" sz="950" dirty="0">
                <a:solidFill>
                  <a:srgbClr val="475569"/>
                </a:solidFill>
              </a:rPr>
              <a:t>MDN Web Docs standards compliance and MySQL Reference Manual.</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731520" y="365760"/>
            <a:ext cx="2286000" cy="274320"/>
          </a:xfrm>
          <a:prstGeom prst="roundRect">
            <a:avLst>
              <a:gd name="adj" fmla="val 50000"/>
            </a:avLst>
          </a:prstGeom>
          <a:solidFill>
            <a:srgbClr val="F0FDFA"/>
          </a:solidFill>
          <a:ln w="12700">
            <a:solidFill>
              <a:srgbClr val="0D9488"/>
            </a:solidFill>
            <a:prstDash val="solid"/>
          </a:ln>
        </p:spPr>
      </p:sp>
      <p:sp>
        <p:nvSpPr>
          <p:cNvPr id="4" name="Text 1"/>
          <p:cNvSpPr/>
          <p:nvPr/>
        </p:nvSpPr>
        <p:spPr>
          <a:xfrm>
            <a:off x="731520" y="365760"/>
            <a:ext cx="2286000" cy="274320"/>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DATA MANAGEMENT</a:t>
            </a:r>
            <a:endParaRPr lang="en-US" sz="900" dirty="0"/>
          </a:p>
        </p:txBody>
      </p:sp>
      <p:sp>
        <p:nvSpPr>
          <p:cNvPr id="5" name="Text 2"/>
          <p:cNvSpPr/>
          <p:nvPr/>
        </p:nvSpPr>
        <p:spPr>
          <a:xfrm>
            <a:off x="7772400" y="365760"/>
            <a:ext cx="36576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DoseTrack · BCA S5 · KMCT IETM (KTU)</a:t>
            </a:r>
            <a:endParaRPr lang="en-US" sz="900" dirty="0"/>
          </a:p>
        </p:txBody>
      </p:sp>
      <p:sp>
        <p:nvSpPr>
          <p:cNvPr id="6" name="Text 3"/>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Database &amp; Data Management</a:t>
            </a:r>
            <a:endParaRPr lang="en-US" sz="2200" dirty="0"/>
          </a:p>
        </p:txBody>
      </p:sp>
      <p:sp>
        <p:nvSpPr>
          <p:cNvPr id="7" name="Text 4"/>
          <p:cNvSpPr/>
          <p:nvPr/>
        </p:nvSpPr>
        <p:spPr>
          <a:xfrm>
            <a:off x="731520" y="1188720"/>
            <a:ext cx="10515600" cy="32004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Structured relational MySQL schema ensuring data integrity and audit logging.</a:t>
            </a:r>
            <a:endParaRPr lang="en-US" sz="1100" dirty="0"/>
          </a:p>
        </p:txBody>
      </p:sp>
      <p:sp>
        <p:nvSpPr>
          <p:cNvPr id="8" name="Shape 5"/>
          <p:cNvSpPr/>
          <p:nvPr/>
        </p:nvSpPr>
        <p:spPr>
          <a:xfrm>
            <a:off x="731520" y="1645920"/>
            <a:ext cx="5943600" cy="777240"/>
          </a:xfrm>
          <a:prstGeom prst="roundRect">
            <a:avLst>
              <a:gd name="adj" fmla="val 9412"/>
            </a:avLst>
          </a:prstGeom>
          <a:solidFill>
            <a:srgbClr val="FFFFFF"/>
          </a:solidFill>
          <a:ln w="12700">
            <a:solidFill>
              <a:srgbClr val="E2E8F0"/>
            </a:solidFill>
            <a:prstDash val="solid"/>
          </a:ln>
        </p:spPr>
      </p:sp>
      <p:sp>
        <p:nvSpPr>
          <p:cNvPr id="9" name="Text 6"/>
          <p:cNvSpPr/>
          <p:nvPr/>
        </p:nvSpPr>
        <p:spPr>
          <a:xfrm>
            <a:off x="914400" y="1737360"/>
            <a:ext cx="5577840" cy="228600"/>
          </a:xfrm>
          <a:prstGeom prst="rect">
            <a:avLst/>
          </a:prstGeom>
          <a:noFill/>
          <a:ln/>
        </p:spPr>
        <p:txBody>
          <a:bodyPr wrap="square" rtlCol="0" anchor="ctr"/>
          <a:lstStyle/>
          <a:p>
            <a:pPr indent="0" marL="0">
              <a:buNone/>
            </a:pPr>
            <a:r>
              <a:rPr lang="en-US" sz="1050" b="1" dirty="0">
                <a:solidFill>
                  <a:srgbClr val="0F172A"/>
                </a:solidFill>
              </a:rPr>
              <a:t>users  (Primary Account Entity)</a:t>
            </a:r>
            <a:endParaRPr lang="en-US" sz="1050" dirty="0"/>
          </a:p>
        </p:txBody>
      </p:sp>
      <p:sp>
        <p:nvSpPr>
          <p:cNvPr id="10" name="Text 7"/>
          <p:cNvSpPr/>
          <p:nvPr/>
        </p:nvSpPr>
        <p:spPr>
          <a:xfrm>
            <a:off x="914400" y="1993392"/>
            <a:ext cx="5577840" cy="365760"/>
          </a:xfrm>
          <a:prstGeom prst="rect">
            <a:avLst/>
          </a:prstGeom>
          <a:noFill/>
          <a:ln/>
        </p:spPr>
        <p:txBody>
          <a:bodyPr wrap="square" rtlCol="0" anchor="ctr"/>
          <a:lstStyle/>
          <a:p>
            <a:pPr indent="0" marL="0">
              <a:buNone/>
            </a:pPr>
            <a:r>
              <a:rPr lang="en-US" sz="850" dirty="0">
                <a:solidFill>
                  <a:srgbClr val="475569"/>
                </a:solidFill>
                <a:latin typeface="Courier New" pitchFamily="34" charset="0"/>
                <a:ea typeface="Courier New" pitchFamily="34" charset="-122"/>
                <a:cs typeface="Courier New" pitchFamily="34" charset="-120"/>
              </a:rPr>
              <a:t>id (PK), full_name, email (UQ), phone, password_hash, created_at</a:t>
            </a:r>
            <a:endParaRPr lang="en-US" sz="850" dirty="0"/>
          </a:p>
        </p:txBody>
      </p:sp>
      <p:sp>
        <p:nvSpPr>
          <p:cNvPr id="11" name="Shape 8"/>
          <p:cNvSpPr/>
          <p:nvPr/>
        </p:nvSpPr>
        <p:spPr>
          <a:xfrm>
            <a:off x="731520" y="2514600"/>
            <a:ext cx="5943600" cy="777240"/>
          </a:xfrm>
          <a:prstGeom prst="roundRect">
            <a:avLst>
              <a:gd name="adj" fmla="val 9412"/>
            </a:avLst>
          </a:prstGeom>
          <a:solidFill>
            <a:srgbClr val="FFFFFF"/>
          </a:solidFill>
          <a:ln w="12700">
            <a:solidFill>
              <a:srgbClr val="E2E8F0"/>
            </a:solidFill>
            <a:prstDash val="solid"/>
          </a:ln>
        </p:spPr>
      </p:sp>
      <p:sp>
        <p:nvSpPr>
          <p:cNvPr id="12" name="Text 9"/>
          <p:cNvSpPr/>
          <p:nvPr/>
        </p:nvSpPr>
        <p:spPr>
          <a:xfrm>
            <a:off x="914400" y="2606040"/>
            <a:ext cx="5577840" cy="228600"/>
          </a:xfrm>
          <a:prstGeom prst="rect">
            <a:avLst/>
          </a:prstGeom>
          <a:noFill/>
          <a:ln/>
        </p:spPr>
        <p:txBody>
          <a:bodyPr wrap="square" rtlCol="0" anchor="ctr"/>
          <a:lstStyle/>
          <a:p>
            <a:pPr indent="0" marL="0">
              <a:buNone/>
            </a:pPr>
            <a:r>
              <a:rPr lang="en-US" sz="1050" b="1" dirty="0">
                <a:solidFill>
                  <a:srgbClr val="0F172A"/>
                </a:solidFill>
              </a:rPr>
              <a:t>medications  (Medication Records (FK -&gt; users.id))</a:t>
            </a:r>
            <a:endParaRPr lang="en-US" sz="1050" dirty="0"/>
          </a:p>
        </p:txBody>
      </p:sp>
      <p:sp>
        <p:nvSpPr>
          <p:cNvPr id="13" name="Text 10"/>
          <p:cNvSpPr/>
          <p:nvPr/>
        </p:nvSpPr>
        <p:spPr>
          <a:xfrm>
            <a:off x="914400" y="2862072"/>
            <a:ext cx="5577840" cy="365760"/>
          </a:xfrm>
          <a:prstGeom prst="rect">
            <a:avLst/>
          </a:prstGeom>
          <a:noFill/>
          <a:ln/>
        </p:spPr>
        <p:txBody>
          <a:bodyPr wrap="square" rtlCol="0" anchor="ctr"/>
          <a:lstStyle/>
          <a:p>
            <a:pPr indent="0" marL="0">
              <a:buNone/>
            </a:pPr>
            <a:r>
              <a:rPr lang="en-US" sz="850" dirty="0">
                <a:solidFill>
                  <a:srgbClr val="475569"/>
                </a:solidFill>
                <a:latin typeface="Courier New" pitchFamily="34" charset="0"/>
                <a:ea typeface="Courier New" pitchFamily="34" charset="-122"/>
                <a:cs typeface="Courier New" pitchFamily="34" charset="-120"/>
              </a:rPr>
              <a:t>id (PK), user_id (FK), name, dosage, quantity, frequency, instructions, start_date, end_date</a:t>
            </a:r>
            <a:endParaRPr lang="en-US" sz="850" dirty="0"/>
          </a:p>
        </p:txBody>
      </p:sp>
      <p:sp>
        <p:nvSpPr>
          <p:cNvPr id="14" name="Shape 11"/>
          <p:cNvSpPr/>
          <p:nvPr/>
        </p:nvSpPr>
        <p:spPr>
          <a:xfrm>
            <a:off x="731520" y="3383280"/>
            <a:ext cx="5943600" cy="777240"/>
          </a:xfrm>
          <a:prstGeom prst="roundRect">
            <a:avLst>
              <a:gd name="adj" fmla="val 9412"/>
            </a:avLst>
          </a:prstGeom>
          <a:solidFill>
            <a:srgbClr val="FFFFFF"/>
          </a:solidFill>
          <a:ln w="12700">
            <a:solidFill>
              <a:srgbClr val="E2E8F0"/>
            </a:solidFill>
            <a:prstDash val="solid"/>
          </a:ln>
        </p:spPr>
      </p:sp>
      <p:sp>
        <p:nvSpPr>
          <p:cNvPr id="15" name="Text 12"/>
          <p:cNvSpPr/>
          <p:nvPr/>
        </p:nvSpPr>
        <p:spPr>
          <a:xfrm>
            <a:off x="914400" y="3474720"/>
            <a:ext cx="5577840" cy="228600"/>
          </a:xfrm>
          <a:prstGeom prst="rect">
            <a:avLst/>
          </a:prstGeom>
          <a:noFill/>
          <a:ln/>
        </p:spPr>
        <p:txBody>
          <a:bodyPr wrap="square" rtlCol="0" anchor="ctr"/>
          <a:lstStyle/>
          <a:p>
            <a:pPr indent="0" marL="0">
              <a:buNone/>
            </a:pPr>
            <a:r>
              <a:rPr lang="en-US" sz="1050" b="1" dirty="0">
                <a:solidFill>
                  <a:srgbClr val="0F172A"/>
                </a:solidFill>
              </a:rPr>
              <a:t>schedules  (Dose Timings (FK -&gt; medications.id))</a:t>
            </a:r>
            <a:endParaRPr lang="en-US" sz="1050" dirty="0"/>
          </a:p>
        </p:txBody>
      </p:sp>
      <p:sp>
        <p:nvSpPr>
          <p:cNvPr id="16" name="Text 13"/>
          <p:cNvSpPr/>
          <p:nvPr/>
        </p:nvSpPr>
        <p:spPr>
          <a:xfrm>
            <a:off x="914400" y="3730752"/>
            <a:ext cx="5577840" cy="365760"/>
          </a:xfrm>
          <a:prstGeom prst="rect">
            <a:avLst/>
          </a:prstGeom>
          <a:noFill/>
          <a:ln/>
        </p:spPr>
        <p:txBody>
          <a:bodyPr wrap="square" rtlCol="0" anchor="ctr"/>
          <a:lstStyle/>
          <a:p>
            <a:pPr indent="0" marL="0">
              <a:buNone/>
            </a:pPr>
            <a:r>
              <a:rPr lang="en-US" sz="850" dirty="0">
                <a:solidFill>
                  <a:srgbClr val="475569"/>
                </a:solidFill>
                <a:latin typeface="Courier New" pitchFamily="34" charset="0"/>
                <a:ea typeface="Courier New" pitchFamily="34" charset="-122"/>
                <a:cs typeface="Courier New" pitchFamily="34" charset="-120"/>
              </a:rPr>
              <a:t>id (PK), medication_id (FK), user_id (FK), dose_time, active, created_at</a:t>
            </a:r>
            <a:endParaRPr lang="en-US" sz="850" dirty="0"/>
          </a:p>
        </p:txBody>
      </p:sp>
      <p:sp>
        <p:nvSpPr>
          <p:cNvPr id="17" name="Shape 14"/>
          <p:cNvSpPr/>
          <p:nvPr/>
        </p:nvSpPr>
        <p:spPr>
          <a:xfrm>
            <a:off x="731520" y="4251960"/>
            <a:ext cx="5943600" cy="777240"/>
          </a:xfrm>
          <a:prstGeom prst="roundRect">
            <a:avLst>
              <a:gd name="adj" fmla="val 9412"/>
            </a:avLst>
          </a:prstGeom>
          <a:solidFill>
            <a:srgbClr val="FFFFFF"/>
          </a:solidFill>
          <a:ln w="12700">
            <a:solidFill>
              <a:srgbClr val="E2E8F0"/>
            </a:solidFill>
            <a:prstDash val="solid"/>
          </a:ln>
        </p:spPr>
      </p:sp>
      <p:sp>
        <p:nvSpPr>
          <p:cNvPr id="18" name="Shape 15"/>
          <p:cNvSpPr/>
          <p:nvPr/>
        </p:nvSpPr>
        <p:spPr>
          <a:xfrm>
            <a:off x="740664" y="4261104"/>
            <a:ext cx="5925312" cy="54864"/>
          </a:xfrm>
          <a:prstGeom prst="rect">
            <a:avLst/>
          </a:prstGeom>
          <a:solidFill>
            <a:srgbClr val="16A34A"/>
          </a:solidFill>
          <a:ln w="12700">
            <a:solidFill>
              <a:srgbClr val="16A34A"/>
            </a:solidFill>
            <a:prstDash val="solid"/>
          </a:ln>
        </p:spPr>
      </p:sp>
      <p:sp>
        <p:nvSpPr>
          <p:cNvPr id="19" name="Text 16"/>
          <p:cNvSpPr/>
          <p:nvPr/>
        </p:nvSpPr>
        <p:spPr>
          <a:xfrm>
            <a:off x="914400" y="4343400"/>
            <a:ext cx="5577840" cy="228600"/>
          </a:xfrm>
          <a:prstGeom prst="rect">
            <a:avLst/>
          </a:prstGeom>
          <a:noFill/>
          <a:ln/>
        </p:spPr>
        <p:txBody>
          <a:bodyPr wrap="square" rtlCol="0" anchor="ctr"/>
          <a:lstStyle/>
          <a:p>
            <a:pPr indent="0" marL="0">
              <a:buNone/>
            </a:pPr>
            <a:r>
              <a:rPr lang="en-US" sz="1050" b="1" dirty="0">
                <a:solidFill>
                  <a:srgbClr val="0F172A"/>
                </a:solidFill>
              </a:rPr>
              <a:t>dose_events  (Adherence Audit History Log)</a:t>
            </a:r>
            <a:endParaRPr lang="en-US" sz="1050" dirty="0"/>
          </a:p>
        </p:txBody>
      </p:sp>
      <p:sp>
        <p:nvSpPr>
          <p:cNvPr id="20" name="Text 17"/>
          <p:cNvSpPr/>
          <p:nvPr/>
        </p:nvSpPr>
        <p:spPr>
          <a:xfrm>
            <a:off x="914400" y="4599432"/>
            <a:ext cx="5577840" cy="365760"/>
          </a:xfrm>
          <a:prstGeom prst="rect">
            <a:avLst/>
          </a:prstGeom>
          <a:noFill/>
          <a:ln/>
        </p:spPr>
        <p:txBody>
          <a:bodyPr wrap="square" rtlCol="0" anchor="ctr"/>
          <a:lstStyle/>
          <a:p>
            <a:pPr indent="0" marL="0">
              <a:buNone/>
            </a:pPr>
            <a:r>
              <a:rPr lang="en-US" sz="850" dirty="0">
                <a:solidFill>
                  <a:srgbClr val="475569"/>
                </a:solidFill>
                <a:latin typeface="Courier New" pitchFamily="34" charset="0"/>
                <a:ea typeface="Courier New" pitchFamily="34" charset="-122"/>
                <a:cs typeface="Courier New" pitchFamily="34" charset="-120"/>
              </a:rPr>
              <a:t>id (PK), schedule_id (FK), medication_id (FK), user_id (FK), scheduled_for, status (taken/missed), recorded_at</a:t>
            </a:r>
            <a:endParaRPr lang="en-US" sz="850" dirty="0"/>
          </a:p>
        </p:txBody>
      </p:sp>
      <p:sp>
        <p:nvSpPr>
          <p:cNvPr id="21" name="Shape 18"/>
          <p:cNvSpPr/>
          <p:nvPr/>
        </p:nvSpPr>
        <p:spPr>
          <a:xfrm>
            <a:off x="731520" y="5120640"/>
            <a:ext cx="5943600" cy="777240"/>
          </a:xfrm>
          <a:prstGeom prst="roundRect">
            <a:avLst>
              <a:gd name="adj" fmla="val 9412"/>
            </a:avLst>
          </a:prstGeom>
          <a:solidFill>
            <a:srgbClr val="FFFFFF"/>
          </a:solidFill>
          <a:ln w="12700">
            <a:solidFill>
              <a:srgbClr val="E2E8F0"/>
            </a:solidFill>
            <a:prstDash val="solid"/>
          </a:ln>
        </p:spPr>
      </p:sp>
      <p:sp>
        <p:nvSpPr>
          <p:cNvPr id="22" name="Text 19"/>
          <p:cNvSpPr/>
          <p:nvPr/>
        </p:nvSpPr>
        <p:spPr>
          <a:xfrm>
            <a:off x="914400" y="5212080"/>
            <a:ext cx="5577840" cy="228600"/>
          </a:xfrm>
          <a:prstGeom prst="rect">
            <a:avLst/>
          </a:prstGeom>
          <a:noFill/>
          <a:ln/>
        </p:spPr>
        <p:txBody>
          <a:bodyPr wrap="square" rtlCol="0" anchor="ctr"/>
          <a:lstStyle/>
          <a:p>
            <a:pPr indent="0" marL="0">
              <a:buNone/>
            </a:pPr>
            <a:r>
              <a:rPr lang="en-US" sz="1050" b="1" dirty="0">
                <a:solidFill>
                  <a:srgbClr val="0F172A"/>
                </a:solidFill>
              </a:rPr>
              <a:t>doctors  (Doctor &amp; Clinic Directory)</a:t>
            </a:r>
            <a:endParaRPr lang="en-US" sz="1050" dirty="0"/>
          </a:p>
        </p:txBody>
      </p:sp>
      <p:sp>
        <p:nvSpPr>
          <p:cNvPr id="23" name="Text 20"/>
          <p:cNvSpPr/>
          <p:nvPr/>
        </p:nvSpPr>
        <p:spPr>
          <a:xfrm>
            <a:off x="914400" y="5468112"/>
            <a:ext cx="5577840" cy="365760"/>
          </a:xfrm>
          <a:prstGeom prst="rect">
            <a:avLst/>
          </a:prstGeom>
          <a:noFill/>
          <a:ln/>
        </p:spPr>
        <p:txBody>
          <a:bodyPr wrap="square" rtlCol="0" anchor="ctr"/>
          <a:lstStyle/>
          <a:p>
            <a:pPr indent="0" marL="0">
              <a:buNone/>
            </a:pPr>
            <a:r>
              <a:rPr lang="en-US" sz="850" dirty="0">
                <a:solidFill>
                  <a:srgbClr val="475569"/>
                </a:solidFill>
                <a:latin typeface="Courier New" pitchFamily="34" charset="0"/>
                <a:ea typeface="Courier New" pitchFamily="34" charset="-122"/>
                <a:cs typeface="Courier New" pitchFamily="34" charset="-120"/>
              </a:rPr>
              <a:t>id (PK), user_id (FK), name, specialization, clinic_name, phone, email, availability, clinic_address</a:t>
            </a:r>
            <a:endParaRPr lang="en-US" sz="850" dirty="0"/>
          </a:p>
        </p:txBody>
      </p:sp>
      <p:sp>
        <p:nvSpPr>
          <p:cNvPr id="24" name="Shape 21"/>
          <p:cNvSpPr/>
          <p:nvPr/>
        </p:nvSpPr>
        <p:spPr>
          <a:xfrm>
            <a:off x="6949440" y="1645920"/>
            <a:ext cx="4507992" cy="4251960"/>
          </a:xfrm>
          <a:prstGeom prst="roundRect">
            <a:avLst>
              <a:gd name="adj" fmla="val 1720"/>
            </a:avLst>
          </a:prstGeom>
          <a:solidFill>
            <a:srgbClr val="FFFFFF"/>
          </a:solidFill>
          <a:ln w="12700">
            <a:solidFill>
              <a:srgbClr val="E2E8F0"/>
            </a:solidFill>
            <a:prstDash val="solid"/>
          </a:ln>
        </p:spPr>
      </p:sp>
      <p:sp>
        <p:nvSpPr>
          <p:cNvPr id="25" name="Shape 22"/>
          <p:cNvSpPr/>
          <p:nvPr/>
        </p:nvSpPr>
        <p:spPr>
          <a:xfrm>
            <a:off x="6958584" y="1655064"/>
            <a:ext cx="4489704" cy="54864"/>
          </a:xfrm>
          <a:prstGeom prst="rect">
            <a:avLst/>
          </a:prstGeom>
          <a:solidFill>
            <a:srgbClr val="0D9488"/>
          </a:solidFill>
          <a:ln w="12700">
            <a:solidFill>
              <a:srgbClr val="0D9488"/>
            </a:solidFill>
            <a:prstDash val="solid"/>
          </a:ln>
        </p:spPr>
      </p:sp>
      <p:sp>
        <p:nvSpPr>
          <p:cNvPr id="26" name="Text 23"/>
          <p:cNvSpPr/>
          <p:nvPr/>
        </p:nvSpPr>
        <p:spPr>
          <a:xfrm>
            <a:off x="7132320" y="1828800"/>
            <a:ext cx="4114800" cy="320040"/>
          </a:xfrm>
          <a:prstGeom prst="rect">
            <a:avLst/>
          </a:prstGeom>
          <a:noFill/>
          <a:ln/>
        </p:spPr>
        <p:txBody>
          <a:bodyPr wrap="square" rtlCol="0" anchor="ctr"/>
          <a:lstStyle/>
          <a:p>
            <a:pPr indent="0" marL="0">
              <a:buNone/>
            </a:pPr>
            <a:r>
              <a:rPr lang="en-US" sz="1300" b="1" dirty="0">
                <a:solidFill>
                  <a:srgbClr val="0F172A"/>
                </a:solidFill>
              </a:rPr>
              <a:t>Relational Architecture Benefits</a:t>
            </a:r>
            <a:endParaRPr lang="en-US" sz="1300" dirty="0"/>
          </a:p>
        </p:txBody>
      </p:sp>
      <p:sp>
        <p:nvSpPr>
          <p:cNvPr id="27" name="Text 24"/>
          <p:cNvSpPr/>
          <p:nvPr/>
        </p:nvSpPr>
        <p:spPr>
          <a:xfrm>
            <a:off x="7132320" y="2194560"/>
            <a:ext cx="4114800" cy="3566160"/>
          </a:xfrm>
          <a:prstGeom prst="rect">
            <a:avLst/>
          </a:prstGeom>
          <a:noFill/>
          <a:ln/>
        </p:spPr>
        <p:txBody>
          <a:bodyPr wrap="square" rtlCol="0" anchor="ctr"/>
          <a:lstStyle/>
          <a:p>
            <a:pPr indent="0" marL="0">
              <a:lnSpc>
                <a:spcPct val="125000"/>
              </a:lnSpc>
              <a:buNone/>
            </a:pPr>
            <a:r>
              <a:rPr lang="en-US" sz="950" b="1" dirty="0">
                <a:solidFill>
                  <a:srgbClr val="0F172A"/>
                </a:solidFill>
              </a:rPr>
              <a:t>•  Centralized Storage: </a:t>
            </a:r>
            <a:pPr indent="0" marL="0">
              <a:lnSpc>
                <a:spcPct val="125000"/>
              </a:lnSpc>
              <a:buNone/>
            </a:pPr>
            <a:r>
              <a:rPr lang="en-US" sz="950" dirty="0">
                <a:solidFill>
                  <a:srgbClr val="475569"/>
                </a:solidFill>
              </a:rPr>
              <a:t>Consolidates scattered paper notes and uncoordinated alarms into an organized relational schema.
</a:t>
            </a:r>
            <a:pPr indent="0" marL="0">
              <a:lnSpc>
                <a:spcPct val="125000"/>
              </a:lnSpc>
              <a:buNone/>
            </a:pPr>
            <a:r>
              <a:rPr lang="en-US" sz="950" b="1" dirty="0">
                <a:solidFill>
                  <a:srgbClr val="0F172A"/>
                </a:solidFill>
              </a:rPr>
              <a:t>•  Cascading Integrity: </a:t>
            </a:r>
            <a:pPr indent="0" marL="0">
              <a:lnSpc>
                <a:spcPct val="125000"/>
              </a:lnSpc>
              <a:buNone/>
            </a:pPr>
            <a:r>
              <a:rPr lang="en-US" sz="950" dirty="0">
                <a:solidFill>
                  <a:srgbClr val="475569"/>
                </a:solidFill>
              </a:rPr>
              <a:t>Deleting a medication automatically cleans up associated dosage schedules and alert logs (ON DELETE CASCADE).
</a:t>
            </a:r>
            <a:pPr indent="0" marL="0">
              <a:lnSpc>
                <a:spcPct val="125000"/>
              </a:lnSpc>
              <a:buNone/>
            </a:pPr>
            <a:r>
              <a:rPr lang="en-US" sz="950" b="1" dirty="0">
                <a:solidFill>
                  <a:srgbClr val="0F172A"/>
                </a:solidFill>
              </a:rPr>
              <a:t>•  Adherence Audit Trail: </a:t>
            </a:r>
            <a:pPr indent="0" marL="0">
              <a:lnSpc>
                <a:spcPct val="125000"/>
              </a:lnSpc>
              <a:buNone/>
            </a:pPr>
            <a:r>
              <a:rPr lang="en-US" sz="950" dirty="0">
                <a:solidFill>
                  <a:srgbClr val="475569"/>
                </a:solidFill>
              </a:rPr>
              <a:t>Every taken or missed response is saved with an immutable timestamp for clinical reviews.
</a:t>
            </a:r>
            <a:pPr indent="0" marL="0">
              <a:lnSpc>
                <a:spcPct val="125000"/>
              </a:lnSpc>
              <a:buNone/>
            </a:pPr>
            <a:r>
              <a:rPr lang="en-US" sz="950" b="1" dirty="0">
                <a:solidFill>
                  <a:srgbClr val="0F172A"/>
                </a:solidFill>
              </a:rPr>
              <a:t>•  Performance Indexing: </a:t>
            </a:r>
            <a:pPr indent="0" marL="0">
              <a:lnSpc>
                <a:spcPct val="125000"/>
              </a:lnSpc>
              <a:buNone/>
            </a:pPr>
            <a:r>
              <a:rPr lang="en-US" sz="950" dirty="0">
                <a:solidFill>
                  <a:srgbClr val="475569"/>
                </a:solidFill>
              </a:rPr>
              <a:t>Optimized indexes (idx_med_user_dates, idx_schedule_user_active) ensure fast dashboard queries.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731520" y="365760"/>
            <a:ext cx="2286000" cy="274320"/>
          </a:xfrm>
          <a:prstGeom prst="roundRect">
            <a:avLst>
              <a:gd name="adj" fmla="val 50000"/>
            </a:avLst>
          </a:prstGeom>
          <a:solidFill>
            <a:srgbClr val="F0FDFA"/>
          </a:solidFill>
          <a:ln w="12700">
            <a:solidFill>
              <a:srgbClr val="0D9488"/>
            </a:solidFill>
            <a:prstDash val="solid"/>
          </a:ln>
        </p:spPr>
      </p:sp>
      <p:sp>
        <p:nvSpPr>
          <p:cNvPr id="4" name="Text 1"/>
          <p:cNvSpPr/>
          <p:nvPr/>
        </p:nvSpPr>
        <p:spPr>
          <a:xfrm>
            <a:off x="731520" y="365760"/>
            <a:ext cx="2286000" cy="274320"/>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USER INTERFACES · PART 1</a:t>
            </a:r>
            <a:endParaRPr lang="en-US" sz="900" dirty="0"/>
          </a:p>
        </p:txBody>
      </p:sp>
      <p:sp>
        <p:nvSpPr>
          <p:cNvPr id="5" name="Text 2"/>
          <p:cNvSpPr/>
          <p:nvPr/>
        </p:nvSpPr>
        <p:spPr>
          <a:xfrm>
            <a:off x="7772400" y="365760"/>
            <a:ext cx="36576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DoseTrack · BCA S5 · KMCT IETM (KTU)</a:t>
            </a:r>
            <a:endParaRPr lang="en-US" sz="900" dirty="0"/>
          </a:p>
        </p:txBody>
      </p:sp>
      <p:sp>
        <p:nvSpPr>
          <p:cNvPr id="6" name="Text 3"/>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Application Interfaces – Core Patient Experience</a:t>
            </a:r>
            <a:endParaRPr lang="en-US" sz="2200" dirty="0"/>
          </a:p>
        </p:txBody>
      </p:sp>
      <p:sp>
        <p:nvSpPr>
          <p:cNvPr id="7" name="Text 4"/>
          <p:cNvSpPr/>
          <p:nvPr/>
        </p:nvSpPr>
        <p:spPr>
          <a:xfrm>
            <a:off x="731520" y="1188720"/>
            <a:ext cx="10515600" cy="32004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Actual interface screenshots from Appendices (Pages 21–22) of the project report.</a:t>
            </a:r>
            <a:endParaRPr lang="en-US" sz="1100" dirty="0"/>
          </a:p>
        </p:txBody>
      </p:sp>
      <p:sp>
        <p:nvSpPr>
          <p:cNvPr id="8" name="Shape 5"/>
          <p:cNvSpPr/>
          <p:nvPr/>
        </p:nvSpPr>
        <p:spPr>
          <a:xfrm>
            <a:off x="731520" y="1645920"/>
            <a:ext cx="3410712" cy="4389120"/>
          </a:xfrm>
          <a:prstGeom prst="roundRect">
            <a:avLst>
              <a:gd name="adj" fmla="val 2145"/>
            </a:avLst>
          </a:prstGeom>
          <a:solidFill>
            <a:srgbClr val="FFFFFF"/>
          </a:solidFill>
          <a:ln w="12700">
            <a:solidFill>
              <a:srgbClr val="E2E8F0"/>
            </a:solidFill>
            <a:prstDash val="solid"/>
          </a:ln>
        </p:spPr>
      </p:sp>
      <p:pic>
        <p:nvPicPr>
          <p:cNvPr id="9" name="Image 0" descr="C:\Users\DELL\Downloads\DoseTrack\public\images\screen_01_login.png">    </p:cNvPr>
          <p:cNvPicPr>
            <a:picLocks noChangeAspect="1"/>
          </p:cNvPicPr>
          <p:nvPr/>
        </p:nvPicPr>
        <p:blipFill>
          <a:blip r:embed="rId1"/>
          <a:stretch>
            <a:fillRect/>
          </a:stretch>
        </p:blipFill>
        <p:spPr>
          <a:xfrm>
            <a:off x="822960" y="1737360"/>
            <a:ext cx="3227832" cy="2743200"/>
          </a:xfrm>
          <a:prstGeom prst="rect">
            <a:avLst/>
          </a:prstGeom>
        </p:spPr>
      </p:pic>
      <p:sp>
        <p:nvSpPr>
          <p:cNvPr id="10" name="Text 6"/>
          <p:cNvSpPr/>
          <p:nvPr/>
        </p:nvSpPr>
        <p:spPr>
          <a:xfrm>
            <a:off x="868680" y="4572000"/>
            <a:ext cx="3108960" cy="274320"/>
          </a:xfrm>
          <a:prstGeom prst="rect">
            <a:avLst/>
          </a:prstGeom>
          <a:noFill/>
          <a:ln/>
        </p:spPr>
        <p:txBody>
          <a:bodyPr wrap="square" rtlCol="0" anchor="ctr"/>
          <a:lstStyle/>
          <a:p>
            <a:pPr indent="0" marL="0">
              <a:buNone/>
            </a:pPr>
            <a:r>
              <a:rPr lang="en-US" sz="1100" b="1" dirty="0">
                <a:solidFill>
                  <a:srgbClr val="0F172A"/>
                </a:solidFill>
              </a:rPr>
              <a:t>01. Login &amp; Authentication</a:t>
            </a:r>
            <a:endParaRPr lang="en-US" sz="1100" dirty="0"/>
          </a:p>
        </p:txBody>
      </p:sp>
      <p:sp>
        <p:nvSpPr>
          <p:cNvPr id="11" name="Text 7"/>
          <p:cNvSpPr/>
          <p:nvPr/>
        </p:nvSpPr>
        <p:spPr>
          <a:xfrm>
            <a:off x="868680" y="4892040"/>
            <a:ext cx="3108960" cy="1005840"/>
          </a:xfrm>
          <a:prstGeom prst="rect">
            <a:avLst/>
          </a:prstGeom>
          <a:noFill/>
          <a:ln/>
        </p:spPr>
        <p:txBody>
          <a:bodyPr wrap="square" rtlCol="0" anchor="ctr"/>
          <a:lstStyle/>
          <a:p>
            <a:pPr indent="0" marL="0">
              <a:buNone/>
            </a:pPr>
            <a:r>
              <a:rPr lang="en-US" sz="900" dirty="0">
                <a:solidFill>
                  <a:srgbClr val="475569"/>
                </a:solidFill>
              </a:rPr>
              <a:t>Secure role-aware entry point with credentials validation and workspace sign-in.</a:t>
            </a:r>
            <a:endParaRPr lang="en-US" sz="900" dirty="0"/>
          </a:p>
        </p:txBody>
      </p:sp>
      <p:sp>
        <p:nvSpPr>
          <p:cNvPr id="12" name="Shape 8"/>
          <p:cNvSpPr/>
          <p:nvPr/>
        </p:nvSpPr>
        <p:spPr>
          <a:xfrm>
            <a:off x="4389120" y="1645920"/>
            <a:ext cx="3410712" cy="4389120"/>
          </a:xfrm>
          <a:prstGeom prst="roundRect">
            <a:avLst>
              <a:gd name="adj" fmla="val 2145"/>
            </a:avLst>
          </a:prstGeom>
          <a:solidFill>
            <a:srgbClr val="FFFFFF"/>
          </a:solidFill>
          <a:ln w="12700">
            <a:solidFill>
              <a:srgbClr val="E2E8F0"/>
            </a:solidFill>
            <a:prstDash val="solid"/>
          </a:ln>
        </p:spPr>
      </p:sp>
      <p:pic>
        <p:nvPicPr>
          <p:cNvPr id="13" name="Image 1" descr="C:\Users\DELL\Downloads\DoseTrack\public\images\screen_02_dashboard.png">    </p:cNvPr>
          <p:cNvPicPr>
            <a:picLocks noChangeAspect="1"/>
          </p:cNvPicPr>
          <p:nvPr/>
        </p:nvPicPr>
        <p:blipFill>
          <a:blip r:embed="rId2"/>
          <a:stretch>
            <a:fillRect/>
          </a:stretch>
        </p:blipFill>
        <p:spPr>
          <a:xfrm>
            <a:off x="4480560" y="1737360"/>
            <a:ext cx="3227832" cy="2743200"/>
          </a:xfrm>
          <a:prstGeom prst="rect">
            <a:avLst/>
          </a:prstGeom>
        </p:spPr>
      </p:pic>
      <p:sp>
        <p:nvSpPr>
          <p:cNvPr id="14" name="Text 9"/>
          <p:cNvSpPr/>
          <p:nvPr/>
        </p:nvSpPr>
        <p:spPr>
          <a:xfrm>
            <a:off x="4526280" y="4572000"/>
            <a:ext cx="3108960" cy="274320"/>
          </a:xfrm>
          <a:prstGeom prst="rect">
            <a:avLst/>
          </a:prstGeom>
          <a:noFill/>
          <a:ln/>
        </p:spPr>
        <p:txBody>
          <a:bodyPr wrap="square" rtlCol="0" anchor="ctr"/>
          <a:lstStyle/>
          <a:p>
            <a:pPr indent="0" marL="0">
              <a:buNone/>
            </a:pPr>
            <a:r>
              <a:rPr lang="en-US" sz="1100" b="1" dirty="0">
                <a:solidFill>
                  <a:srgbClr val="0F172A"/>
                </a:solidFill>
              </a:rPr>
              <a:t>02. Daily Overview Dashboard</a:t>
            </a:r>
            <a:endParaRPr lang="en-US" sz="1100" dirty="0"/>
          </a:p>
        </p:txBody>
      </p:sp>
      <p:sp>
        <p:nvSpPr>
          <p:cNvPr id="15" name="Text 10"/>
          <p:cNvSpPr/>
          <p:nvPr/>
        </p:nvSpPr>
        <p:spPr>
          <a:xfrm>
            <a:off x="4526280" y="4892040"/>
            <a:ext cx="3108960" cy="1005840"/>
          </a:xfrm>
          <a:prstGeom prst="rect">
            <a:avLst/>
          </a:prstGeom>
          <a:noFill/>
          <a:ln/>
        </p:spPr>
        <p:txBody>
          <a:bodyPr wrap="square" rtlCol="0" anchor="ctr"/>
          <a:lstStyle/>
          <a:p>
            <a:pPr indent="0" marL="0">
              <a:buNone/>
            </a:pPr>
            <a:r>
              <a:rPr lang="en-US" sz="900" dirty="0">
                <a:solidFill>
                  <a:srgbClr val="475569"/>
                </a:solidFill>
              </a:rPr>
              <a:t>Active medicines, today doses (2/4), 30-day adherence (97%), and schedule action cards.</a:t>
            </a:r>
            <a:endParaRPr lang="en-US" sz="900" dirty="0"/>
          </a:p>
        </p:txBody>
      </p:sp>
      <p:sp>
        <p:nvSpPr>
          <p:cNvPr id="16" name="Shape 11"/>
          <p:cNvSpPr/>
          <p:nvPr/>
        </p:nvSpPr>
        <p:spPr>
          <a:xfrm>
            <a:off x="8046720" y="1645920"/>
            <a:ext cx="3410712" cy="4389120"/>
          </a:xfrm>
          <a:prstGeom prst="roundRect">
            <a:avLst>
              <a:gd name="adj" fmla="val 2145"/>
            </a:avLst>
          </a:prstGeom>
          <a:solidFill>
            <a:srgbClr val="FFFFFF"/>
          </a:solidFill>
          <a:ln w="12700">
            <a:solidFill>
              <a:srgbClr val="E2E8F0"/>
            </a:solidFill>
            <a:prstDash val="solid"/>
          </a:ln>
        </p:spPr>
      </p:sp>
      <p:pic>
        <p:nvPicPr>
          <p:cNvPr id="17" name="Image 2" descr="C:\Users\DELL\Downloads\DoseTrack\public\images\screen_04_medication_cabinet.png">    </p:cNvPr>
          <p:cNvPicPr>
            <a:picLocks noChangeAspect="1"/>
          </p:cNvPicPr>
          <p:nvPr/>
        </p:nvPicPr>
        <p:blipFill>
          <a:blip r:embed="rId3"/>
          <a:stretch>
            <a:fillRect/>
          </a:stretch>
        </p:blipFill>
        <p:spPr>
          <a:xfrm>
            <a:off x="8138160" y="1737360"/>
            <a:ext cx="3227832" cy="2743200"/>
          </a:xfrm>
          <a:prstGeom prst="rect">
            <a:avLst/>
          </a:prstGeom>
        </p:spPr>
      </p:pic>
      <p:sp>
        <p:nvSpPr>
          <p:cNvPr id="18" name="Text 12"/>
          <p:cNvSpPr/>
          <p:nvPr/>
        </p:nvSpPr>
        <p:spPr>
          <a:xfrm>
            <a:off x="8183880" y="4572000"/>
            <a:ext cx="3108960" cy="274320"/>
          </a:xfrm>
          <a:prstGeom prst="rect">
            <a:avLst/>
          </a:prstGeom>
          <a:noFill/>
          <a:ln/>
        </p:spPr>
        <p:txBody>
          <a:bodyPr wrap="square" rtlCol="0" anchor="ctr"/>
          <a:lstStyle/>
          <a:p>
            <a:pPr indent="0" marL="0">
              <a:buNone/>
            </a:pPr>
            <a:r>
              <a:rPr lang="en-US" sz="1100" b="1" dirty="0">
                <a:solidFill>
                  <a:srgbClr val="0F172A"/>
                </a:solidFill>
              </a:rPr>
              <a:t>03. Medication Cabinet</a:t>
            </a:r>
            <a:endParaRPr lang="en-US" sz="1100" dirty="0"/>
          </a:p>
        </p:txBody>
      </p:sp>
      <p:sp>
        <p:nvSpPr>
          <p:cNvPr id="19" name="Text 13"/>
          <p:cNvSpPr/>
          <p:nvPr/>
        </p:nvSpPr>
        <p:spPr>
          <a:xfrm>
            <a:off x="8183880" y="4892040"/>
            <a:ext cx="3108960" cy="1005840"/>
          </a:xfrm>
          <a:prstGeom prst="rect">
            <a:avLst/>
          </a:prstGeom>
          <a:noFill/>
          <a:ln/>
        </p:spPr>
        <p:txBody>
          <a:bodyPr wrap="square" rtlCol="0" anchor="ctr"/>
          <a:lstStyle/>
          <a:p>
            <a:pPr indent="0" marL="0">
              <a:buNone/>
            </a:pPr>
            <a:r>
              <a:rPr lang="en-US" sz="900" dirty="0">
                <a:solidFill>
                  <a:srgbClr val="475569"/>
                </a:solidFill>
              </a:rPr>
              <a:t>Prescription list with dosage units, timings, ongoing dates, and Edit/Delete controls.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731520" y="365760"/>
            <a:ext cx="2286000" cy="274320"/>
          </a:xfrm>
          <a:prstGeom prst="roundRect">
            <a:avLst>
              <a:gd name="adj" fmla="val 50000"/>
            </a:avLst>
          </a:prstGeom>
          <a:solidFill>
            <a:srgbClr val="F0FDFA"/>
          </a:solidFill>
          <a:ln w="12700">
            <a:solidFill>
              <a:srgbClr val="0D9488"/>
            </a:solidFill>
            <a:prstDash val="solid"/>
          </a:ln>
        </p:spPr>
      </p:sp>
      <p:sp>
        <p:nvSpPr>
          <p:cNvPr id="4" name="Text 1"/>
          <p:cNvSpPr/>
          <p:nvPr/>
        </p:nvSpPr>
        <p:spPr>
          <a:xfrm>
            <a:off x="731520" y="365760"/>
            <a:ext cx="2286000" cy="274320"/>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USER INTERFACES · PART 2</a:t>
            </a:r>
            <a:endParaRPr lang="en-US" sz="900" dirty="0"/>
          </a:p>
        </p:txBody>
      </p:sp>
      <p:sp>
        <p:nvSpPr>
          <p:cNvPr id="5" name="Text 2"/>
          <p:cNvSpPr/>
          <p:nvPr/>
        </p:nvSpPr>
        <p:spPr>
          <a:xfrm>
            <a:off x="7772400" y="365760"/>
            <a:ext cx="36576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DoseTrack · BCA S5 · KMCT IETM (KTU)</a:t>
            </a:r>
            <a:endParaRPr lang="en-US" sz="900" dirty="0"/>
          </a:p>
        </p:txBody>
      </p:sp>
      <p:sp>
        <p:nvSpPr>
          <p:cNvPr id="6" name="Text 3"/>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Application Interfaces – Adherence &amp; Healthcare</a:t>
            </a:r>
            <a:endParaRPr lang="en-US" sz="2200" dirty="0"/>
          </a:p>
        </p:txBody>
      </p:sp>
      <p:sp>
        <p:nvSpPr>
          <p:cNvPr id="7" name="Text 4"/>
          <p:cNvSpPr/>
          <p:nvPr/>
        </p:nvSpPr>
        <p:spPr>
          <a:xfrm>
            <a:off x="731520" y="1188720"/>
            <a:ext cx="10515600" cy="32004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Adherence audit trail, doctor contacts, and care circle screens from Report Appendices.</a:t>
            </a:r>
            <a:endParaRPr lang="en-US" sz="1100" dirty="0"/>
          </a:p>
        </p:txBody>
      </p:sp>
      <p:sp>
        <p:nvSpPr>
          <p:cNvPr id="8" name="Shape 5"/>
          <p:cNvSpPr/>
          <p:nvPr/>
        </p:nvSpPr>
        <p:spPr>
          <a:xfrm>
            <a:off x="731520" y="1645920"/>
            <a:ext cx="3410712" cy="4389120"/>
          </a:xfrm>
          <a:prstGeom prst="roundRect">
            <a:avLst>
              <a:gd name="adj" fmla="val 2145"/>
            </a:avLst>
          </a:prstGeom>
          <a:solidFill>
            <a:srgbClr val="FFFFFF"/>
          </a:solidFill>
          <a:ln w="12700">
            <a:solidFill>
              <a:srgbClr val="E2E8F0"/>
            </a:solidFill>
            <a:prstDash val="solid"/>
          </a:ln>
        </p:spPr>
      </p:sp>
      <p:pic>
        <p:nvPicPr>
          <p:cNvPr id="9" name="Image 0" descr="C:\Users\DELL\Downloads\DoseTrack\public\images\screen_05_adherence_history.png">    </p:cNvPr>
          <p:cNvPicPr>
            <a:picLocks noChangeAspect="1"/>
          </p:cNvPicPr>
          <p:nvPr/>
        </p:nvPicPr>
        <p:blipFill>
          <a:blip r:embed="rId1"/>
          <a:stretch>
            <a:fillRect/>
          </a:stretch>
        </p:blipFill>
        <p:spPr>
          <a:xfrm>
            <a:off x="822960" y="1737360"/>
            <a:ext cx="3227832" cy="2743200"/>
          </a:xfrm>
          <a:prstGeom prst="rect">
            <a:avLst/>
          </a:prstGeom>
        </p:spPr>
      </p:pic>
      <p:sp>
        <p:nvSpPr>
          <p:cNvPr id="10" name="Text 6"/>
          <p:cNvSpPr/>
          <p:nvPr/>
        </p:nvSpPr>
        <p:spPr>
          <a:xfrm>
            <a:off x="868680" y="4572000"/>
            <a:ext cx="3108960" cy="274320"/>
          </a:xfrm>
          <a:prstGeom prst="rect">
            <a:avLst/>
          </a:prstGeom>
          <a:noFill/>
          <a:ln/>
        </p:spPr>
        <p:txBody>
          <a:bodyPr wrap="square" rtlCol="0" anchor="ctr"/>
          <a:lstStyle/>
          <a:p>
            <a:pPr indent="0" marL="0">
              <a:buNone/>
            </a:pPr>
            <a:r>
              <a:rPr lang="en-US" sz="1100" b="1" dirty="0">
                <a:solidFill>
                  <a:srgbClr val="0F172A"/>
                </a:solidFill>
              </a:rPr>
              <a:t>04. 30-Day Adherence History</a:t>
            </a:r>
            <a:endParaRPr lang="en-US" sz="1100" dirty="0"/>
          </a:p>
        </p:txBody>
      </p:sp>
      <p:sp>
        <p:nvSpPr>
          <p:cNvPr id="11" name="Text 7"/>
          <p:cNvSpPr/>
          <p:nvPr/>
        </p:nvSpPr>
        <p:spPr>
          <a:xfrm>
            <a:off x="868680" y="4892040"/>
            <a:ext cx="3108960" cy="1005840"/>
          </a:xfrm>
          <a:prstGeom prst="rect">
            <a:avLst/>
          </a:prstGeom>
          <a:noFill/>
          <a:ln/>
        </p:spPr>
        <p:txBody>
          <a:bodyPr wrap="square" rtlCol="0" anchor="ctr"/>
          <a:lstStyle/>
          <a:p>
            <a:pPr indent="0" marL="0">
              <a:buNone/>
            </a:pPr>
            <a:r>
              <a:rPr lang="en-US" sz="900" dirty="0">
                <a:solidFill>
                  <a:srgbClr val="475569"/>
                </a:solidFill>
              </a:rPr>
              <a:t>Audit log table recording medication name, dosage strength, scheduled time, and Taken/Missed status.</a:t>
            </a:r>
            <a:endParaRPr lang="en-US" sz="900" dirty="0"/>
          </a:p>
        </p:txBody>
      </p:sp>
      <p:sp>
        <p:nvSpPr>
          <p:cNvPr id="12" name="Shape 8"/>
          <p:cNvSpPr/>
          <p:nvPr/>
        </p:nvSpPr>
        <p:spPr>
          <a:xfrm>
            <a:off x="4389120" y="1645920"/>
            <a:ext cx="3410712" cy="4389120"/>
          </a:xfrm>
          <a:prstGeom prst="roundRect">
            <a:avLst>
              <a:gd name="adj" fmla="val 2145"/>
            </a:avLst>
          </a:prstGeom>
          <a:solidFill>
            <a:srgbClr val="FFFFFF"/>
          </a:solidFill>
          <a:ln w="12700">
            <a:solidFill>
              <a:srgbClr val="E2E8F0"/>
            </a:solidFill>
            <a:prstDash val="solid"/>
          </a:ln>
        </p:spPr>
      </p:sp>
      <p:pic>
        <p:nvPicPr>
          <p:cNvPr id="13" name="Image 1" descr="C:\Users\DELL\Downloads\DoseTrack\public\images\screen_07_doctor_contacts.png">    </p:cNvPr>
          <p:cNvPicPr>
            <a:picLocks noChangeAspect="1"/>
          </p:cNvPicPr>
          <p:nvPr/>
        </p:nvPicPr>
        <p:blipFill>
          <a:blip r:embed="rId2"/>
          <a:stretch>
            <a:fillRect/>
          </a:stretch>
        </p:blipFill>
        <p:spPr>
          <a:xfrm>
            <a:off x="4480560" y="1737360"/>
            <a:ext cx="3227832" cy="2743200"/>
          </a:xfrm>
          <a:prstGeom prst="rect">
            <a:avLst/>
          </a:prstGeom>
        </p:spPr>
      </p:pic>
      <p:sp>
        <p:nvSpPr>
          <p:cNvPr id="14" name="Text 9"/>
          <p:cNvSpPr/>
          <p:nvPr/>
        </p:nvSpPr>
        <p:spPr>
          <a:xfrm>
            <a:off x="4526280" y="4572000"/>
            <a:ext cx="3108960" cy="274320"/>
          </a:xfrm>
          <a:prstGeom prst="rect">
            <a:avLst/>
          </a:prstGeom>
          <a:noFill/>
          <a:ln/>
        </p:spPr>
        <p:txBody>
          <a:bodyPr wrap="square" rtlCol="0" anchor="ctr"/>
          <a:lstStyle/>
          <a:p>
            <a:pPr indent="0" marL="0">
              <a:buNone/>
            </a:pPr>
            <a:r>
              <a:rPr lang="en-US" sz="1100" b="1" dirty="0">
                <a:solidFill>
                  <a:srgbClr val="0F172A"/>
                </a:solidFill>
              </a:rPr>
              <a:t>05. Doctor &amp; Clinic Contacts</a:t>
            </a:r>
            <a:endParaRPr lang="en-US" sz="1100" dirty="0"/>
          </a:p>
        </p:txBody>
      </p:sp>
      <p:sp>
        <p:nvSpPr>
          <p:cNvPr id="15" name="Text 10"/>
          <p:cNvSpPr/>
          <p:nvPr/>
        </p:nvSpPr>
        <p:spPr>
          <a:xfrm>
            <a:off x="4526280" y="4892040"/>
            <a:ext cx="3108960" cy="1005840"/>
          </a:xfrm>
          <a:prstGeom prst="rect">
            <a:avLst/>
          </a:prstGeom>
          <a:noFill/>
          <a:ln/>
        </p:spPr>
        <p:txBody>
          <a:bodyPr wrap="square" rtlCol="0" anchor="ctr"/>
          <a:lstStyle/>
          <a:p>
            <a:pPr indent="0" marL="0">
              <a:buNone/>
            </a:pPr>
            <a:r>
              <a:rPr lang="en-US" sz="900" dirty="0">
                <a:solidFill>
                  <a:srgbClr val="475569"/>
                </a:solidFill>
              </a:rPr>
              <a:t>Physician directory with specialties, clinic hours, phone numbers, and appointment requests.</a:t>
            </a:r>
            <a:endParaRPr lang="en-US" sz="900" dirty="0"/>
          </a:p>
        </p:txBody>
      </p:sp>
      <p:sp>
        <p:nvSpPr>
          <p:cNvPr id="16" name="Shape 11"/>
          <p:cNvSpPr/>
          <p:nvPr/>
        </p:nvSpPr>
        <p:spPr>
          <a:xfrm>
            <a:off x="8046720" y="1645920"/>
            <a:ext cx="3410712" cy="4389120"/>
          </a:xfrm>
          <a:prstGeom prst="roundRect">
            <a:avLst>
              <a:gd name="adj" fmla="val 2145"/>
            </a:avLst>
          </a:prstGeom>
          <a:solidFill>
            <a:srgbClr val="FFFFFF"/>
          </a:solidFill>
          <a:ln w="12700">
            <a:solidFill>
              <a:srgbClr val="E2E8F0"/>
            </a:solidFill>
            <a:prstDash val="solid"/>
          </a:ln>
        </p:spPr>
      </p:sp>
      <p:pic>
        <p:nvPicPr>
          <p:cNvPr id="17" name="Image 2" descr="C:\Users\DELL\Downloads\DoseTrack\public\images\screen_06_care_circle.png">    </p:cNvPr>
          <p:cNvPicPr>
            <a:picLocks noChangeAspect="1"/>
          </p:cNvPicPr>
          <p:nvPr/>
        </p:nvPicPr>
        <p:blipFill>
          <a:blip r:embed="rId3"/>
          <a:stretch>
            <a:fillRect/>
          </a:stretch>
        </p:blipFill>
        <p:spPr>
          <a:xfrm>
            <a:off x="8138160" y="1737360"/>
            <a:ext cx="3227832" cy="2743200"/>
          </a:xfrm>
          <a:prstGeom prst="rect">
            <a:avLst/>
          </a:prstGeom>
        </p:spPr>
      </p:pic>
      <p:sp>
        <p:nvSpPr>
          <p:cNvPr id="18" name="Text 12"/>
          <p:cNvSpPr/>
          <p:nvPr/>
        </p:nvSpPr>
        <p:spPr>
          <a:xfrm>
            <a:off x="8183880" y="4572000"/>
            <a:ext cx="3108960" cy="274320"/>
          </a:xfrm>
          <a:prstGeom prst="rect">
            <a:avLst/>
          </a:prstGeom>
          <a:noFill/>
          <a:ln/>
        </p:spPr>
        <p:txBody>
          <a:bodyPr wrap="square" rtlCol="0" anchor="ctr"/>
          <a:lstStyle/>
          <a:p>
            <a:pPr indent="0" marL="0">
              <a:buNone/>
            </a:pPr>
            <a:r>
              <a:rPr lang="en-US" sz="1100" b="1" dirty="0">
                <a:solidFill>
                  <a:srgbClr val="0F172A"/>
                </a:solidFill>
              </a:rPr>
              <a:t>06. Care Circle Collaboration</a:t>
            </a:r>
            <a:endParaRPr lang="en-US" sz="1100" dirty="0"/>
          </a:p>
        </p:txBody>
      </p:sp>
      <p:sp>
        <p:nvSpPr>
          <p:cNvPr id="19" name="Text 13"/>
          <p:cNvSpPr/>
          <p:nvPr/>
        </p:nvSpPr>
        <p:spPr>
          <a:xfrm>
            <a:off x="8183880" y="4892040"/>
            <a:ext cx="3108960" cy="1005840"/>
          </a:xfrm>
          <a:prstGeom prst="rect">
            <a:avLst/>
          </a:prstGeom>
          <a:noFill/>
          <a:ln/>
        </p:spPr>
        <p:txBody>
          <a:bodyPr wrap="square" rtlCol="0" anchor="ctr"/>
          <a:lstStyle/>
          <a:p>
            <a:pPr indent="0" marL="0">
              <a:buNone/>
            </a:pPr>
            <a:r>
              <a:rPr lang="en-US" sz="900" dirty="0">
                <a:solidFill>
                  <a:srgbClr val="475569"/>
                </a:solidFill>
              </a:rPr>
              <a:t>Connected family guardian and caretaker profiles to support patient adherence oversight.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731520" y="365760"/>
            <a:ext cx="2286000" cy="274320"/>
          </a:xfrm>
          <a:prstGeom prst="roundRect">
            <a:avLst>
              <a:gd name="adj" fmla="val 50000"/>
            </a:avLst>
          </a:prstGeom>
          <a:solidFill>
            <a:srgbClr val="F0FDFA"/>
          </a:solidFill>
          <a:ln w="12700">
            <a:solidFill>
              <a:srgbClr val="0D9488"/>
            </a:solidFill>
            <a:prstDash val="solid"/>
          </a:ln>
        </p:spPr>
      </p:sp>
      <p:sp>
        <p:nvSpPr>
          <p:cNvPr id="4" name="Text 1"/>
          <p:cNvSpPr/>
          <p:nvPr/>
        </p:nvSpPr>
        <p:spPr>
          <a:xfrm>
            <a:off x="731520" y="365760"/>
            <a:ext cx="2286000" cy="274320"/>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FEATURE VERIFICATION</a:t>
            </a:r>
            <a:endParaRPr lang="en-US" sz="900" dirty="0"/>
          </a:p>
        </p:txBody>
      </p:sp>
      <p:sp>
        <p:nvSpPr>
          <p:cNvPr id="5" name="Text 2"/>
          <p:cNvSpPr/>
          <p:nvPr/>
        </p:nvSpPr>
        <p:spPr>
          <a:xfrm>
            <a:off x="7772400" y="365760"/>
            <a:ext cx="36576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DoseTrack · BCA S5 · KMCT IETM (KTU)</a:t>
            </a:r>
            <a:endParaRPr lang="en-US" sz="900" dirty="0"/>
          </a:p>
        </p:txBody>
      </p:sp>
      <p:sp>
        <p:nvSpPr>
          <p:cNvPr id="6" name="Text 3"/>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Implementation &amp; Key Functionalities</a:t>
            </a:r>
            <a:endParaRPr lang="en-US" sz="2200" dirty="0"/>
          </a:p>
        </p:txBody>
      </p:sp>
      <p:sp>
        <p:nvSpPr>
          <p:cNvPr id="7" name="Text 4"/>
          <p:cNvSpPr/>
          <p:nvPr/>
        </p:nvSpPr>
        <p:spPr>
          <a:xfrm>
            <a:off x="731520" y="1188720"/>
            <a:ext cx="10515600" cy="32004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Summary of implemented features verified in the working prototype.</a:t>
            </a:r>
            <a:endParaRPr lang="en-US" sz="1100" dirty="0"/>
          </a:p>
        </p:txBody>
      </p:sp>
      <p:sp>
        <p:nvSpPr>
          <p:cNvPr id="8" name="Shape 5"/>
          <p:cNvSpPr/>
          <p:nvPr/>
        </p:nvSpPr>
        <p:spPr>
          <a:xfrm>
            <a:off x="731520" y="1645920"/>
            <a:ext cx="5285232" cy="1005840"/>
          </a:xfrm>
          <a:prstGeom prst="roundRect">
            <a:avLst>
              <a:gd name="adj" fmla="val 7273"/>
            </a:avLst>
          </a:prstGeom>
          <a:solidFill>
            <a:srgbClr val="FFFFFF"/>
          </a:solidFill>
          <a:ln w="12700">
            <a:solidFill>
              <a:srgbClr val="E2E8F0"/>
            </a:solidFill>
            <a:prstDash val="solid"/>
          </a:ln>
        </p:spPr>
      </p:sp>
      <p:sp>
        <p:nvSpPr>
          <p:cNvPr id="9" name="Text 6"/>
          <p:cNvSpPr/>
          <p:nvPr/>
        </p:nvSpPr>
        <p:spPr>
          <a:xfrm>
            <a:off x="914400" y="1755648"/>
            <a:ext cx="4114800" cy="256032"/>
          </a:xfrm>
          <a:prstGeom prst="rect">
            <a:avLst/>
          </a:prstGeom>
          <a:noFill/>
          <a:ln/>
        </p:spPr>
        <p:txBody>
          <a:bodyPr wrap="square" rtlCol="0" anchor="ctr"/>
          <a:lstStyle/>
          <a:p>
            <a:pPr indent="0" marL="0">
              <a:buNone/>
            </a:pPr>
            <a:r>
              <a:rPr lang="en-US" sz="1100" b="1" dirty="0">
                <a:solidFill>
                  <a:srgbClr val="0F172A"/>
                </a:solidFill>
              </a:rPr>
              <a:t>1. User Registration &amp; Authentication</a:t>
            </a:r>
            <a:endParaRPr lang="en-US" sz="1100" dirty="0"/>
          </a:p>
        </p:txBody>
      </p:sp>
      <p:sp>
        <p:nvSpPr>
          <p:cNvPr id="10" name="Text 7"/>
          <p:cNvSpPr/>
          <p:nvPr/>
        </p:nvSpPr>
        <p:spPr>
          <a:xfrm>
            <a:off x="5029200" y="1755648"/>
            <a:ext cx="822960" cy="228600"/>
          </a:xfrm>
          <a:prstGeom prst="rect">
            <a:avLst/>
          </a:prstGeom>
          <a:noFill/>
          <a:ln/>
        </p:spPr>
        <p:txBody>
          <a:bodyPr wrap="square" rtlCol="0" anchor="ctr"/>
          <a:lstStyle/>
          <a:p>
            <a:pPr indent="0" marL="0">
              <a:buNone/>
            </a:pPr>
            <a:r>
              <a:rPr lang="en-US" sz="850" b="1" dirty="0">
                <a:solidFill>
                  <a:srgbClr val="16A34A"/>
                </a:solidFill>
              </a:rPr>
              <a:t>✓ Implemented</a:t>
            </a:r>
            <a:endParaRPr lang="en-US" sz="850" dirty="0"/>
          </a:p>
        </p:txBody>
      </p:sp>
      <p:sp>
        <p:nvSpPr>
          <p:cNvPr id="11" name="Text 8"/>
          <p:cNvSpPr/>
          <p:nvPr/>
        </p:nvSpPr>
        <p:spPr>
          <a:xfrm>
            <a:off x="914400" y="2029968"/>
            <a:ext cx="4919472" cy="548640"/>
          </a:xfrm>
          <a:prstGeom prst="rect">
            <a:avLst/>
          </a:prstGeom>
          <a:noFill/>
          <a:ln/>
        </p:spPr>
        <p:txBody>
          <a:bodyPr wrap="square" rtlCol="0" anchor="ctr"/>
          <a:lstStyle/>
          <a:p>
            <a:pPr indent="0" marL="0">
              <a:buNone/>
            </a:pPr>
            <a:r>
              <a:rPr lang="en-US" sz="950" dirty="0">
                <a:solidFill>
                  <a:srgbClr val="475569"/>
                </a:solidFill>
              </a:rPr>
              <a:t>Secure user login, password hashing, and session management associating patient records.</a:t>
            </a:r>
            <a:endParaRPr lang="en-US" sz="950" dirty="0"/>
          </a:p>
        </p:txBody>
      </p:sp>
      <p:sp>
        <p:nvSpPr>
          <p:cNvPr id="12" name="Shape 9"/>
          <p:cNvSpPr/>
          <p:nvPr/>
        </p:nvSpPr>
        <p:spPr>
          <a:xfrm>
            <a:off x="6172200" y="1645920"/>
            <a:ext cx="5285232" cy="1005840"/>
          </a:xfrm>
          <a:prstGeom prst="roundRect">
            <a:avLst>
              <a:gd name="adj" fmla="val 7273"/>
            </a:avLst>
          </a:prstGeom>
          <a:solidFill>
            <a:srgbClr val="FFFFFF"/>
          </a:solidFill>
          <a:ln w="12700">
            <a:solidFill>
              <a:srgbClr val="E2E8F0"/>
            </a:solidFill>
            <a:prstDash val="solid"/>
          </a:ln>
        </p:spPr>
      </p:sp>
      <p:sp>
        <p:nvSpPr>
          <p:cNvPr id="13" name="Text 10"/>
          <p:cNvSpPr/>
          <p:nvPr/>
        </p:nvSpPr>
        <p:spPr>
          <a:xfrm>
            <a:off x="6355080" y="1755648"/>
            <a:ext cx="4114800" cy="256032"/>
          </a:xfrm>
          <a:prstGeom prst="rect">
            <a:avLst/>
          </a:prstGeom>
          <a:noFill/>
          <a:ln/>
        </p:spPr>
        <p:txBody>
          <a:bodyPr wrap="square" rtlCol="0" anchor="ctr"/>
          <a:lstStyle/>
          <a:p>
            <a:pPr indent="0" marL="0">
              <a:buNone/>
            </a:pPr>
            <a:r>
              <a:rPr lang="en-US" sz="1100" b="1" dirty="0">
                <a:solidFill>
                  <a:srgbClr val="0F172A"/>
                </a:solidFill>
              </a:rPr>
              <a:t>2. Medication Record Management</a:t>
            </a:r>
            <a:endParaRPr lang="en-US" sz="1100" dirty="0"/>
          </a:p>
        </p:txBody>
      </p:sp>
      <p:sp>
        <p:nvSpPr>
          <p:cNvPr id="14" name="Text 11"/>
          <p:cNvSpPr/>
          <p:nvPr/>
        </p:nvSpPr>
        <p:spPr>
          <a:xfrm>
            <a:off x="10469880" y="1755648"/>
            <a:ext cx="822960" cy="228600"/>
          </a:xfrm>
          <a:prstGeom prst="rect">
            <a:avLst/>
          </a:prstGeom>
          <a:noFill/>
          <a:ln/>
        </p:spPr>
        <p:txBody>
          <a:bodyPr wrap="square" rtlCol="0" anchor="ctr"/>
          <a:lstStyle/>
          <a:p>
            <a:pPr indent="0" marL="0">
              <a:buNone/>
            </a:pPr>
            <a:r>
              <a:rPr lang="en-US" sz="850" b="1" dirty="0">
                <a:solidFill>
                  <a:srgbClr val="16A34A"/>
                </a:solidFill>
              </a:rPr>
              <a:t>✓ Implemented</a:t>
            </a:r>
            <a:endParaRPr lang="en-US" sz="850" dirty="0"/>
          </a:p>
        </p:txBody>
      </p:sp>
      <p:sp>
        <p:nvSpPr>
          <p:cNvPr id="15" name="Text 12"/>
          <p:cNvSpPr/>
          <p:nvPr/>
        </p:nvSpPr>
        <p:spPr>
          <a:xfrm>
            <a:off x="6355080" y="2029968"/>
            <a:ext cx="4919472" cy="548640"/>
          </a:xfrm>
          <a:prstGeom prst="rect">
            <a:avLst/>
          </a:prstGeom>
          <a:noFill/>
          <a:ln/>
        </p:spPr>
        <p:txBody>
          <a:bodyPr wrap="square" rtlCol="0" anchor="ctr"/>
          <a:lstStyle/>
          <a:p>
            <a:pPr indent="0" marL="0">
              <a:buNone/>
            </a:pPr>
            <a:r>
              <a:rPr lang="en-US" sz="950" dirty="0">
                <a:solidFill>
                  <a:srgbClr val="475569"/>
                </a:solidFill>
              </a:rPr>
              <a:t>Full CRUD operations to store drug names, dosage strengths, units, instructions, and dates.</a:t>
            </a:r>
            <a:endParaRPr lang="en-US" sz="950" dirty="0"/>
          </a:p>
        </p:txBody>
      </p:sp>
      <p:sp>
        <p:nvSpPr>
          <p:cNvPr id="16" name="Shape 13"/>
          <p:cNvSpPr/>
          <p:nvPr/>
        </p:nvSpPr>
        <p:spPr>
          <a:xfrm>
            <a:off x="731520" y="2761488"/>
            <a:ext cx="5285232" cy="1005840"/>
          </a:xfrm>
          <a:prstGeom prst="roundRect">
            <a:avLst>
              <a:gd name="adj" fmla="val 7273"/>
            </a:avLst>
          </a:prstGeom>
          <a:solidFill>
            <a:srgbClr val="FFFFFF"/>
          </a:solidFill>
          <a:ln w="12700">
            <a:solidFill>
              <a:srgbClr val="E2E8F0"/>
            </a:solidFill>
            <a:prstDash val="solid"/>
          </a:ln>
        </p:spPr>
      </p:sp>
      <p:sp>
        <p:nvSpPr>
          <p:cNvPr id="17" name="Text 14"/>
          <p:cNvSpPr/>
          <p:nvPr/>
        </p:nvSpPr>
        <p:spPr>
          <a:xfrm>
            <a:off x="914400" y="2871216"/>
            <a:ext cx="4114800" cy="256032"/>
          </a:xfrm>
          <a:prstGeom prst="rect">
            <a:avLst/>
          </a:prstGeom>
          <a:noFill/>
          <a:ln/>
        </p:spPr>
        <p:txBody>
          <a:bodyPr wrap="square" rtlCol="0" anchor="ctr"/>
          <a:lstStyle/>
          <a:p>
            <a:pPr indent="0" marL="0">
              <a:buNone/>
            </a:pPr>
            <a:r>
              <a:rPr lang="en-US" sz="1100" b="1" dirty="0">
                <a:solidFill>
                  <a:srgbClr val="0F172A"/>
                </a:solidFill>
              </a:rPr>
              <a:t>3. Medication Schedule Configuration</a:t>
            </a:r>
            <a:endParaRPr lang="en-US" sz="1100" dirty="0"/>
          </a:p>
        </p:txBody>
      </p:sp>
      <p:sp>
        <p:nvSpPr>
          <p:cNvPr id="18" name="Text 15"/>
          <p:cNvSpPr/>
          <p:nvPr/>
        </p:nvSpPr>
        <p:spPr>
          <a:xfrm>
            <a:off x="5029200" y="2871216"/>
            <a:ext cx="822960" cy="228600"/>
          </a:xfrm>
          <a:prstGeom prst="rect">
            <a:avLst/>
          </a:prstGeom>
          <a:noFill/>
          <a:ln/>
        </p:spPr>
        <p:txBody>
          <a:bodyPr wrap="square" rtlCol="0" anchor="ctr"/>
          <a:lstStyle/>
          <a:p>
            <a:pPr indent="0" marL="0">
              <a:buNone/>
            </a:pPr>
            <a:r>
              <a:rPr lang="en-US" sz="850" b="1" dirty="0">
                <a:solidFill>
                  <a:srgbClr val="16A34A"/>
                </a:solidFill>
              </a:rPr>
              <a:t>✓ Implemented</a:t>
            </a:r>
            <a:endParaRPr lang="en-US" sz="850" dirty="0"/>
          </a:p>
        </p:txBody>
      </p:sp>
      <p:sp>
        <p:nvSpPr>
          <p:cNvPr id="19" name="Text 16"/>
          <p:cNvSpPr/>
          <p:nvPr/>
        </p:nvSpPr>
        <p:spPr>
          <a:xfrm>
            <a:off x="914400" y="3145536"/>
            <a:ext cx="4919472" cy="548640"/>
          </a:xfrm>
          <a:prstGeom prst="rect">
            <a:avLst/>
          </a:prstGeom>
          <a:noFill/>
          <a:ln/>
        </p:spPr>
        <p:txBody>
          <a:bodyPr wrap="square" rtlCol="0" anchor="ctr"/>
          <a:lstStyle/>
          <a:p>
            <a:pPr indent="0" marL="0">
              <a:buNone/>
            </a:pPr>
            <a:r>
              <a:rPr lang="en-US" sz="950" dirty="0">
                <a:solidFill>
                  <a:srgbClr val="475569"/>
                </a:solidFill>
              </a:rPr>
              <a:t>Configurable dosage timings (e.g. 08:00 AM, 08:30 PM), intake frequencies, and active flags.</a:t>
            </a:r>
            <a:endParaRPr lang="en-US" sz="950" dirty="0"/>
          </a:p>
        </p:txBody>
      </p:sp>
      <p:sp>
        <p:nvSpPr>
          <p:cNvPr id="20" name="Shape 17"/>
          <p:cNvSpPr/>
          <p:nvPr/>
        </p:nvSpPr>
        <p:spPr>
          <a:xfrm>
            <a:off x="6172200" y="2761488"/>
            <a:ext cx="5285232" cy="1005840"/>
          </a:xfrm>
          <a:prstGeom prst="roundRect">
            <a:avLst>
              <a:gd name="adj" fmla="val 7273"/>
            </a:avLst>
          </a:prstGeom>
          <a:solidFill>
            <a:srgbClr val="FFFFFF"/>
          </a:solidFill>
          <a:ln w="12700">
            <a:solidFill>
              <a:srgbClr val="E2E8F0"/>
            </a:solidFill>
            <a:prstDash val="solid"/>
          </a:ln>
        </p:spPr>
      </p:sp>
      <p:sp>
        <p:nvSpPr>
          <p:cNvPr id="21" name="Text 18"/>
          <p:cNvSpPr/>
          <p:nvPr/>
        </p:nvSpPr>
        <p:spPr>
          <a:xfrm>
            <a:off x="6355080" y="2871216"/>
            <a:ext cx="4114800" cy="256032"/>
          </a:xfrm>
          <a:prstGeom prst="rect">
            <a:avLst/>
          </a:prstGeom>
          <a:noFill/>
          <a:ln/>
        </p:spPr>
        <p:txBody>
          <a:bodyPr wrap="square" rtlCol="0" anchor="ctr"/>
          <a:lstStyle/>
          <a:p>
            <a:pPr indent="0" marL="0">
              <a:buNone/>
            </a:pPr>
            <a:r>
              <a:rPr lang="en-US" sz="1100" b="1" dirty="0">
                <a:solidFill>
                  <a:srgbClr val="0F172A"/>
                </a:solidFill>
              </a:rPr>
              <a:t>4. Automated Medication Reminders</a:t>
            </a:r>
            <a:endParaRPr lang="en-US" sz="1100" dirty="0"/>
          </a:p>
        </p:txBody>
      </p:sp>
      <p:sp>
        <p:nvSpPr>
          <p:cNvPr id="22" name="Text 19"/>
          <p:cNvSpPr/>
          <p:nvPr/>
        </p:nvSpPr>
        <p:spPr>
          <a:xfrm>
            <a:off x="10469880" y="2871216"/>
            <a:ext cx="822960" cy="228600"/>
          </a:xfrm>
          <a:prstGeom prst="rect">
            <a:avLst/>
          </a:prstGeom>
          <a:noFill/>
          <a:ln/>
        </p:spPr>
        <p:txBody>
          <a:bodyPr wrap="square" rtlCol="0" anchor="ctr"/>
          <a:lstStyle/>
          <a:p>
            <a:pPr indent="0" marL="0">
              <a:buNone/>
            </a:pPr>
            <a:r>
              <a:rPr lang="en-US" sz="850" b="1" dirty="0">
                <a:solidFill>
                  <a:srgbClr val="16A34A"/>
                </a:solidFill>
              </a:rPr>
              <a:t>✓ Implemented</a:t>
            </a:r>
            <a:endParaRPr lang="en-US" sz="850" dirty="0"/>
          </a:p>
        </p:txBody>
      </p:sp>
      <p:sp>
        <p:nvSpPr>
          <p:cNvPr id="23" name="Text 20"/>
          <p:cNvSpPr/>
          <p:nvPr/>
        </p:nvSpPr>
        <p:spPr>
          <a:xfrm>
            <a:off x="6355080" y="3145536"/>
            <a:ext cx="4919472" cy="548640"/>
          </a:xfrm>
          <a:prstGeom prst="rect">
            <a:avLst/>
          </a:prstGeom>
          <a:noFill/>
          <a:ln/>
        </p:spPr>
        <p:txBody>
          <a:bodyPr wrap="square" rtlCol="0" anchor="ctr"/>
          <a:lstStyle/>
          <a:p>
            <a:pPr indent="0" marL="0">
              <a:buNone/>
            </a:pPr>
            <a:r>
              <a:rPr lang="en-US" sz="950" dirty="0">
                <a:solidFill>
                  <a:srgbClr val="475569"/>
                </a:solidFill>
              </a:rPr>
              <a:t>Automated notification engine alerting patients precisely when scheduled doses become due.</a:t>
            </a:r>
            <a:endParaRPr lang="en-US" sz="950" dirty="0"/>
          </a:p>
        </p:txBody>
      </p:sp>
      <p:sp>
        <p:nvSpPr>
          <p:cNvPr id="24" name="Shape 21"/>
          <p:cNvSpPr/>
          <p:nvPr/>
        </p:nvSpPr>
        <p:spPr>
          <a:xfrm>
            <a:off x="731520" y="3877056"/>
            <a:ext cx="5285232" cy="1005840"/>
          </a:xfrm>
          <a:prstGeom prst="roundRect">
            <a:avLst>
              <a:gd name="adj" fmla="val 7273"/>
            </a:avLst>
          </a:prstGeom>
          <a:solidFill>
            <a:srgbClr val="FFFFFF"/>
          </a:solidFill>
          <a:ln w="12700">
            <a:solidFill>
              <a:srgbClr val="E2E8F0"/>
            </a:solidFill>
            <a:prstDash val="solid"/>
          </a:ln>
        </p:spPr>
      </p:sp>
      <p:sp>
        <p:nvSpPr>
          <p:cNvPr id="25" name="Text 22"/>
          <p:cNvSpPr/>
          <p:nvPr/>
        </p:nvSpPr>
        <p:spPr>
          <a:xfrm>
            <a:off x="914400" y="3986784"/>
            <a:ext cx="4114800" cy="256032"/>
          </a:xfrm>
          <a:prstGeom prst="rect">
            <a:avLst/>
          </a:prstGeom>
          <a:noFill/>
          <a:ln/>
        </p:spPr>
        <p:txBody>
          <a:bodyPr wrap="square" rtlCol="0" anchor="ctr"/>
          <a:lstStyle/>
          <a:p>
            <a:pPr indent="0" marL="0">
              <a:buNone/>
            </a:pPr>
            <a:r>
              <a:rPr lang="en-US" sz="1100" b="1" dirty="0">
                <a:solidFill>
                  <a:srgbClr val="0F172A"/>
                </a:solidFill>
              </a:rPr>
              <a:t>5. Taken / Missed Dose Tracking</a:t>
            </a:r>
            <a:endParaRPr lang="en-US" sz="1100" dirty="0"/>
          </a:p>
        </p:txBody>
      </p:sp>
      <p:sp>
        <p:nvSpPr>
          <p:cNvPr id="26" name="Text 23"/>
          <p:cNvSpPr/>
          <p:nvPr/>
        </p:nvSpPr>
        <p:spPr>
          <a:xfrm>
            <a:off x="5029200" y="3986784"/>
            <a:ext cx="822960" cy="228600"/>
          </a:xfrm>
          <a:prstGeom prst="rect">
            <a:avLst/>
          </a:prstGeom>
          <a:noFill/>
          <a:ln/>
        </p:spPr>
        <p:txBody>
          <a:bodyPr wrap="square" rtlCol="0" anchor="ctr"/>
          <a:lstStyle/>
          <a:p>
            <a:pPr indent="0" marL="0">
              <a:buNone/>
            </a:pPr>
            <a:r>
              <a:rPr lang="en-US" sz="850" b="1" dirty="0">
                <a:solidFill>
                  <a:srgbClr val="16A34A"/>
                </a:solidFill>
              </a:rPr>
              <a:t>✓ Implemented</a:t>
            </a:r>
            <a:endParaRPr lang="en-US" sz="850" dirty="0"/>
          </a:p>
        </p:txBody>
      </p:sp>
      <p:sp>
        <p:nvSpPr>
          <p:cNvPr id="27" name="Text 24"/>
          <p:cNvSpPr/>
          <p:nvPr/>
        </p:nvSpPr>
        <p:spPr>
          <a:xfrm>
            <a:off x="914400" y="4261104"/>
            <a:ext cx="4919472" cy="548640"/>
          </a:xfrm>
          <a:prstGeom prst="rect">
            <a:avLst/>
          </a:prstGeom>
          <a:noFill/>
          <a:ln/>
        </p:spPr>
        <p:txBody>
          <a:bodyPr wrap="square" rtlCol="0" anchor="ctr"/>
          <a:lstStyle/>
          <a:p>
            <a:pPr indent="0" marL="0">
              <a:buNone/>
            </a:pPr>
            <a:r>
              <a:rPr lang="en-US" sz="950" dirty="0">
                <a:solidFill>
                  <a:srgbClr val="475569"/>
                </a:solidFill>
              </a:rPr>
              <a:t>Interactive response buttons allowing users to record dose outcomes with real-time logging.</a:t>
            </a:r>
            <a:endParaRPr lang="en-US" sz="950" dirty="0"/>
          </a:p>
        </p:txBody>
      </p:sp>
      <p:sp>
        <p:nvSpPr>
          <p:cNvPr id="28" name="Shape 25"/>
          <p:cNvSpPr/>
          <p:nvPr/>
        </p:nvSpPr>
        <p:spPr>
          <a:xfrm>
            <a:off x="6172200" y="3877056"/>
            <a:ext cx="5285232" cy="1005840"/>
          </a:xfrm>
          <a:prstGeom prst="roundRect">
            <a:avLst>
              <a:gd name="adj" fmla="val 7273"/>
            </a:avLst>
          </a:prstGeom>
          <a:solidFill>
            <a:srgbClr val="FFFFFF"/>
          </a:solidFill>
          <a:ln w="12700">
            <a:solidFill>
              <a:srgbClr val="E2E8F0"/>
            </a:solidFill>
            <a:prstDash val="solid"/>
          </a:ln>
        </p:spPr>
      </p:sp>
      <p:sp>
        <p:nvSpPr>
          <p:cNvPr id="29" name="Text 26"/>
          <p:cNvSpPr/>
          <p:nvPr/>
        </p:nvSpPr>
        <p:spPr>
          <a:xfrm>
            <a:off x="6355080" y="3986784"/>
            <a:ext cx="4114800" cy="256032"/>
          </a:xfrm>
          <a:prstGeom prst="rect">
            <a:avLst/>
          </a:prstGeom>
          <a:noFill/>
          <a:ln/>
        </p:spPr>
        <p:txBody>
          <a:bodyPr wrap="square" rtlCol="0" anchor="ctr"/>
          <a:lstStyle/>
          <a:p>
            <a:pPr indent="0" marL="0">
              <a:buNone/>
            </a:pPr>
            <a:r>
              <a:rPr lang="en-US" sz="1100" b="1" dirty="0">
                <a:solidFill>
                  <a:srgbClr val="0F172A"/>
                </a:solidFill>
              </a:rPr>
              <a:t>6. Adherence History &amp; Audit Trail</a:t>
            </a:r>
            <a:endParaRPr lang="en-US" sz="1100" dirty="0"/>
          </a:p>
        </p:txBody>
      </p:sp>
      <p:sp>
        <p:nvSpPr>
          <p:cNvPr id="30" name="Text 27"/>
          <p:cNvSpPr/>
          <p:nvPr/>
        </p:nvSpPr>
        <p:spPr>
          <a:xfrm>
            <a:off x="10469880" y="3986784"/>
            <a:ext cx="822960" cy="228600"/>
          </a:xfrm>
          <a:prstGeom prst="rect">
            <a:avLst/>
          </a:prstGeom>
          <a:noFill/>
          <a:ln/>
        </p:spPr>
        <p:txBody>
          <a:bodyPr wrap="square" rtlCol="0" anchor="ctr"/>
          <a:lstStyle/>
          <a:p>
            <a:pPr indent="0" marL="0">
              <a:buNone/>
            </a:pPr>
            <a:r>
              <a:rPr lang="en-US" sz="850" b="1" dirty="0">
                <a:solidFill>
                  <a:srgbClr val="16A34A"/>
                </a:solidFill>
              </a:rPr>
              <a:t>✓ Implemented</a:t>
            </a:r>
            <a:endParaRPr lang="en-US" sz="850" dirty="0"/>
          </a:p>
        </p:txBody>
      </p:sp>
      <p:sp>
        <p:nvSpPr>
          <p:cNvPr id="31" name="Text 28"/>
          <p:cNvSpPr/>
          <p:nvPr/>
        </p:nvSpPr>
        <p:spPr>
          <a:xfrm>
            <a:off x="6355080" y="4261104"/>
            <a:ext cx="4919472" cy="548640"/>
          </a:xfrm>
          <a:prstGeom prst="rect">
            <a:avLst/>
          </a:prstGeom>
          <a:noFill/>
          <a:ln/>
        </p:spPr>
        <p:txBody>
          <a:bodyPr wrap="square" rtlCol="0" anchor="ctr"/>
          <a:lstStyle/>
          <a:p>
            <a:pPr indent="0" marL="0">
              <a:buNone/>
            </a:pPr>
            <a:r>
              <a:rPr lang="en-US" sz="950" dirty="0">
                <a:solidFill>
                  <a:srgbClr val="475569"/>
                </a:solidFill>
              </a:rPr>
              <a:t>Structured chronological table of dose events providing an auditable record of compliance.</a:t>
            </a:r>
            <a:endParaRPr lang="en-US" sz="950" dirty="0"/>
          </a:p>
        </p:txBody>
      </p:sp>
      <p:sp>
        <p:nvSpPr>
          <p:cNvPr id="32" name="Shape 29"/>
          <p:cNvSpPr/>
          <p:nvPr/>
        </p:nvSpPr>
        <p:spPr>
          <a:xfrm>
            <a:off x="731520" y="4992624"/>
            <a:ext cx="5285232" cy="1005840"/>
          </a:xfrm>
          <a:prstGeom prst="roundRect">
            <a:avLst>
              <a:gd name="adj" fmla="val 7273"/>
            </a:avLst>
          </a:prstGeom>
          <a:solidFill>
            <a:srgbClr val="FFFFFF"/>
          </a:solidFill>
          <a:ln w="12700">
            <a:solidFill>
              <a:srgbClr val="E2E8F0"/>
            </a:solidFill>
            <a:prstDash val="solid"/>
          </a:ln>
        </p:spPr>
      </p:sp>
      <p:sp>
        <p:nvSpPr>
          <p:cNvPr id="33" name="Text 30"/>
          <p:cNvSpPr/>
          <p:nvPr/>
        </p:nvSpPr>
        <p:spPr>
          <a:xfrm>
            <a:off x="914400" y="5102352"/>
            <a:ext cx="4114800" cy="256032"/>
          </a:xfrm>
          <a:prstGeom prst="rect">
            <a:avLst/>
          </a:prstGeom>
          <a:noFill/>
          <a:ln/>
        </p:spPr>
        <p:txBody>
          <a:bodyPr wrap="square" rtlCol="0" anchor="ctr"/>
          <a:lstStyle/>
          <a:p>
            <a:pPr indent="0" marL="0">
              <a:buNone/>
            </a:pPr>
            <a:r>
              <a:rPr lang="en-US" sz="1100" b="1" dirty="0">
                <a:solidFill>
                  <a:srgbClr val="0F172A"/>
                </a:solidFill>
              </a:rPr>
              <a:t>7. Daily Overview Dashboard</a:t>
            </a:r>
            <a:endParaRPr lang="en-US" sz="1100" dirty="0"/>
          </a:p>
        </p:txBody>
      </p:sp>
      <p:sp>
        <p:nvSpPr>
          <p:cNvPr id="34" name="Text 31"/>
          <p:cNvSpPr/>
          <p:nvPr/>
        </p:nvSpPr>
        <p:spPr>
          <a:xfrm>
            <a:off x="5029200" y="5102352"/>
            <a:ext cx="822960" cy="228600"/>
          </a:xfrm>
          <a:prstGeom prst="rect">
            <a:avLst/>
          </a:prstGeom>
          <a:noFill/>
          <a:ln/>
        </p:spPr>
        <p:txBody>
          <a:bodyPr wrap="square" rtlCol="0" anchor="ctr"/>
          <a:lstStyle/>
          <a:p>
            <a:pPr indent="0" marL="0">
              <a:buNone/>
            </a:pPr>
            <a:r>
              <a:rPr lang="en-US" sz="850" b="1" dirty="0">
                <a:solidFill>
                  <a:srgbClr val="16A34A"/>
                </a:solidFill>
              </a:rPr>
              <a:t>✓ Implemented</a:t>
            </a:r>
            <a:endParaRPr lang="en-US" sz="850" dirty="0"/>
          </a:p>
        </p:txBody>
      </p:sp>
      <p:sp>
        <p:nvSpPr>
          <p:cNvPr id="35" name="Text 32"/>
          <p:cNvSpPr/>
          <p:nvPr/>
        </p:nvSpPr>
        <p:spPr>
          <a:xfrm>
            <a:off x="914400" y="5376672"/>
            <a:ext cx="4919472" cy="548640"/>
          </a:xfrm>
          <a:prstGeom prst="rect">
            <a:avLst/>
          </a:prstGeom>
          <a:noFill/>
          <a:ln/>
        </p:spPr>
        <p:txBody>
          <a:bodyPr wrap="square" rtlCol="0" anchor="ctr"/>
          <a:lstStyle/>
          <a:p>
            <a:pPr indent="0" marL="0">
              <a:buNone/>
            </a:pPr>
            <a:r>
              <a:rPr lang="en-US" sz="950" dirty="0">
                <a:solidFill>
                  <a:srgbClr val="475569"/>
                </a:solidFill>
              </a:rPr>
              <a:t>Centralized graphical dashboard visualizing todays doses, adherence stats, and pending alerts.</a:t>
            </a:r>
            <a:endParaRPr lang="en-US" sz="950" dirty="0"/>
          </a:p>
        </p:txBody>
      </p:sp>
      <p:sp>
        <p:nvSpPr>
          <p:cNvPr id="36" name="Shape 33"/>
          <p:cNvSpPr/>
          <p:nvPr/>
        </p:nvSpPr>
        <p:spPr>
          <a:xfrm>
            <a:off x="6172200" y="4992624"/>
            <a:ext cx="5285232" cy="1005840"/>
          </a:xfrm>
          <a:prstGeom prst="roundRect">
            <a:avLst>
              <a:gd name="adj" fmla="val 7273"/>
            </a:avLst>
          </a:prstGeom>
          <a:solidFill>
            <a:srgbClr val="FFFFFF"/>
          </a:solidFill>
          <a:ln w="12700">
            <a:solidFill>
              <a:srgbClr val="E2E8F0"/>
            </a:solidFill>
            <a:prstDash val="solid"/>
          </a:ln>
        </p:spPr>
      </p:sp>
      <p:sp>
        <p:nvSpPr>
          <p:cNvPr id="37" name="Text 34"/>
          <p:cNvSpPr/>
          <p:nvPr/>
        </p:nvSpPr>
        <p:spPr>
          <a:xfrm>
            <a:off x="6355080" y="5102352"/>
            <a:ext cx="4114800" cy="256032"/>
          </a:xfrm>
          <a:prstGeom prst="rect">
            <a:avLst/>
          </a:prstGeom>
          <a:noFill/>
          <a:ln/>
        </p:spPr>
        <p:txBody>
          <a:bodyPr wrap="square" rtlCol="0" anchor="ctr"/>
          <a:lstStyle/>
          <a:p>
            <a:pPr indent="0" marL="0">
              <a:buNone/>
            </a:pPr>
            <a:r>
              <a:rPr lang="en-US" sz="1100" b="1" dirty="0">
                <a:solidFill>
                  <a:srgbClr val="0F172A"/>
                </a:solidFill>
              </a:rPr>
              <a:t>8. Doctor Contacts &amp; MySQL Storage</a:t>
            </a:r>
            <a:endParaRPr lang="en-US" sz="1100" dirty="0"/>
          </a:p>
        </p:txBody>
      </p:sp>
      <p:sp>
        <p:nvSpPr>
          <p:cNvPr id="38" name="Text 35"/>
          <p:cNvSpPr/>
          <p:nvPr/>
        </p:nvSpPr>
        <p:spPr>
          <a:xfrm>
            <a:off x="10469880" y="5102352"/>
            <a:ext cx="822960" cy="228600"/>
          </a:xfrm>
          <a:prstGeom prst="rect">
            <a:avLst/>
          </a:prstGeom>
          <a:noFill/>
          <a:ln/>
        </p:spPr>
        <p:txBody>
          <a:bodyPr wrap="square" rtlCol="0" anchor="ctr"/>
          <a:lstStyle/>
          <a:p>
            <a:pPr indent="0" marL="0">
              <a:buNone/>
            </a:pPr>
            <a:r>
              <a:rPr lang="en-US" sz="850" b="1" dirty="0">
                <a:solidFill>
                  <a:srgbClr val="16A34A"/>
                </a:solidFill>
              </a:rPr>
              <a:t>✓ Implemented</a:t>
            </a:r>
            <a:endParaRPr lang="en-US" sz="850" dirty="0"/>
          </a:p>
        </p:txBody>
      </p:sp>
      <p:sp>
        <p:nvSpPr>
          <p:cNvPr id="39" name="Text 36"/>
          <p:cNvSpPr/>
          <p:nvPr/>
        </p:nvSpPr>
        <p:spPr>
          <a:xfrm>
            <a:off x="6355080" y="5376672"/>
            <a:ext cx="4919472" cy="548640"/>
          </a:xfrm>
          <a:prstGeom prst="rect">
            <a:avLst/>
          </a:prstGeom>
          <a:noFill/>
          <a:ln/>
        </p:spPr>
        <p:txBody>
          <a:bodyPr wrap="square" rtlCol="0" anchor="ctr"/>
          <a:lstStyle/>
          <a:p>
            <a:pPr indent="0" marL="0">
              <a:buNone/>
            </a:pPr>
            <a:r>
              <a:rPr lang="en-US" sz="950" dirty="0">
                <a:solidFill>
                  <a:srgbClr val="475569"/>
                </a:solidFill>
              </a:rPr>
              <a:t>Physician directory with clinic timings, appointment options, and relational MySQL persistence.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731520" y="365760"/>
            <a:ext cx="2286000" cy="274320"/>
          </a:xfrm>
          <a:prstGeom prst="roundRect">
            <a:avLst>
              <a:gd name="adj" fmla="val 50000"/>
            </a:avLst>
          </a:prstGeom>
          <a:solidFill>
            <a:srgbClr val="F0FDFA"/>
          </a:solidFill>
          <a:ln w="12700">
            <a:solidFill>
              <a:srgbClr val="0D9488"/>
            </a:solidFill>
            <a:prstDash val="solid"/>
          </a:ln>
        </p:spPr>
      </p:sp>
      <p:sp>
        <p:nvSpPr>
          <p:cNvPr id="4" name="Text 1"/>
          <p:cNvSpPr/>
          <p:nvPr/>
        </p:nvSpPr>
        <p:spPr>
          <a:xfrm>
            <a:off x="731520" y="365760"/>
            <a:ext cx="2286000" cy="274320"/>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RESULTS EVALUATION</a:t>
            </a:r>
            <a:endParaRPr lang="en-US" sz="900" dirty="0"/>
          </a:p>
        </p:txBody>
      </p:sp>
      <p:sp>
        <p:nvSpPr>
          <p:cNvPr id="5" name="Text 2"/>
          <p:cNvSpPr/>
          <p:nvPr/>
        </p:nvSpPr>
        <p:spPr>
          <a:xfrm>
            <a:off x="7772400" y="365760"/>
            <a:ext cx="36576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DoseTrack · BCA S5 · KMCT IETM (KTU)</a:t>
            </a:r>
            <a:endParaRPr lang="en-US" sz="900" dirty="0"/>
          </a:p>
        </p:txBody>
      </p:sp>
      <p:sp>
        <p:nvSpPr>
          <p:cNvPr id="6" name="Text 3"/>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Results &amp; Functional Analysis</a:t>
            </a:r>
            <a:endParaRPr lang="en-US" sz="2200" dirty="0"/>
          </a:p>
        </p:txBody>
      </p:sp>
      <p:sp>
        <p:nvSpPr>
          <p:cNvPr id="7" name="Text 4"/>
          <p:cNvSpPr/>
          <p:nvPr/>
        </p:nvSpPr>
        <p:spPr>
          <a:xfrm>
            <a:off x="731520" y="1188720"/>
            <a:ext cx="10515600" cy="32004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Functional verification of implemented outcomes against project objectives.</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725912" cy="3474720"/>
        </p:xfrm>
        <a:graphic>
          <a:graphicData uri="http://schemas.openxmlformats.org/drawingml/2006/table">
            <a:tbl>
              <a:tblPr/>
              <a:tblGrid>
                <a:gridCol w="3474720"/>
                <a:gridCol w="5788152"/>
                <a:gridCol w="1463040"/>
              </a:tblGrid>
              <a:tr h="434340">
                <a:tc>
                  <a:txBody>
                    <a:bodyPr/>
                    <a:lstStyle/>
                    <a:p>
                      <a:pPr indent="0" marL="0">
                        <a:buNone/>
                      </a:pPr>
                      <a:r>
                        <a:rPr lang="en-US" sz="900" b="1" dirty="0">
                          <a:solidFill>
                            <a:srgbClr val="0F172A"/>
                          </a:solidFill>
                        </a:rPr>
                        <a:t>Expected Outcome (Objectives)</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00" b="1" dirty="0">
                          <a:solidFill>
                            <a:srgbClr val="0F172A"/>
                          </a:solidFill>
                        </a:rPr>
                        <a:t>Implemented Result in DoseTrack</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900" b="1" dirty="0">
                          <a:solidFill>
                            <a:srgbClr val="0F172A"/>
                          </a:solidFill>
                        </a:rPr>
                        <a:t>Status</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434340">
                <a:tc>
                  <a:txBody>
                    <a:bodyPr/>
                    <a:lstStyle/>
                    <a:p>
                      <a:pPr indent="0" marL="0">
                        <a:buNone/>
                      </a:pPr>
                      <a:r>
                        <a:rPr lang="en-US" sz="900" dirty="0">
                          <a:solidFill>
                            <a:srgbClr val="0F172A"/>
                          </a:solidFill>
                        </a:rPr>
                        <a:t>Centralized Medication Management</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F172A"/>
                          </a:solidFill>
                        </a:rPr>
                        <a:t>Stores medicine details, dosage, frequency, and instructions in one unified cabinet.</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b="1" dirty="0">
                          <a:solidFill>
                            <a:srgbClr val="16A34A"/>
                          </a:solidFill>
                        </a:rPr>
                        <a:t>Implemented</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34340">
                <a:tc>
                  <a:txBody>
                    <a:bodyPr/>
                    <a:lstStyle/>
                    <a:p>
                      <a:pPr indent="0" marL="0">
                        <a:buNone/>
                      </a:pPr>
                      <a:r>
                        <a:rPr lang="en-US" sz="900" dirty="0">
                          <a:solidFill>
                            <a:srgbClr val="0F172A"/>
                          </a:solidFill>
                        </a:rPr>
                        <a:t>Medication Scheduling</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F172A"/>
                          </a:solidFill>
                        </a:rPr>
                        <a:t>Allows configuring custom dose timings and frequencies linked directly to medicines.</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b="1" dirty="0">
                          <a:solidFill>
                            <a:srgbClr val="16A34A"/>
                          </a:solidFill>
                        </a:rPr>
                        <a:t>Implemented</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34340">
                <a:tc>
                  <a:txBody>
                    <a:bodyPr/>
                    <a:lstStyle/>
                    <a:p>
                      <a:pPr indent="0" marL="0">
                        <a:buNone/>
                      </a:pPr>
                      <a:r>
                        <a:rPr lang="en-US" sz="900" dirty="0">
                          <a:solidFill>
                            <a:srgbClr val="0F172A"/>
                          </a:solidFill>
                        </a:rPr>
                        <a:t>Automated Reminders</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F172A"/>
                          </a:solidFill>
                        </a:rPr>
                        <a:t>Reminder engine triggers visual alert notifications when dose times become due.</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b="1" dirty="0">
                          <a:solidFill>
                            <a:srgbClr val="16A34A"/>
                          </a:solidFill>
                        </a:rPr>
                        <a:t>Implemented</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34340">
                <a:tc>
                  <a:txBody>
                    <a:bodyPr/>
                    <a:lstStyle/>
                    <a:p>
                      <a:pPr indent="0" marL="0">
                        <a:buNone/>
                      </a:pPr>
                      <a:r>
                        <a:rPr lang="en-US" sz="900" dirty="0">
                          <a:solidFill>
                            <a:srgbClr val="0F172A"/>
                          </a:solidFill>
                        </a:rPr>
                        <a:t>Dose Adherence Tracking</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F172A"/>
                          </a:solidFill>
                        </a:rPr>
                        <a:t>Allows patients to record whether scheduled doses were Taken or Missed.</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b="1" dirty="0">
                          <a:solidFill>
                            <a:srgbClr val="16A34A"/>
                          </a:solidFill>
                        </a:rPr>
                        <a:t>Implemented</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34340">
                <a:tc>
                  <a:txBody>
                    <a:bodyPr/>
                    <a:lstStyle/>
                    <a:p>
                      <a:pPr indent="0" marL="0">
                        <a:buNone/>
                      </a:pPr>
                      <a:r>
                        <a:rPr lang="en-US" sz="900" dirty="0">
                          <a:solidFill>
                            <a:srgbClr val="0F172A"/>
                          </a:solidFill>
                        </a:rPr>
                        <a:t>Adherence History Log</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F172A"/>
                          </a:solidFill>
                        </a:rPr>
                        <a:t>Maintains an auditable 30-day chronological record of dose events in MySQL.</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b="1" dirty="0">
                          <a:solidFill>
                            <a:srgbClr val="16A34A"/>
                          </a:solidFill>
                        </a:rPr>
                        <a:t>Implemented</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34340">
                <a:tc>
                  <a:txBody>
                    <a:bodyPr/>
                    <a:lstStyle/>
                    <a:p>
                      <a:pPr indent="0" marL="0">
                        <a:buNone/>
                      </a:pPr>
                      <a:r>
                        <a:rPr lang="en-US" sz="900" dirty="0">
                          <a:solidFill>
                            <a:srgbClr val="0F172A"/>
                          </a:solidFill>
                        </a:rPr>
                        <a:t>Interactive Dashboard</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F172A"/>
                          </a:solidFill>
                        </a:rPr>
                        <a:t>Centralizes todays medication routine, progress counter, and compliance percentage.</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b="1" dirty="0">
                          <a:solidFill>
                            <a:srgbClr val="16A34A"/>
                          </a:solidFill>
                        </a:rPr>
                        <a:t>Implemented</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34340">
                <a:tc>
                  <a:txBody>
                    <a:bodyPr/>
                    <a:lstStyle/>
                    <a:p>
                      <a:pPr indent="0" marL="0">
                        <a:buNone/>
                      </a:pPr>
                      <a:r>
                        <a:rPr lang="en-US" sz="900" dirty="0">
                          <a:solidFill>
                            <a:srgbClr val="0F172A"/>
                          </a:solidFill>
                        </a:rPr>
                        <a:t>Doctor-Contact Access</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F172A"/>
                          </a:solidFill>
                        </a:rPr>
                        <a:t>Provides stored doctor profiles, clinic hours, phone numbers, and appointment options.</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b="1" dirty="0">
                          <a:solidFill>
                            <a:srgbClr val="16A34A"/>
                          </a:solidFill>
                        </a:rPr>
                        <a:t>Implemented</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9" name="Shape 5"/>
          <p:cNvSpPr/>
          <p:nvPr/>
        </p:nvSpPr>
        <p:spPr>
          <a:xfrm>
            <a:off x="731520" y="5349240"/>
            <a:ext cx="10725912" cy="1051560"/>
          </a:xfrm>
          <a:prstGeom prst="roundRect">
            <a:avLst>
              <a:gd name="adj" fmla="val 6957"/>
            </a:avLst>
          </a:prstGeom>
          <a:solidFill>
            <a:srgbClr val="FFFFFF"/>
          </a:solidFill>
          <a:ln w="12700">
            <a:solidFill>
              <a:srgbClr val="0D9488"/>
            </a:solidFill>
            <a:prstDash val="solid"/>
          </a:ln>
        </p:spPr>
      </p:sp>
      <p:sp>
        <p:nvSpPr>
          <p:cNvPr id="10" name="Shape 6"/>
          <p:cNvSpPr/>
          <p:nvPr/>
        </p:nvSpPr>
        <p:spPr>
          <a:xfrm>
            <a:off x="740664" y="5358384"/>
            <a:ext cx="10707624" cy="54864"/>
          </a:xfrm>
          <a:prstGeom prst="rect">
            <a:avLst/>
          </a:prstGeom>
          <a:solidFill>
            <a:srgbClr val="0D9488"/>
          </a:solidFill>
          <a:ln w="12700">
            <a:solidFill>
              <a:srgbClr val="0D9488"/>
            </a:solidFill>
            <a:prstDash val="solid"/>
          </a:ln>
        </p:spPr>
      </p:sp>
      <p:sp>
        <p:nvSpPr>
          <p:cNvPr id="11" name="Text 7"/>
          <p:cNvSpPr/>
          <p:nvPr/>
        </p:nvSpPr>
        <p:spPr>
          <a:xfrm>
            <a:off x="914400" y="5486400"/>
            <a:ext cx="10360152" cy="777240"/>
          </a:xfrm>
          <a:prstGeom prst="rect">
            <a:avLst/>
          </a:prstGeom>
          <a:noFill/>
          <a:ln/>
        </p:spPr>
        <p:txBody>
          <a:bodyPr wrap="square" rtlCol="0" anchor="ctr"/>
          <a:lstStyle/>
          <a:p>
            <a:pPr indent="0" marL="0">
              <a:lnSpc>
                <a:spcPct val="120000"/>
              </a:lnSpc>
              <a:buNone/>
            </a:pPr>
            <a:r>
              <a:rPr lang="en-US" sz="1000" b="1" dirty="0">
                <a:solidFill>
                  <a:srgbClr val="0D9488"/>
                </a:solidFill>
              </a:rPr>
              <a:t>REPORT FUNCTIONAL ANALYSIS:</a:t>
            </a:r>
            <a:endParaRPr lang="en-US" sz="1000" dirty="0"/>
          </a:p>
          <a:p>
            <a:pPr indent="0" marL="0">
              <a:lnSpc>
                <a:spcPct val="120000"/>
              </a:lnSpc>
              <a:buNone/>
            </a:pPr>
            <a:r>
              <a:rPr lang="en-US" sz="1000" b="1" dirty="0">
                <a:solidFill>
                  <a:srgbClr val="0D9488"/>
                </a:solidFill>
              </a:rPr>
              <a:t>“The developed prototype demonstrates the core workflow of medication management, scheduled reminders, dose-status recording, and adherence history tracking. The system organizes medication tasks into an accessible digital routine.”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731520" y="365760"/>
            <a:ext cx="2286000" cy="274320"/>
          </a:xfrm>
          <a:prstGeom prst="roundRect">
            <a:avLst>
              <a:gd name="adj" fmla="val 50000"/>
            </a:avLst>
          </a:prstGeom>
          <a:solidFill>
            <a:srgbClr val="F0FDFA"/>
          </a:solidFill>
          <a:ln w="12700">
            <a:solidFill>
              <a:srgbClr val="0D9488"/>
            </a:solidFill>
            <a:prstDash val="solid"/>
          </a:ln>
        </p:spPr>
      </p:sp>
      <p:sp>
        <p:nvSpPr>
          <p:cNvPr id="4" name="Text 1"/>
          <p:cNvSpPr/>
          <p:nvPr/>
        </p:nvSpPr>
        <p:spPr>
          <a:xfrm>
            <a:off x="731520" y="365760"/>
            <a:ext cx="2286000" cy="274320"/>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CRITICAL APPRAISAL</a:t>
            </a:r>
            <a:endParaRPr lang="en-US" sz="900" dirty="0"/>
          </a:p>
        </p:txBody>
      </p:sp>
      <p:sp>
        <p:nvSpPr>
          <p:cNvPr id="5" name="Text 2"/>
          <p:cNvSpPr/>
          <p:nvPr/>
        </p:nvSpPr>
        <p:spPr>
          <a:xfrm>
            <a:off x="7772400" y="365760"/>
            <a:ext cx="36576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DoseTrack · BCA S5 · KMCT IETM (KTU)</a:t>
            </a:r>
            <a:endParaRPr lang="en-US" sz="900" dirty="0"/>
          </a:p>
        </p:txBody>
      </p:sp>
      <p:sp>
        <p:nvSpPr>
          <p:cNvPr id="6" name="Text 3"/>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Limitations &amp; Future Scope</a:t>
            </a:r>
            <a:endParaRPr lang="en-US" sz="2200" dirty="0"/>
          </a:p>
        </p:txBody>
      </p:sp>
      <p:sp>
        <p:nvSpPr>
          <p:cNvPr id="7" name="Text 4"/>
          <p:cNvSpPr/>
          <p:nvPr/>
        </p:nvSpPr>
        <p:spPr>
          <a:xfrm>
            <a:off x="731520" y="1188720"/>
            <a:ext cx="10515600" cy="32004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Current operational boundaries and planned technical enhancements from Chapter 7.</a:t>
            </a:r>
            <a:endParaRPr lang="en-US" sz="1100" dirty="0"/>
          </a:p>
        </p:txBody>
      </p:sp>
      <p:sp>
        <p:nvSpPr>
          <p:cNvPr id="8" name="Shape 5"/>
          <p:cNvSpPr/>
          <p:nvPr/>
        </p:nvSpPr>
        <p:spPr>
          <a:xfrm>
            <a:off x="731520" y="1645920"/>
            <a:ext cx="5212080" cy="4389120"/>
          </a:xfrm>
          <a:prstGeom prst="roundRect">
            <a:avLst>
              <a:gd name="adj" fmla="val 1667"/>
            </a:avLst>
          </a:prstGeom>
          <a:solidFill>
            <a:srgbClr val="FFFFFF"/>
          </a:solidFill>
          <a:ln w="12700">
            <a:solidFill>
              <a:srgbClr val="E2E8F0"/>
            </a:solidFill>
            <a:prstDash val="solid"/>
          </a:ln>
        </p:spPr>
      </p:sp>
      <p:sp>
        <p:nvSpPr>
          <p:cNvPr id="9" name="Shape 6"/>
          <p:cNvSpPr/>
          <p:nvPr/>
        </p:nvSpPr>
        <p:spPr>
          <a:xfrm>
            <a:off x="740664" y="1655064"/>
            <a:ext cx="5193792" cy="54864"/>
          </a:xfrm>
          <a:prstGeom prst="rect">
            <a:avLst/>
          </a:prstGeom>
          <a:solidFill>
            <a:srgbClr val="D97706"/>
          </a:solidFill>
          <a:ln w="12700">
            <a:solidFill>
              <a:srgbClr val="D97706"/>
            </a:solidFill>
            <a:prstDash val="solid"/>
          </a:ln>
        </p:spPr>
      </p:sp>
      <p:sp>
        <p:nvSpPr>
          <p:cNvPr id="10" name="Text 7"/>
          <p:cNvSpPr/>
          <p:nvPr/>
        </p:nvSpPr>
        <p:spPr>
          <a:xfrm>
            <a:off x="914400" y="1828800"/>
            <a:ext cx="4846320" cy="320040"/>
          </a:xfrm>
          <a:prstGeom prst="rect">
            <a:avLst/>
          </a:prstGeom>
          <a:noFill/>
          <a:ln/>
        </p:spPr>
        <p:txBody>
          <a:bodyPr wrap="square" rtlCol="0" anchor="ctr"/>
          <a:lstStyle/>
          <a:p>
            <a:pPr indent="0" marL="0">
              <a:buNone/>
            </a:pPr>
            <a:r>
              <a:rPr lang="en-US" sz="1300" b="1" dirty="0">
                <a:solidFill>
                  <a:srgbClr val="0F172A"/>
                </a:solidFill>
              </a:rPr>
              <a:t>Current System Limitations</a:t>
            </a:r>
            <a:endParaRPr lang="en-US" sz="1300" dirty="0"/>
          </a:p>
        </p:txBody>
      </p:sp>
      <p:sp>
        <p:nvSpPr>
          <p:cNvPr id="11" name="Text 8"/>
          <p:cNvSpPr/>
          <p:nvPr/>
        </p:nvSpPr>
        <p:spPr>
          <a:xfrm>
            <a:off x="914400" y="2240280"/>
            <a:ext cx="4846320" cy="3566160"/>
          </a:xfrm>
          <a:prstGeom prst="rect">
            <a:avLst/>
          </a:prstGeom>
          <a:noFill/>
          <a:ln/>
        </p:spPr>
        <p:txBody>
          <a:bodyPr wrap="square" rtlCol="0" anchor="ctr"/>
          <a:lstStyle/>
          <a:p>
            <a:pPr indent="0" marL="0">
              <a:lnSpc>
                <a:spcPct val="115000"/>
              </a:lnSpc>
              <a:buNone/>
            </a:pPr>
            <a:r>
              <a:rPr lang="en-US" sz="950" b="1" dirty="0">
                <a:solidFill>
                  <a:srgbClr val="D97706"/>
                </a:solidFill>
              </a:rPr>
              <a:t>✗  User Input Dependency:
</a:t>
            </a:r>
            <a:pPr indent="0" marL="0">
              <a:lnSpc>
                <a:spcPct val="115000"/>
              </a:lnSpc>
              <a:buNone/>
            </a:pPr>
            <a:r>
              <a:rPr lang="en-US" sz="950" dirty="0">
                <a:solidFill>
                  <a:srgbClr val="475569"/>
                </a:solidFill>
              </a:rPr>
              <a:t>System depends on the user correctly entering medicine names, dosages, and schedules.
</a:t>
            </a:r>
            <a:pPr indent="0" marL="0">
              <a:lnSpc>
                <a:spcPct val="115000"/>
              </a:lnSpc>
              <a:buNone/>
            </a:pPr>
            <a:r>
              <a:rPr lang="en-US" sz="950" b="1" dirty="0">
                <a:solidFill>
                  <a:srgbClr val="D97706"/>
                </a:solidFill>
              </a:rPr>
              <a:t>✗  Notification Environment:
</a:t>
            </a:r>
            <a:pPr indent="0" marL="0">
              <a:lnSpc>
                <a:spcPct val="115000"/>
              </a:lnSpc>
              <a:buNone/>
            </a:pPr>
            <a:r>
              <a:rPr lang="en-US" sz="950" dirty="0">
                <a:solidFill>
                  <a:srgbClr val="475569"/>
                </a:solidFill>
              </a:rPr>
              <a:t>Reminder delivery depends on active browser session, device permissions, and volume.
</a:t>
            </a:r>
            <a:pPr indent="0" marL="0">
              <a:lnSpc>
                <a:spcPct val="115000"/>
              </a:lnSpc>
              <a:buNone/>
            </a:pPr>
            <a:r>
              <a:rPr lang="en-US" sz="950" b="1" dirty="0">
                <a:solidFill>
                  <a:srgbClr val="D97706"/>
                </a:solidFill>
              </a:rPr>
              <a:t>✗  Self-Reported Adherence:
</a:t>
            </a:r>
            <a:pPr indent="0" marL="0">
              <a:lnSpc>
                <a:spcPct val="115000"/>
              </a:lnSpc>
              <a:buNone/>
            </a:pPr>
            <a:r>
              <a:rPr lang="en-US" sz="950" dirty="0">
                <a:solidFill>
                  <a:srgbClr val="475569"/>
                </a:solidFill>
              </a:rPr>
              <a:t>Dose status is recorded based on user input; system cannot physically verify pill ingestion.
</a:t>
            </a:r>
            <a:pPr indent="0" marL="0">
              <a:lnSpc>
                <a:spcPct val="115000"/>
              </a:lnSpc>
              <a:buNone/>
            </a:pPr>
            <a:r>
              <a:rPr lang="en-US" sz="950" b="1" dirty="0">
                <a:solidFill>
                  <a:srgbClr val="D97706"/>
                </a:solidFill>
              </a:rPr>
              <a:t>✗  Non-Diagnostic Boundary:
</a:t>
            </a:r>
            <a:pPr indent="0" marL="0">
              <a:lnSpc>
                <a:spcPct val="115000"/>
              </a:lnSpc>
              <a:buNone/>
            </a:pPr>
            <a:r>
              <a:rPr lang="en-US" sz="950" dirty="0">
                <a:solidFill>
                  <a:srgbClr val="475569"/>
                </a:solidFill>
              </a:rPr>
              <a:t>DoseTrack does not diagnose, prescribe, or provide medical advice; all clinical decisions stay with doctors.
</a:t>
            </a:r>
            <a:pPr indent="0" marL="0">
              <a:lnSpc>
                <a:spcPct val="115000"/>
              </a:lnSpc>
              <a:buNone/>
            </a:pPr>
            <a:r>
              <a:rPr lang="en-US" sz="950" b="1" dirty="0">
                <a:solidFill>
                  <a:srgbClr val="D97706"/>
                </a:solidFill>
              </a:rPr>
              <a:t>✗  Deployment Scope:
</a:t>
            </a:r>
            <a:pPr indent="0" marL="0">
              <a:lnSpc>
                <a:spcPct val="115000"/>
              </a:lnSpc>
              <a:buNone/>
            </a:pPr>
            <a:r>
              <a:rPr lang="en-US" sz="950" dirty="0">
                <a:solidFill>
                  <a:srgbClr val="475569"/>
                </a:solidFill>
              </a:rPr>
              <a:t>Phase 1 operates as a responsive web system with scope for wider native mobile deployment.</a:t>
            </a:r>
            <a:endParaRPr lang="en-US" sz="950" dirty="0"/>
          </a:p>
        </p:txBody>
      </p:sp>
      <p:sp>
        <p:nvSpPr>
          <p:cNvPr id="12" name="Shape 9"/>
          <p:cNvSpPr/>
          <p:nvPr/>
        </p:nvSpPr>
        <p:spPr>
          <a:xfrm>
            <a:off x="6245352" y="1645920"/>
            <a:ext cx="5212080" cy="4389120"/>
          </a:xfrm>
          <a:prstGeom prst="roundRect">
            <a:avLst>
              <a:gd name="adj" fmla="val 1667"/>
            </a:avLst>
          </a:prstGeom>
          <a:solidFill>
            <a:srgbClr val="FFFFFF"/>
          </a:solidFill>
          <a:ln w="12700">
            <a:solidFill>
              <a:srgbClr val="E2E8F0"/>
            </a:solidFill>
            <a:prstDash val="solid"/>
          </a:ln>
        </p:spPr>
      </p:sp>
      <p:sp>
        <p:nvSpPr>
          <p:cNvPr id="13" name="Shape 10"/>
          <p:cNvSpPr/>
          <p:nvPr/>
        </p:nvSpPr>
        <p:spPr>
          <a:xfrm>
            <a:off x="6254496" y="1655064"/>
            <a:ext cx="5193792" cy="54864"/>
          </a:xfrm>
          <a:prstGeom prst="rect">
            <a:avLst/>
          </a:prstGeom>
          <a:solidFill>
            <a:srgbClr val="0D9488"/>
          </a:solidFill>
          <a:ln w="12700">
            <a:solidFill>
              <a:srgbClr val="0D9488"/>
            </a:solidFill>
            <a:prstDash val="solid"/>
          </a:ln>
        </p:spPr>
      </p:sp>
      <p:sp>
        <p:nvSpPr>
          <p:cNvPr id="14" name="Text 11"/>
          <p:cNvSpPr/>
          <p:nvPr/>
        </p:nvSpPr>
        <p:spPr>
          <a:xfrm>
            <a:off x="6428232" y="1828800"/>
            <a:ext cx="4846320" cy="320040"/>
          </a:xfrm>
          <a:prstGeom prst="rect">
            <a:avLst/>
          </a:prstGeom>
          <a:noFill/>
          <a:ln/>
        </p:spPr>
        <p:txBody>
          <a:bodyPr wrap="square" rtlCol="0" anchor="ctr"/>
          <a:lstStyle/>
          <a:p>
            <a:pPr indent="0" marL="0">
              <a:buNone/>
            </a:pPr>
            <a:r>
              <a:rPr lang="en-US" sz="1300" b="1" dirty="0">
                <a:solidFill>
                  <a:srgbClr val="0F172A"/>
                </a:solidFill>
              </a:rPr>
              <a:t>Future Scope &amp; Planned Enhancements</a:t>
            </a:r>
            <a:endParaRPr lang="en-US" sz="1300" dirty="0"/>
          </a:p>
        </p:txBody>
      </p:sp>
      <p:sp>
        <p:nvSpPr>
          <p:cNvPr id="15" name="Text 12"/>
          <p:cNvSpPr/>
          <p:nvPr/>
        </p:nvSpPr>
        <p:spPr>
          <a:xfrm>
            <a:off x="6428232" y="2240280"/>
            <a:ext cx="4846320" cy="3566160"/>
          </a:xfrm>
          <a:prstGeom prst="rect">
            <a:avLst/>
          </a:prstGeom>
          <a:noFill/>
          <a:ln/>
        </p:spPr>
        <p:txBody>
          <a:bodyPr wrap="square" rtlCol="0" anchor="ctr"/>
          <a:lstStyle/>
          <a:p>
            <a:pPr indent="0" marL="0">
              <a:lnSpc>
                <a:spcPct val="115000"/>
              </a:lnSpc>
              <a:buNone/>
            </a:pPr>
            <a:r>
              <a:rPr lang="en-US" sz="950" b="1" dirty="0">
                <a:solidFill>
                  <a:srgbClr val="0D9488"/>
                </a:solidFill>
              </a:rPr>
              <a:t>✓  Mobile Application with Push Alerts:
</a:t>
            </a:r>
            <a:pPr indent="0" marL="0">
              <a:lnSpc>
                <a:spcPct val="115000"/>
              </a:lnSpc>
              <a:buNone/>
            </a:pPr>
            <a:r>
              <a:rPr lang="en-US" sz="950" dirty="0">
                <a:solidFill>
                  <a:srgbClr val="475569"/>
                </a:solidFill>
              </a:rPr>
              <a:t>Dedicated Android &amp; iOS app with native background push notifications and alarm daemons.
</a:t>
            </a:r>
            <a:pPr indent="0" marL="0">
              <a:lnSpc>
                <a:spcPct val="115000"/>
              </a:lnSpc>
              <a:buNone/>
            </a:pPr>
            <a:r>
              <a:rPr lang="en-US" sz="950" b="1" dirty="0">
                <a:solidFill>
                  <a:srgbClr val="0D9488"/>
                </a:solidFill>
              </a:rPr>
              <a:t>✓  QR / Barcode Medicine Entry:
</a:t>
            </a:r>
            <a:pPr indent="0" marL="0">
              <a:lnSpc>
                <a:spcPct val="115000"/>
              </a:lnSpc>
              <a:buNone/>
            </a:pPr>
            <a:r>
              <a:rPr lang="en-US" sz="950" dirty="0">
                <a:solidFill>
                  <a:srgbClr val="475569"/>
                </a:solidFill>
              </a:rPr>
              <a:t>Scan medicine packaging or prescription codes for automated drug name and dosage entry.
</a:t>
            </a:r>
            <a:pPr indent="0" marL="0">
              <a:lnSpc>
                <a:spcPct val="115000"/>
              </a:lnSpc>
              <a:buNone/>
            </a:pPr>
            <a:r>
              <a:rPr lang="en-US" sz="950" b="1" dirty="0">
                <a:solidFill>
                  <a:srgbClr val="0D9488"/>
                </a:solidFill>
              </a:rPr>
              <a:t>✓  Medicine Refill Alerts:
</a:t>
            </a:r>
            <a:pPr indent="0" marL="0">
              <a:lnSpc>
                <a:spcPct val="115000"/>
              </a:lnSpc>
              <a:buNone/>
            </a:pPr>
            <a:r>
              <a:rPr lang="en-US" sz="950" dirty="0">
                <a:solidFill>
                  <a:srgbClr val="475569"/>
                </a:solidFill>
              </a:rPr>
              <a:t>Automated supply tracking that alerts patients when medication inventory is running low.
</a:t>
            </a:r>
            <a:pPr indent="0" marL="0">
              <a:lnSpc>
                <a:spcPct val="115000"/>
              </a:lnSpc>
              <a:buNone/>
            </a:pPr>
            <a:r>
              <a:rPr lang="en-US" sz="950" b="1" dirty="0">
                <a:solidFill>
                  <a:srgbClr val="0D9488"/>
                </a:solidFill>
              </a:rPr>
              <a:t>✓  Caregiver &amp; Family Access:
</a:t>
            </a:r>
            <a:pPr indent="0" marL="0">
              <a:lnSpc>
                <a:spcPct val="115000"/>
              </a:lnSpc>
              <a:buNone/>
            </a:pPr>
            <a:r>
              <a:rPr lang="en-US" sz="950" dirty="0">
                <a:solidFill>
                  <a:srgbClr val="475569"/>
                </a:solidFill>
              </a:rPr>
              <a:t>Real-time alerts sent to designated family members when critical doses are missed.
</a:t>
            </a:r>
            <a:pPr indent="0" marL="0">
              <a:lnSpc>
                <a:spcPct val="115000"/>
              </a:lnSpc>
              <a:buNone/>
            </a:pPr>
            <a:r>
              <a:rPr lang="en-US" sz="950" b="1" dirty="0">
                <a:solidFill>
                  <a:srgbClr val="0D9488"/>
                </a:solidFill>
              </a:rPr>
              <a:t>✓  Exportable Clinical Reports:
</a:t>
            </a:r>
            <a:pPr indent="0" marL="0">
              <a:lnSpc>
                <a:spcPct val="115000"/>
              </a:lnSpc>
              <a:buNone/>
            </a:pPr>
            <a:r>
              <a:rPr lang="en-US" sz="950" dirty="0">
                <a:solidFill>
                  <a:srgbClr val="475569"/>
                </a:solidFill>
              </a:rPr>
              <a:t>One-click PDF generation of 30-day adherence logs for consultation with doctors.</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731520" y="365760"/>
            <a:ext cx="2286000" cy="274320"/>
          </a:xfrm>
          <a:prstGeom prst="roundRect">
            <a:avLst>
              <a:gd name="adj" fmla="val 50000"/>
            </a:avLst>
          </a:prstGeom>
          <a:solidFill>
            <a:srgbClr val="F0FDFA"/>
          </a:solidFill>
          <a:ln w="12700">
            <a:solidFill>
              <a:srgbClr val="0D9488"/>
            </a:solidFill>
            <a:prstDash val="solid"/>
          </a:ln>
        </p:spPr>
      </p:sp>
      <p:sp>
        <p:nvSpPr>
          <p:cNvPr id="4" name="Text 1"/>
          <p:cNvSpPr/>
          <p:nvPr/>
        </p:nvSpPr>
        <p:spPr>
          <a:xfrm>
            <a:off x="731520" y="365760"/>
            <a:ext cx="2286000" cy="274320"/>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PROJECT CONCLUSION</a:t>
            </a:r>
            <a:endParaRPr lang="en-US" sz="900" dirty="0"/>
          </a:p>
        </p:txBody>
      </p:sp>
      <p:sp>
        <p:nvSpPr>
          <p:cNvPr id="5" name="Text 2"/>
          <p:cNvSpPr/>
          <p:nvPr/>
        </p:nvSpPr>
        <p:spPr>
          <a:xfrm>
            <a:off x="7772400" y="365760"/>
            <a:ext cx="36576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DoseTrack · BCA S5 · KMCT IETM (KTU)</a:t>
            </a:r>
            <a:endParaRPr lang="en-US" sz="900" dirty="0"/>
          </a:p>
        </p:txBody>
      </p:sp>
      <p:sp>
        <p:nvSpPr>
          <p:cNvPr id="6" name="Text 3"/>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Conclusion &amp; Discussion</a:t>
            </a:r>
            <a:endParaRPr lang="en-US" sz="2200" dirty="0"/>
          </a:p>
        </p:txBody>
      </p:sp>
      <p:sp>
        <p:nvSpPr>
          <p:cNvPr id="7" name="Text 4"/>
          <p:cNvSpPr/>
          <p:nvPr/>
        </p:nvSpPr>
        <p:spPr>
          <a:xfrm>
            <a:off x="731520" y="1188720"/>
            <a:ext cx="10515600" cy="320040"/>
          </a:xfrm>
          <a:prstGeom prst="rect">
            <a:avLst/>
          </a:prstGeom>
          <a:noFill/>
          <a:ln/>
        </p:spPr>
        <p:txBody>
          <a:bodyPr wrap="square" rtlCol="0" anchor="ctr"/>
          <a:lstStyle/>
          <a:p>
            <a:pPr indent="0" marL="0">
              <a:buNone/>
            </a:pPr>
            <a:r>
              <a:rPr lang="en-US" sz="1100" dirty="0">
                <a:solidFill>
                  <a:srgbClr val="475569"/>
                </a:solidFill>
                <a:latin typeface="Arial" pitchFamily="34" charset="0"/>
                <a:ea typeface="Arial" pitchFamily="34" charset="-122"/>
                <a:cs typeface="Arial" pitchFamily="34" charset="-120"/>
              </a:rPr>
              <a:t>Project summary and evaluator viva discussion.</a:t>
            </a:r>
            <a:endParaRPr lang="en-US" sz="1100" dirty="0"/>
          </a:p>
        </p:txBody>
      </p:sp>
      <p:sp>
        <p:nvSpPr>
          <p:cNvPr id="8" name="Shape 5"/>
          <p:cNvSpPr/>
          <p:nvPr/>
        </p:nvSpPr>
        <p:spPr>
          <a:xfrm>
            <a:off x="731520" y="1645920"/>
            <a:ext cx="10725912" cy="1645920"/>
          </a:xfrm>
          <a:prstGeom prst="roundRect">
            <a:avLst>
              <a:gd name="adj" fmla="val 4444"/>
            </a:avLst>
          </a:prstGeom>
          <a:solidFill>
            <a:srgbClr val="FFFFFF"/>
          </a:solidFill>
          <a:ln w="12700">
            <a:solidFill>
              <a:srgbClr val="E2E8F0"/>
            </a:solidFill>
            <a:prstDash val="solid"/>
          </a:ln>
        </p:spPr>
      </p:sp>
      <p:sp>
        <p:nvSpPr>
          <p:cNvPr id="9" name="Shape 6"/>
          <p:cNvSpPr/>
          <p:nvPr/>
        </p:nvSpPr>
        <p:spPr>
          <a:xfrm>
            <a:off x="740664" y="1655064"/>
            <a:ext cx="10707624" cy="54864"/>
          </a:xfrm>
          <a:prstGeom prst="rect">
            <a:avLst/>
          </a:prstGeom>
          <a:solidFill>
            <a:srgbClr val="0D9488"/>
          </a:solidFill>
          <a:ln w="12700">
            <a:solidFill>
              <a:srgbClr val="0D9488"/>
            </a:solidFill>
            <a:prstDash val="solid"/>
          </a:ln>
        </p:spPr>
      </p:sp>
      <p:sp>
        <p:nvSpPr>
          <p:cNvPr id="10" name="Text 7"/>
          <p:cNvSpPr/>
          <p:nvPr/>
        </p:nvSpPr>
        <p:spPr>
          <a:xfrm>
            <a:off x="914400" y="1783080"/>
            <a:ext cx="10360152" cy="320040"/>
          </a:xfrm>
          <a:prstGeom prst="rect">
            <a:avLst/>
          </a:prstGeom>
          <a:noFill/>
          <a:ln/>
        </p:spPr>
        <p:txBody>
          <a:bodyPr wrap="square" rtlCol="0" anchor="ctr"/>
          <a:lstStyle/>
          <a:p>
            <a:pPr indent="0" marL="0">
              <a:buNone/>
            </a:pPr>
            <a:r>
              <a:rPr lang="en-US" sz="1300" b="1" dirty="0">
                <a:solidFill>
                  <a:srgbClr val="0F172A"/>
                </a:solidFill>
              </a:rPr>
              <a:t>Project Conclusion</a:t>
            </a:r>
            <a:endParaRPr lang="en-US" sz="1300" dirty="0"/>
          </a:p>
        </p:txBody>
      </p:sp>
      <p:sp>
        <p:nvSpPr>
          <p:cNvPr id="11" name="Text 8"/>
          <p:cNvSpPr/>
          <p:nvPr/>
        </p:nvSpPr>
        <p:spPr>
          <a:xfrm>
            <a:off x="914400" y="2148840"/>
            <a:ext cx="10360152" cy="1005840"/>
          </a:xfrm>
          <a:prstGeom prst="rect">
            <a:avLst/>
          </a:prstGeom>
          <a:noFill/>
          <a:ln/>
        </p:spPr>
        <p:txBody>
          <a:bodyPr wrap="square" rtlCol="0" anchor="ctr"/>
          <a:lstStyle/>
          <a:p>
            <a:pPr indent="0" marL="0">
              <a:lnSpc>
                <a:spcPct val="130000"/>
              </a:lnSpc>
              <a:buNone/>
            </a:pPr>
            <a:r>
              <a:rPr lang="en-US" sz="1050" dirty="0">
                <a:solidFill>
                  <a:srgbClr val="475569"/>
                </a:solidFill>
              </a:rPr>
              <a:t>DoseTrack successfully delivers a centralized, accessible digital solution that resolves the persistent challenges of forgotten medication doses and scattered routines. By harmonizing medication scheduling, automated reminders, real-time Taken/Missed dose recording, adherence audit history, and direct doctor contact access, the application demonstrates that a practical web-based system can significantly improve daily treatment consistency and patient peace of mind.</a:t>
            </a:r>
            <a:endParaRPr lang="en-US" sz="1050" dirty="0"/>
          </a:p>
        </p:txBody>
      </p:sp>
      <p:sp>
        <p:nvSpPr>
          <p:cNvPr id="12" name="Text 9"/>
          <p:cNvSpPr/>
          <p:nvPr/>
        </p:nvSpPr>
        <p:spPr>
          <a:xfrm>
            <a:off x="731520" y="3474720"/>
            <a:ext cx="10725912" cy="822960"/>
          </a:xfrm>
          <a:prstGeom prst="rect">
            <a:avLst/>
          </a:prstGeom>
          <a:noFill/>
          <a:ln/>
        </p:spPr>
        <p:txBody>
          <a:bodyPr wrap="square" rtlCol="0" anchor="ctr"/>
          <a:lstStyle/>
          <a:p>
            <a:pPr algn="ctr" indent="0" marL="0">
              <a:buNone/>
            </a:pPr>
            <a:r>
              <a:rPr lang="en-US" sz="4000" b="1" dirty="0">
                <a:solidFill>
                  <a:srgbClr val="0F172A"/>
                </a:solidFill>
                <a:latin typeface="Arial" pitchFamily="34" charset="0"/>
                <a:ea typeface="Arial" pitchFamily="34" charset="-122"/>
                <a:cs typeface="Arial" pitchFamily="34" charset="-120"/>
              </a:rPr>
              <a:t>THANK YOU</a:t>
            </a:r>
            <a:endParaRPr lang="en-US" sz="4000" dirty="0"/>
          </a:p>
        </p:txBody>
      </p:sp>
      <p:sp>
        <p:nvSpPr>
          <p:cNvPr id="13" name="Text 10"/>
          <p:cNvSpPr/>
          <p:nvPr/>
        </p:nvSpPr>
        <p:spPr>
          <a:xfrm>
            <a:off x="731520" y="4343400"/>
            <a:ext cx="10725912" cy="365760"/>
          </a:xfrm>
          <a:prstGeom prst="rect">
            <a:avLst/>
          </a:prstGeom>
          <a:noFill/>
          <a:ln/>
        </p:spPr>
        <p:txBody>
          <a:bodyPr wrap="square" rtlCol="0" anchor="ctr"/>
          <a:lstStyle/>
          <a:p>
            <a:pPr algn="ctr" indent="0" marL="0">
              <a:buNone/>
            </a:pPr>
            <a:r>
              <a:rPr lang="en-US" sz="1600" b="1" dirty="0">
                <a:solidFill>
                  <a:srgbClr val="0D9488"/>
                </a:solidFill>
                <a:latin typeface="Arial" pitchFamily="34" charset="0"/>
                <a:ea typeface="Arial" pitchFamily="34" charset="-122"/>
                <a:cs typeface="Arial" pitchFamily="34" charset="-120"/>
              </a:rPr>
              <a:t>Questions &amp; Discussion</a:t>
            </a:r>
            <a:endParaRPr lang="en-US" sz="1600" dirty="0"/>
          </a:p>
        </p:txBody>
      </p:sp>
      <p:sp>
        <p:nvSpPr>
          <p:cNvPr id="14" name="Shape 11"/>
          <p:cNvSpPr/>
          <p:nvPr/>
        </p:nvSpPr>
        <p:spPr>
          <a:xfrm>
            <a:off x="731520" y="4937760"/>
            <a:ext cx="5212080" cy="1280160"/>
          </a:xfrm>
          <a:prstGeom prst="roundRect">
            <a:avLst>
              <a:gd name="adj" fmla="val 5714"/>
            </a:avLst>
          </a:prstGeom>
          <a:solidFill>
            <a:srgbClr val="FFFFFF"/>
          </a:solidFill>
          <a:ln w="12700">
            <a:solidFill>
              <a:srgbClr val="E2E8F0"/>
            </a:solidFill>
            <a:prstDash val="solid"/>
          </a:ln>
        </p:spPr>
      </p:sp>
      <p:sp>
        <p:nvSpPr>
          <p:cNvPr id="15" name="Text 12"/>
          <p:cNvSpPr/>
          <p:nvPr/>
        </p:nvSpPr>
        <p:spPr>
          <a:xfrm>
            <a:off x="914400" y="5029200"/>
            <a:ext cx="4846320" cy="228600"/>
          </a:xfrm>
          <a:prstGeom prst="rect">
            <a:avLst/>
          </a:prstGeom>
          <a:noFill/>
          <a:ln/>
        </p:spPr>
        <p:txBody>
          <a:bodyPr wrap="square" rtlCol="0" anchor="ctr"/>
          <a:lstStyle/>
          <a:p>
            <a:pPr indent="0" marL="0">
              <a:buNone/>
            </a:pPr>
            <a:r>
              <a:rPr lang="en-US" sz="900" b="1" dirty="0">
                <a:solidFill>
                  <a:srgbClr val="0D9488"/>
                </a:solidFill>
              </a:rPr>
              <a:t>PRESENTED BY TEAM MEMBERS</a:t>
            </a:r>
            <a:endParaRPr lang="en-US" sz="900" dirty="0"/>
          </a:p>
        </p:txBody>
      </p:sp>
      <p:sp>
        <p:nvSpPr>
          <p:cNvPr id="16" name="Text 13"/>
          <p:cNvSpPr/>
          <p:nvPr/>
        </p:nvSpPr>
        <p:spPr>
          <a:xfrm>
            <a:off x="914400" y="5303520"/>
            <a:ext cx="4846320" cy="731520"/>
          </a:xfrm>
          <a:prstGeom prst="rect">
            <a:avLst/>
          </a:prstGeom>
          <a:noFill/>
          <a:ln/>
        </p:spPr>
        <p:txBody>
          <a:bodyPr wrap="square" rtlCol="0" anchor="ctr"/>
          <a:lstStyle/>
          <a:p>
            <a:pPr indent="0" marL="0">
              <a:lnSpc>
                <a:spcPct val="120000"/>
              </a:lnSpc>
              <a:buNone/>
            </a:pPr>
            <a:r>
              <a:rPr lang="en-US" sz="1000" b="1" dirty="0">
                <a:solidFill>
                  <a:srgbClr val="0F172A"/>
                </a:solidFill>
              </a:rPr>
              <a:t>Mefa Rahiman  •  Shabana  •  Sreya S Jeevan  •  Gopika Babu</a:t>
            </a:r>
            <a:endParaRPr lang="en-US" sz="1000" dirty="0"/>
          </a:p>
          <a:p>
            <a:pPr indent="0" marL="0">
              <a:lnSpc>
                <a:spcPct val="120000"/>
              </a:lnSpc>
              <a:buNone/>
            </a:pPr>
            <a:r>
              <a:rPr lang="en-US" sz="1000" b="1" dirty="0">
                <a:solidFill>
                  <a:srgbClr val="0F172A"/>
                </a:solidFill>
              </a:rPr>
              <a:t>Department of Computer Application · BCA S5</a:t>
            </a:r>
            <a:endParaRPr lang="en-US" sz="1000" dirty="0"/>
          </a:p>
        </p:txBody>
      </p:sp>
      <p:sp>
        <p:nvSpPr>
          <p:cNvPr id="17" name="Shape 14"/>
          <p:cNvSpPr/>
          <p:nvPr/>
        </p:nvSpPr>
        <p:spPr>
          <a:xfrm>
            <a:off x="6245352" y="4937760"/>
            <a:ext cx="5212080" cy="1280160"/>
          </a:xfrm>
          <a:prstGeom prst="roundRect">
            <a:avLst>
              <a:gd name="adj" fmla="val 5714"/>
            </a:avLst>
          </a:prstGeom>
          <a:solidFill>
            <a:srgbClr val="FFFFFF"/>
          </a:solidFill>
          <a:ln w="12700">
            <a:solidFill>
              <a:srgbClr val="E2E8F0"/>
            </a:solidFill>
            <a:prstDash val="solid"/>
          </a:ln>
        </p:spPr>
      </p:sp>
      <p:sp>
        <p:nvSpPr>
          <p:cNvPr id="18" name="Text 15"/>
          <p:cNvSpPr/>
          <p:nvPr/>
        </p:nvSpPr>
        <p:spPr>
          <a:xfrm>
            <a:off x="6428232" y="5029200"/>
            <a:ext cx="4846320" cy="228600"/>
          </a:xfrm>
          <a:prstGeom prst="rect">
            <a:avLst/>
          </a:prstGeom>
          <a:noFill/>
          <a:ln/>
        </p:spPr>
        <p:txBody>
          <a:bodyPr wrap="square" rtlCol="0" anchor="ctr"/>
          <a:lstStyle/>
          <a:p>
            <a:pPr indent="0" marL="0">
              <a:buNone/>
            </a:pPr>
            <a:r>
              <a:rPr lang="en-US" sz="900" b="1" dirty="0">
                <a:solidFill>
                  <a:srgbClr val="0284C7"/>
                </a:solidFill>
              </a:rPr>
              <a:t>INSTITUTION &amp; AFFILIATION</a:t>
            </a:r>
            <a:endParaRPr lang="en-US" sz="900" dirty="0"/>
          </a:p>
        </p:txBody>
      </p:sp>
      <p:sp>
        <p:nvSpPr>
          <p:cNvPr id="19" name="Text 16"/>
          <p:cNvSpPr/>
          <p:nvPr/>
        </p:nvSpPr>
        <p:spPr>
          <a:xfrm>
            <a:off x="6428232" y="5303520"/>
            <a:ext cx="4846320" cy="731520"/>
          </a:xfrm>
          <a:prstGeom prst="rect">
            <a:avLst/>
          </a:prstGeom>
          <a:noFill/>
          <a:ln/>
        </p:spPr>
        <p:txBody>
          <a:bodyPr wrap="square" rtlCol="0" anchor="ctr"/>
          <a:lstStyle/>
          <a:p>
            <a:pPr indent="0" marL="0">
              <a:lnSpc>
                <a:spcPct val="120000"/>
              </a:lnSpc>
              <a:buNone/>
            </a:pPr>
            <a:r>
              <a:rPr lang="en-US" sz="1000" b="1" dirty="0">
                <a:solidFill>
                  <a:srgbClr val="0F172A"/>
                </a:solidFill>
              </a:rPr>
              <a:t>KMCT Institute of Emerging Technology and Management, Mukkam</a:t>
            </a:r>
            <a:endParaRPr lang="en-US" sz="1000" dirty="0"/>
          </a:p>
          <a:p>
            <a:pPr indent="0" marL="0">
              <a:lnSpc>
                <a:spcPct val="120000"/>
              </a:lnSpc>
              <a:buNone/>
            </a:pPr>
            <a:r>
              <a:rPr lang="en-US" sz="1000" b="1" dirty="0">
                <a:solidFill>
                  <a:srgbClr val="0F172A"/>
                </a:solidFill>
              </a:rPr>
              <a:t>Affiliated to APJ Abdul Kalam Technological University (KTU)</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KMCT Institute of Emerging Technology and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DoseTrack - Medication Reminder &amp; Adherence Monitoring System</dc:title>
  <dc:subject>BCA S5 Mini Project Final Evaluation</dc:subject>
  <dc:creator>Mefa Rahiman, Shabana, Sreya S Jeevan, Gopika Babu</dc:creator>
  <cp:lastModifiedBy>Mefa Rahiman, Shabana, Sreya S Jeevan, Gopika Babu</cp:lastModifiedBy>
  <cp:revision>1</cp:revision>
  <dcterms:created xsi:type="dcterms:W3CDTF">2026-10-29T18:53:10Z</dcterms:created>
  <dcterms:modified xsi:type="dcterms:W3CDTF">2026-10-29T18:53:10Z</dcterms:modified>
</cp:coreProperties>
</file>